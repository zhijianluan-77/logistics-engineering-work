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300" r:id="rId3"/>
    <p:sldId id="259" r:id="rId4"/>
    <p:sldId id="301" r:id="rId5"/>
    <p:sldId id="302" r:id="rId6"/>
    <p:sldId id="260" r:id="rId7"/>
    <p:sldId id="277" r:id="rId8"/>
    <p:sldId id="303" r:id="rId9"/>
    <p:sldId id="278" r:id="rId10"/>
    <p:sldId id="280" r:id="rId11"/>
    <p:sldId id="308" r:id="rId12"/>
    <p:sldId id="309" r:id="rId13"/>
    <p:sldId id="310" r:id="rId14"/>
    <p:sldId id="261" r:id="rId15"/>
    <p:sldId id="304" r:id="rId16"/>
    <p:sldId id="307"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87797" autoAdjust="0"/>
  </p:normalViewPr>
  <p:slideViewPr>
    <p:cSldViewPr snapToGrid="0">
      <p:cViewPr>
        <p:scale>
          <a:sx n="33" d="100"/>
          <a:sy n="33" d="100"/>
        </p:scale>
        <p:origin x="3004" y="14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ACC79E-A8D2-49D6-AF7C-ACE81C380F1E}" type="datetimeFigureOut">
              <a:rPr lang="zh-CN" altLang="en-US" smtClean="0"/>
              <a:t>2025/10/20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A5A1FA-14FB-46D4-B8A3-2C7A85060E48}" type="slidenum">
              <a:rPr lang="zh-CN" altLang="en-US" smtClean="0"/>
              <a:t>‹#›</a:t>
            </a:fld>
            <a:endParaRPr lang="zh-CN" altLang="en-US"/>
          </a:p>
        </p:txBody>
      </p:sp>
    </p:spTree>
    <p:extLst>
      <p:ext uri="{BB962C8B-B14F-4D97-AF65-F5344CB8AC3E}">
        <p14:creationId xmlns:p14="http://schemas.microsoft.com/office/powerpoint/2010/main" val="584933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尊敬的老师，亲爱的同学们，大家下午好，接下来由我来带领大家复现这篇</a:t>
            </a:r>
            <a:r>
              <a:rPr lang="en-US" altLang="zh-CN"/>
              <a:t>2022</a:t>
            </a:r>
            <a:r>
              <a:rPr lang="zh-CN" altLang="en-US"/>
              <a:t>年发表在</a:t>
            </a:r>
            <a:r>
              <a:rPr lang="en-US" altLang="zh-CN"/>
              <a:t>JOC</a:t>
            </a:r>
            <a:r>
              <a:rPr lang="zh-CN" altLang="en-US"/>
              <a:t>上的文章，对</a:t>
            </a:r>
            <a:r>
              <a:rPr lang="zh-CN" altLang="en-US" sz="1200" b="1" i="0" kern="1200">
                <a:solidFill>
                  <a:schemeClr val="tx1"/>
                </a:solidFill>
                <a:effectLst/>
                <a:latin typeface="+mn-lt"/>
                <a:ea typeface="+mn-ea"/>
                <a:cs typeface="+mn-cs"/>
              </a:rPr>
              <a:t>集成并行机调度与位置问题的新模型及基于逻辑的</a:t>
            </a:r>
            <a:r>
              <a:rPr lang="en-US" altLang="zh-CN" sz="1200" b="1" i="0" kern="1200">
                <a:solidFill>
                  <a:schemeClr val="tx1"/>
                </a:solidFill>
                <a:effectLst/>
                <a:latin typeface="+mn-lt"/>
                <a:ea typeface="+mn-ea"/>
                <a:cs typeface="+mn-cs"/>
              </a:rPr>
              <a:t>Benders</a:t>
            </a:r>
            <a:r>
              <a:rPr lang="zh-CN" altLang="en-US" sz="1200" b="1" i="0" kern="1200">
                <a:solidFill>
                  <a:schemeClr val="tx1"/>
                </a:solidFill>
                <a:effectLst/>
                <a:latin typeface="+mn-lt"/>
                <a:ea typeface="+mn-ea"/>
                <a:cs typeface="+mn-cs"/>
              </a:rPr>
              <a:t>分解技术展开研究。</a:t>
            </a:r>
            <a:endParaRPr lang="zh-CN" altLang="en-US"/>
          </a:p>
        </p:txBody>
      </p:sp>
      <p:sp>
        <p:nvSpPr>
          <p:cNvPr id="4" name="灯片编号占位符 3"/>
          <p:cNvSpPr>
            <a:spLocks noGrp="1"/>
          </p:cNvSpPr>
          <p:nvPr>
            <p:ph type="sldNum" sz="quarter" idx="5"/>
          </p:nvPr>
        </p:nvSpPr>
        <p:spPr/>
        <p:txBody>
          <a:bodyPr/>
          <a:lstStyle/>
          <a:p>
            <a:fld id="{52A5A1FA-14FB-46D4-B8A3-2C7A85060E48}" type="slidenum">
              <a:rPr lang="zh-CN" altLang="en-US" smtClean="0"/>
              <a:t>1</a:t>
            </a:fld>
            <a:endParaRPr lang="zh-CN" altLang="en-US"/>
          </a:p>
        </p:txBody>
      </p:sp>
    </p:spTree>
    <p:extLst>
      <p:ext uri="{BB962C8B-B14F-4D97-AF65-F5344CB8AC3E}">
        <p14:creationId xmlns:p14="http://schemas.microsoft.com/office/powerpoint/2010/main" val="2845170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第一步，我来带领了解本文核心研究问题：并行离散机器调度与选址问题是一个集成两个运筹学领域的</a:t>
            </a:r>
            <a:r>
              <a:rPr lang="en-US" altLang="zh-CN"/>
              <a:t>NP-</a:t>
            </a:r>
            <a:r>
              <a:rPr lang="zh-CN" altLang="en-US"/>
              <a:t>难问题，也就是设施选址问题与并行机调度问题。以往的解决方案分两步走，就是先选址后调度。但是大量的研究证明，这种选址方案，往往会导致全局次优解。我们要考虑两因素之间的相互依赖关系。该问题的核心在于同时做出三类决策：机器选址，作业的分配，</a:t>
            </a:r>
            <a:r>
              <a:rPr lang="zh-CN" altLang="en-US" sz="1200" b="0" i="0" kern="1200">
                <a:solidFill>
                  <a:schemeClr val="tx1"/>
                </a:solidFill>
                <a:effectLst/>
                <a:latin typeface="+mn-lt"/>
                <a:ea typeface="+mn-ea"/>
                <a:cs typeface="+mn-cs"/>
              </a:rPr>
              <a:t>对作业的排序。</a:t>
            </a:r>
            <a:r>
              <a:rPr lang="zh-CN" altLang="en-US"/>
              <a:t>问题的优化目标是最小化最大完工时间。</a:t>
            </a:r>
            <a:r>
              <a:rPr lang="en-US" altLang="zh-CN"/>
              <a:t>D-ScheLoc</a:t>
            </a:r>
            <a:r>
              <a:rPr lang="zh-CN" altLang="en-US"/>
              <a:t>问题的一个关键特征是其</a:t>
            </a:r>
            <a:r>
              <a:rPr lang="zh-CN" altLang="en-US" sz="1200" b="1" kern="1200">
                <a:solidFill>
                  <a:schemeClr val="tx1"/>
                </a:solidFill>
                <a:effectLst/>
                <a:latin typeface="+mn-lt"/>
                <a:ea typeface="+mn-ea"/>
                <a:cs typeface="+mn-cs"/>
              </a:rPr>
              <a:t>机器相关的作业发布时间，</a:t>
            </a:r>
            <a:r>
              <a:rPr lang="zh-CN" altLang="en-US"/>
              <a:t>记为 </a:t>
            </a:r>
            <a:r>
              <a:rPr lang="en-US" altLang="zh-CN" sz="1200" kern="1200">
                <a:solidFill>
                  <a:schemeClr val="tx1"/>
                </a:solidFill>
                <a:effectLst/>
                <a:latin typeface="+mn-lt"/>
                <a:ea typeface="+mn-ea"/>
                <a:cs typeface="+mn-cs"/>
              </a:rPr>
              <a:t>rjk</a:t>
            </a:r>
            <a:r>
              <a:rPr lang="zh-CN" altLang="en-US"/>
              <a:t>。这意味着作业</a:t>
            </a:r>
            <a:r>
              <a:rPr lang="en-US" altLang="zh-CN"/>
              <a:t>j</a:t>
            </a:r>
            <a:r>
              <a:rPr lang="zh-CN" altLang="en-US"/>
              <a:t>在位于位置</a:t>
            </a:r>
            <a:r>
              <a:rPr lang="en-US" altLang="zh-CN"/>
              <a:t>k</a:t>
            </a:r>
            <a:r>
              <a:rPr lang="zh-CN" altLang="en-US"/>
              <a:t>的机器上的可开始加工时间，取决于从作业</a:t>
            </a:r>
            <a:r>
              <a:rPr lang="en-US" altLang="zh-CN"/>
              <a:t>j</a:t>
            </a:r>
            <a:r>
              <a:rPr lang="zh-CN" altLang="en-US"/>
              <a:t>的存放点到位置</a:t>
            </a:r>
            <a:r>
              <a:rPr lang="en-US" altLang="zh-CN"/>
              <a:t>k</a:t>
            </a:r>
            <a:r>
              <a:rPr lang="zh-CN" altLang="en-US"/>
              <a:t>的运输时间。这一特性使得问题变得更为复杂</a:t>
            </a:r>
            <a:r>
              <a:rPr lang="en-US" altLang="zh-CN"/>
              <a:t>.</a:t>
            </a:r>
            <a:r>
              <a:rPr lang="zh-CN" altLang="en-US"/>
              <a:t>那么现在有同学就说，老师让研究港口管理优化决策，你怎么弄个并行机的调度选址，因为并行机就可以类比为船舶，作业排序也就是</a:t>
            </a:r>
            <a:r>
              <a:rPr lang="zh-CN" altLang="en-US" sz="1200" b="0" i="0" kern="1200">
                <a:solidFill>
                  <a:schemeClr val="tx1"/>
                </a:solidFill>
                <a:effectLst/>
                <a:latin typeface="+mn-lt"/>
                <a:ea typeface="+mn-ea"/>
                <a:cs typeface="+mn-cs"/>
              </a:rPr>
              <a:t>集装箱装卸调度。他是一个更加广泛的问题。</a:t>
            </a:r>
            <a:endParaRPr lang="en-US" altLang="zh-CN" sz="1200" b="0" i="0" kern="1200">
              <a:solidFill>
                <a:schemeClr val="tx1"/>
              </a:solidFill>
              <a:effectLst/>
              <a:latin typeface="+mn-lt"/>
              <a:ea typeface="+mn-ea"/>
              <a:cs typeface="+mn-cs"/>
            </a:endParaRPr>
          </a:p>
          <a:p>
            <a:r>
              <a:rPr lang="zh-CN" altLang="en-US"/>
              <a:t>第二步，我们来看看之前的文献，能给我们带来什么：</a:t>
            </a:r>
            <a:r>
              <a:rPr lang="en-US" altLang="zh-CN"/>
              <a:t>H2017</a:t>
            </a:r>
            <a:r>
              <a:rPr lang="zh-CN" altLang="en-US" sz="1200" b="0" i="0" kern="1200">
                <a:solidFill>
                  <a:schemeClr val="tx1"/>
                </a:solidFill>
                <a:effectLst/>
                <a:latin typeface="+mn-lt"/>
                <a:ea typeface="+mn-ea"/>
                <a:cs typeface="+mn-cs"/>
              </a:rPr>
              <a:t>是并行</a:t>
            </a:r>
            <a:r>
              <a:rPr lang="en-US" altLang="zh-CN" sz="1200" b="0" i="0" kern="1200">
                <a:solidFill>
                  <a:schemeClr val="tx1"/>
                </a:solidFill>
                <a:effectLst/>
                <a:latin typeface="+mn-lt"/>
                <a:ea typeface="+mn-ea"/>
                <a:cs typeface="+mn-cs"/>
              </a:rPr>
              <a:t>D-ScheLoc</a:t>
            </a:r>
            <a:r>
              <a:rPr lang="zh-CN" altLang="en-US" sz="1200" b="0" i="0" kern="1200">
                <a:solidFill>
                  <a:schemeClr val="tx1"/>
                </a:solidFill>
                <a:effectLst/>
                <a:latin typeface="+mn-lt"/>
                <a:ea typeface="+mn-ea"/>
                <a:cs typeface="+mn-cs"/>
              </a:rPr>
              <a:t>问题的开创性工作。他们首次为该问题建立了（</a:t>
            </a:r>
            <a:r>
              <a:rPr lang="en-US" altLang="zh-CN" sz="1200" b="0" i="0" kern="1200">
                <a:solidFill>
                  <a:schemeClr val="tx1"/>
                </a:solidFill>
                <a:effectLst/>
                <a:latin typeface="+mn-lt"/>
                <a:ea typeface="+mn-ea"/>
                <a:cs typeface="+mn-cs"/>
              </a:rPr>
              <a:t>MILP</a:t>
            </a:r>
            <a:r>
              <a:rPr lang="zh-CN" altLang="en-US" sz="1200" b="0" i="0" kern="1200">
                <a:solidFill>
                  <a:schemeClr val="tx1"/>
                </a:solidFill>
                <a:effectLst/>
                <a:latin typeface="+mn-lt"/>
                <a:ea typeface="+mn-ea"/>
                <a:cs typeface="+mn-cs"/>
              </a:rPr>
              <a:t>）模型，并提出了一系列基于聚类的启发式算法。然而，该论文明确指出，其启发式算法得到的解“远非最优” 这为后续研究留下了巨大的提升空间。也为本论文的研究做了铺垫。</a:t>
            </a:r>
            <a:r>
              <a:rPr lang="en-US" altLang="zh-CN" sz="1200" b="0" i="0" kern="1200">
                <a:solidFill>
                  <a:schemeClr val="tx1"/>
                </a:solidFill>
                <a:effectLst/>
                <a:latin typeface="+mn-lt"/>
                <a:ea typeface="+mn-ea"/>
                <a:cs typeface="+mn-cs"/>
              </a:rPr>
              <a:t>W2020</a:t>
            </a:r>
            <a:r>
              <a:rPr lang="zh-CN" altLang="en-US" sz="1200" b="0" i="0" kern="1200">
                <a:solidFill>
                  <a:schemeClr val="tx1"/>
                </a:solidFill>
                <a:effectLst/>
                <a:latin typeface="+mn-lt"/>
                <a:ea typeface="+mn-ea"/>
                <a:cs typeface="+mn-cs"/>
              </a:rPr>
              <a:t>重新审视了该问题，提出了一个基于网络流的数学模型和改进的启发式算法。尽管他们的方法在性能上超越了</a:t>
            </a:r>
            <a:r>
              <a:rPr lang="en-US" altLang="zh-CN" sz="1200" b="0" i="0" kern="1200">
                <a:solidFill>
                  <a:schemeClr val="tx1"/>
                </a:solidFill>
                <a:effectLst/>
                <a:latin typeface="+mn-lt"/>
                <a:ea typeface="+mn-ea"/>
                <a:cs typeface="+mn-cs"/>
              </a:rPr>
              <a:t>H2017</a:t>
            </a:r>
            <a:r>
              <a:rPr lang="zh-CN" altLang="en-US" sz="1200" b="0" i="0" kern="1200">
                <a:solidFill>
                  <a:schemeClr val="tx1"/>
                </a:solidFill>
                <a:effectLst/>
                <a:latin typeface="+mn-lt"/>
                <a:ea typeface="+mn-ea"/>
                <a:cs typeface="+mn-cs"/>
              </a:rPr>
              <a:t>，但其本质仍然是启发式的，无法保证解的最优性 。</a:t>
            </a:r>
            <a:endParaRPr lang="en-US" altLang="zh-CN" sz="1200" b="0" i="0" kern="1200">
              <a:solidFill>
                <a:schemeClr val="tx1"/>
              </a:solidFill>
              <a:effectLst/>
              <a:latin typeface="+mn-lt"/>
              <a:ea typeface="+mn-ea"/>
              <a:cs typeface="+mn-cs"/>
            </a:endParaRPr>
          </a:p>
          <a:p>
            <a:r>
              <a:rPr lang="zh-CN" altLang="en-US" sz="1200" b="0" i="0" kern="1200">
                <a:solidFill>
                  <a:schemeClr val="tx1"/>
                </a:solidFill>
                <a:effectLst/>
                <a:latin typeface="+mn-lt"/>
                <a:ea typeface="+mn-ea"/>
                <a:cs typeface="+mn-cs"/>
              </a:rPr>
              <a:t>第三步，总结概括该领域内仍存在的挑战：我总结为三点：</a:t>
            </a:r>
            <a:r>
              <a:rPr lang="en-US" altLang="zh-CN" sz="1200" b="0" i="0" kern="1200">
                <a:solidFill>
                  <a:schemeClr val="tx1"/>
                </a:solidFill>
                <a:effectLst/>
                <a:latin typeface="+mn-lt"/>
                <a:ea typeface="+mn-ea"/>
                <a:cs typeface="+mn-cs"/>
              </a:rPr>
              <a:t>1.</a:t>
            </a:r>
            <a:r>
              <a:rPr lang="zh-CN" altLang="en-US" sz="1200" b="0" i="0" kern="1200">
                <a:solidFill>
                  <a:schemeClr val="tx1"/>
                </a:solidFill>
                <a:effectLst/>
                <a:latin typeface="+mn-lt"/>
                <a:ea typeface="+mn-ea"/>
                <a:cs typeface="+mn-cs"/>
              </a:rPr>
              <a:t>最优性差距，最主要的挑战是缺乏能够求解实际规模问题并证明其最优性的</a:t>
            </a:r>
            <a:r>
              <a:rPr lang="zh-CN" altLang="en-US" sz="1200" b="1" i="0" kern="1200">
                <a:solidFill>
                  <a:schemeClr val="tx1"/>
                </a:solidFill>
                <a:effectLst/>
                <a:latin typeface="+mn-lt"/>
                <a:ea typeface="+mn-ea"/>
                <a:cs typeface="+mn-cs"/>
              </a:rPr>
              <a:t>精确算法</a:t>
            </a:r>
            <a:r>
              <a:rPr lang="zh-CN" altLang="en-US" sz="1200" b="0" i="0" kern="1200">
                <a:solidFill>
                  <a:schemeClr val="tx1"/>
                </a:solidFill>
                <a:effectLst/>
                <a:latin typeface="+mn-lt"/>
                <a:ea typeface="+mn-ea"/>
                <a:cs typeface="+mn-cs"/>
              </a:rPr>
              <a:t>。现有的方法均为启发式算法，</a:t>
            </a:r>
            <a:r>
              <a:rPr lang="en-US" altLang="zh-CN" sz="1200" b="0" i="0" kern="1200">
                <a:solidFill>
                  <a:schemeClr val="tx1"/>
                </a:solidFill>
                <a:effectLst/>
                <a:latin typeface="+mn-lt"/>
                <a:ea typeface="+mn-ea"/>
                <a:cs typeface="+mn-cs"/>
              </a:rPr>
              <a:t>2.</a:t>
            </a:r>
            <a:r>
              <a:rPr lang="zh-CN" altLang="en-US" sz="1200" b="0" i="0" kern="1200">
                <a:solidFill>
                  <a:schemeClr val="tx1"/>
                </a:solidFill>
                <a:effectLst/>
                <a:latin typeface="+mn-lt"/>
                <a:ea typeface="+mn-ea"/>
                <a:cs typeface="+mn-cs"/>
              </a:rPr>
              <a:t>可拓展性与复杂性：</a:t>
            </a:r>
            <a:r>
              <a:rPr lang="en-US" altLang="zh-CN" sz="1200" b="0" i="0" kern="1200">
                <a:solidFill>
                  <a:schemeClr val="tx1"/>
                </a:solidFill>
                <a:effectLst/>
                <a:latin typeface="+mn-lt"/>
                <a:ea typeface="+mn-ea"/>
                <a:cs typeface="+mn-cs"/>
              </a:rPr>
              <a:t>D-ScheLoc</a:t>
            </a:r>
            <a:r>
              <a:rPr lang="zh-CN" altLang="en-US" sz="1200" b="0" i="0" kern="1200">
                <a:solidFill>
                  <a:schemeClr val="tx1"/>
                </a:solidFill>
                <a:effectLst/>
                <a:latin typeface="+mn-lt"/>
                <a:ea typeface="+mn-ea"/>
                <a:cs typeface="+mn-cs"/>
              </a:rPr>
              <a:t>问题的集成特性导致了组合爆炸。现有的</a:t>
            </a:r>
            <a:r>
              <a:rPr lang="en-US" altLang="zh-CN" sz="1200" b="0" i="0" kern="1200">
                <a:solidFill>
                  <a:schemeClr val="tx1"/>
                </a:solidFill>
                <a:effectLst/>
                <a:latin typeface="+mn-lt"/>
                <a:ea typeface="+mn-ea"/>
                <a:cs typeface="+mn-cs"/>
              </a:rPr>
              <a:t>MILP</a:t>
            </a:r>
            <a:r>
              <a:rPr lang="zh-CN" altLang="en-US" sz="1200" b="0" i="0" kern="1200">
                <a:solidFill>
                  <a:schemeClr val="tx1"/>
                </a:solidFill>
                <a:effectLst/>
                <a:latin typeface="+mn-lt"/>
                <a:ea typeface="+mn-ea"/>
                <a:cs typeface="+mn-cs"/>
              </a:rPr>
              <a:t>模型在处理除小型实例之外的问题时，计算上变得不可行。</a:t>
            </a:r>
            <a:r>
              <a:rPr lang="en-US" altLang="zh-CN" sz="1200" b="0" i="0" kern="1200">
                <a:solidFill>
                  <a:schemeClr val="tx1"/>
                </a:solidFill>
                <a:effectLst/>
                <a:latin typeface="+mn-lt"/>
                <a:ea typeface="+mn-ea"/>
                <a:cs typeface="+mn-cs"/>
              </a:rPr>
              <a:t>3.</a:t>
            </a:r>
            <a:r>
              <a:rPr lang="zh-CN" altLang="en-US" sz="1200" b="0" i="0" kern="1200">
                <a:solidFill>
                  <a:schemeClr val="tx1"/>
                </a:solidFill>
                <a:effectLst/>
                <a:latin typeface="+mn-lt"/>
                <a:ea typeface="+mn-ea"/>
                <a:cs typeface="+mn-cs"/>
              </a:rPr>
              <a:t>弱模型构建：现有</a:t>
            </a:r>
            <a:r>
              <a:rPr lang="en-US" altLang="zh-CN" sz="1200" b="0" i="0" kern="1200">
                <a:solidFill>
                  <a:schemeClr val="tx1"/>
                </a:solidFill>
                <a:effectLst/>
                <a:latin typeface="+mn-lt"/>
                <a:ea typeface="+mn-ea"/>
                <a:cs typeface="+mn-cs"/>
              </a:rPr>
              <a:t>MILP</a:t>
            </a:r>
            <a:r>
              <a:rPr lang="zh-CN" altLang="en-US" sz="1200" b="0" i="0" kern="1200">
                <a:solidFill>
                  <a:schemeClr val="tx1"/>
                </a:solidFill>
                <a:effectLst/>
                <a:latin typeface="+mn-lt"/>
                <a:ea typeface="+mn-ea"/>
                <a:cs typeface="+mn-cs"/>
              </a:rPr>
              <a:t>模型的线性规划（</a:t>
            </a:r>
            <a:r>
              <a:rPr lang="en-US" altLang="zh-CN" sz="1200" b="0" i="0" kern="1200">
                <a:solidFill>
                  <a:schemeClr val="tx1"/>
                </a:solidFill>
                <a:effectLst/>
                <a:latin typeface="+mn-lt"/>
                <a:ea typeface="+mn-ea"/>
                <a:cs typeface="+mn-cs"/>
              </a:rPr>
              <a:t>LP</a:t>
            </a:r>
            <a:r>
              <a:rPr lang="zh-CN" altLang="en-US" sz="1200" b="0" i="0" kern="1200">
                <a:solidFill>
                  <a:schemeClr val="tx1"/>
                </a:solidFill>
                <a:effectLst/>
                <a:latin typeface="+mn-lt"/>
                <a:ea typeface="+mn-ea"/>
                <a:cs typeface="+mn-cs"/>
              </a:rPr>
              <a:t>）松弛效果较差。这意味着在分支定界算法的求解过程中，它们提供的下界不够紧，无法有效剪除搜索树的分支，从而导致求解效率低下。</a:t>
            </a:r>
            <a:endParaRPr lang="en-US" altLang="zh-CN" sz="1200" b="0" i="0" kern="1200">
              <a:solidFill>
                <a:schemeClr val="tx1"/>
              </a:solidFill>
              <a:effectLst/>
              <a:latin typeface="+mn-lt"/>
              <a:ea typeface="+mn-ea"/>
              <a:cs typeface="+mn-cs"/>
            </a:endParaRPr>
          </a:p>
          <a:p>
            <a:r>
              <a:rPr lang="zh-CN" altLang="en-US" sz="1200" b="0" i="0" kern="1200">
                <a:solidFill>
                  <a:schemeClr val="tx1"/>
                </a:solidFill>
                <a:effectLst/>
                <a:latin typeface="+mn-lt"/>
                <a:ea typeface="+mn-ea"/>
                <a:cs typeface="+mn-cs"/>
              </a:rPr>
              <a:t>因而，我们的第四步，对这类问题开展研究解决：本文开发了更优的模型和算法，具体的模型算法在后续会介绍。</a:t>
            </a:r>
            <a:endParaRPr lang="en-US" altLang="zh-CN" sz="1200" b="0" i="0" kern="120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52A5A1FA-14FB-46D4-B8A3-2C7A85060E48}" type="slidenum">
              <a:rPr lang="zh-CN" altLang="en-US" smtClean="0"/>
              <a:t>2</a:t>
            </a:fld>
            <a:endParaRPr lang="zh-CN" altLang="en-US"/>
          </a:p>
        </p:txBody>
      </p:sp>
    </p:spTree>
    <p:extLst>
      <p:ext uri="{BB962C8B-B14F-4D97-AF65-F5344CB8AC3E}">
        <p14:creationId xmlns:p14="http://schemas.microsoft.com/office/powerpoint/2010/main" val="1013177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接下来我们对本文的数学模型展开研究：先对以往的模型进行熟悉了解：</a:t>
            </a:r>
            <a:r>
              <a:rPr lang="en-US" altLang="zh-CN"/>
              <a:t>H2017</a:t>
            </a:r>
            <a:r>
              <a:rPr lang="zh-CN" altLang="en-US"/>
              <a:t>引入了两个虚拟作业</a:t>
            </a:r>
            <a:r>
              <a:rPr lang="en-US" altLang="zh-CN"/>
              <a:t>0</a:t>
            </a:r>
            <a:r>
              <a:rPr lang="zh-CN" altLang="en-US"/>
              <a:t>和 </a:t>
            </a:r>
            <a:r>
              <a:rPr lang="en-US" altLang="zh-CN" sz="1200" kern="1200">
                <a:solidFill>
                  <a:schemeClr val="tx1"/>
                </a:solidFill>
                <a:effectLst/>
                <a:latin typeface="+mn-lt"/>
                <a:ea typeface="+mn-ea"/>
                <a:cs typeface="+mn-cs"/>
              </a:rPr>
              <a:t>N+1</a:t>
            </a:r>
            <a:r>
              <a:rPr lang="zh-CN" altLang="en-US"/>
              <a:t>，分别代表每台机器上任务序列的开始和结束。其核心决策变量是三指标变量 </a:t>
            </a:r>
            <a:r>
              <a:rPr lang="en-US" altLang="zh-CN" sz="1200" kern="1200">
                <a:solidFill>
                  <a:schemeClr val="tx1"/>
                </a:solidFill>
                <a:effectLst/>
                <a:latin typeface="+mn-lt"/>
                <a:ea typeface="+mn-ea"/>
                <a:cs typeface="+mn-cs"/>
              </a:rPr>
              <a:t>xijk</a:t>
            </a:r>
            <a:r>
              <a:rPr lang="zh-CN" altLang="en-US"/>
              <a:t>，当作业 </a:t>
            </a:r>
            <a:r>
              <a:rPr lang="en-US" altLang="zh-CN" sz="1200" kern="1200">
                <a:solidFill>
                  <a:schemeClr val="tx1"/>
                </a:solidFill>
                <a:effectLst/>
                <a:latin typeface="+mn-lt"/>
                <a:ea typeface="+mn-ea"/>
                <a:cs typeface="+mn-cs"/>
              </a:rPr>
              <a:t>i</a:t>
            </a:r>
            <a:r>
              <a:rPr lang="zh-CN" altLang="en-US"/>
              <a:t> 在位置 </a:t>
            </a:r>
            <a:r>
              <a:rPr lang="en-US" altLang="zh-CN" sz="1200" kern="1200">
                <a:solidFill>
                  <a:schemeClr val="tx1"/>
                </a:solidFill>
                <a:effectLst/>
                <a:latin typeface="+mn-lt"/>
                <a:ea typeface="+mn-ea"/>
                <a:cs typeface="+mn-cs"/>
              </a:rPr>
              <a:t>k</a:t>
            </a:r>
            <a:r>
              <a:rPr lang="zh-CN" altLang="en-US"/>
              <a:t>的机器上紧接着在作业</a:t>
            </a:r>
            <a:r>
              <a:rPr lang="en-US" altLang="zh-CN"/>
              <a:t>j</a:t>
            </a:r>
            <a:r>
              <a:rPr lang="zh-CN" altLang="en-US"/>
              <a:t>之前处理时，其值为</a:t>
            </a:r>
            <a:r>
              <a:rPr lang="en-US" altLang="zh-CN"/>
              <a:t>1</a:t>
            </a:r>
            <a:r>
              <a:rPr lang="zh-CN" altLang="en-US"/>
              <a:t>。这些约束我就不带领大家一条一条了解了。</a:t>
            </a:r>
            <a:r>
              <a:rPr lang="en-US" altLang="zh-CN"/>
              <a:t>W2020</a:t>
            </a:r>
            <a:r>
              <a:rPr lang="zh-CN" altLang="en-US"/>
              <a:t>的模型是一个基于网络流的 </a:t>
            </a:r>
            <a:r>
              <a:rPr lang="en-US" altLang="zh-CN"/>
              <a:t>formulation</a:t>
            </a:r>
            <a:r>
              <a:rPr lang="zh-CN" altLang="en-US"/>
              <a:t>，同样使用了三指标变量 </a:t>
            </a:r>
            <a:r>
              <a:rPr lang="en-US" altLang="zh-CN" sz="1200" kern="1200">
                <a:solidFill>
                  <a:schemeClr val="tx1"/>
                </a:solidFill>
                <a:effectLst/>
                <a:latin typeface="+mn-lt"/>
                <a:ea typeface="+mn-ea"/>
                <a:cs typeface="+mn-cs"/>
              </a:rPr>
              <a:t>xijk</a:t>
            </a:r>
            <a:r>
              <a:rPr lang="zh-CN" altLang="en-US"/>
              <a:t>。这两个模型的求解效率和线性松弛方面不足</a:t>
            </a:r>
          </a:p>
        </p:txBody>
      </p:sp>
      <p:sp>
        <p:nvSpPr>
          <p:cNvPr id="4" name="灯片编号占位符 3"/>
          <p:cNvSpPr>
            <a:spLocks noGrp="1"/>
          </p:cNvSpPr>
          <p:nvPr>
            <p:ph type="sldNum" sz="quarter" idx="5"/>
          </p:nvPr>
        </p:nvSpPr>
        <p:spPr/>
        <p:txBody>
          <a:bodyPr/>
          <a:lstStyle/>
          <a:p>
            <a:fld id="{52A5A1FA-14FB-46D4-B8A3-2C7A85060E48}" type="slidenum">
              <a:rPr lang="zh-CN" altLang="en-US" smtClean="0"/>
              <a:t>3</a:t>
            </a:fld>
            <a:endParaRPr lang="zh-CN" altLang="en-US"/>
          </a:p>
        </p:txBody>
      </p:sp>
    </p:spTree>
    <p:extLst>
      <p:ext uri="{BB962C8B-B14F-4D97-AF65-F5344CB8AC3E}">
        <p14:creationId xmlns:p14="http://schemas.microsoft.com/office/powerpoint/2010/main" val="1461161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所以本文引入了新模型：三索引模型，线性排序模型和位置日期模型。三索引模型</a:t>
            </a:r>
            <a:r>
              <a:rPr lang="zh-CN" altLang="en-US" sz="1200" b="0" i="0" kern="1200">
                <a:solidFill>
                  <a:schemeClr val="tx1"/>
                </a:solidFill>
                <a:effectLst/>
                <a:latin typeface="+mn-lt"/>
                <a:ea typeface="+mn-ea"/>
                <a:cs typeface="+mn-cs"/>
              </a:rPr>
              <a:t>这是一个改进的三指标模型。数据表明他能比前两个提到的模型更好的找到下界。线性排序模型</a:t>
            </a:r>
            <a:r>
              <a:rPr lang="zh-CN" altLang="en-US"/>
              <a:t>结构独特，使用二元变量 </a:t>
            </a:r>
            <a:r>
              <a:rPr lang="en-US" altLang="zh-CN" sz="1200" kern="1200">
                <a:solidFill>
                  <a:schemeClr val="tx1"/>
                </a:solidFill>
                <a:effectLst/>
                <a:latin typeface="+mn-lt"/>
                <a:ea typeface="+mn-ea"/>
                <a:cs typeface="+mn-cs"/>
              </a:rPr>
              <a:t>xij</a:t>
            </a:r>
            <a:r>
              <a:rPr lang="zh-CN" altLang="en-US"/>
              <a:t> 表示作业</a:t>
            </a:r>
            <a:r>
              <a:rPr lang="en-US" altLang="zh-CN"/>
              <a:t>i</a:t>
            </a:r>
            <a:r>
              <a:rPr lang="zh-CN" altLang="en-US"/>
              <a:t>在作业</a:t>
            </a:r>
            <a:r>
              <a:rPr lang="en-US" altLang="zh-CN"/>
              <a:t>j</a:t>
            </a:r>
            <a:r>
              <a:rPr lang="zh-CN" altLang="en-US"/>
              <a:t>之前完成，从而显著减少了二元排序变量的数量。这里面</a:t>
            </a:r>
            <a:r>
              <a:rPr lang="en-US" altLang="zh-CN"/>
              <a:t>48.49</a:t>
            </a:r>
            <a:r>
              <a:rPr lang="zh-CN" altLang="en-US"/>
              <a:t>是核心的排队约束位置日期模型为每个位置的机器定义了一系列处理位置（</a:t>
            </a:r>
            <a:r>
              <a:rPr lang="en-US" altLang="zh-CN"/>
              <a:t>1</a:t>
            </a:r>
            <a:r>
              <a:rPr lang="zh-CN" altLang="en-US"/>
              <a:t>到 </a:t>
            </a:r>
            <a:r>
              <a:rPr lang="en-US" altLang="zh-CN" sz="1200" kern="1200">
                <a:solidFill>
                  <a:schemeClr val="tx1"/>
                </a:solidFill>
                <a:effectLst/>
                <a:latin typeface="+mn-lt"/>
                <a:ea typeface="+mn-ea"/>
                <a:cs typeface="+mn-cs"/>
              </a:rPr>
              <a:t>n</a:t>
            </a:r>
            <a:r>
              <a:rPr lang="zh-CN" altLang="en-US"/>
              <a:t>），并将作业分配到这些位置上。其关键优势在于不使用大</a:t>
            </a:r>
            <a:r>
              <a:rPr lang="en-US" altLang="zh-CN"/>
              <a:t>M”</a:t>
            </a:r>
            <a:r>
              <a:rPr lang="zh-CN" altLang="en-US"/>
              <a:t>约束。</a:t>
            </a:r>
          </a:p>
        </p:txBody>
      </p:sp>
      <p:sp>
        <p:nvSpPr>
          <p:cNvPr id="4" name="灯片编号占位符 3"/>
          <p:cNvSpPr>
            <a:spLocks noGrp="1"/>
          </p:cNvSpPr>
          <p:nvPr>
            <p:ph type="sldNum" sz="quarter" idx="5"/>
          </p:nvPr>
        </p:nvSpPr>
        <p:spPr/>
        <p:txBody>
          <a:bodyPr/>
          <a:lstStyle/>
          <a:p>
            <a:fld id="{52A5A1FA-14FB-46D4-B8A3-2C7A85060E48}" type="slidenum">
              <a:rPr lang="zh-CN" altLang="en-US" smtClean="0"/>
              <a:t>4</a:t>
            </a:fld>
            <a:endParaRPr lang="zh-CN" altLang="en-US"/>
          </a:p>
        </p:txBody>
      </p:sp>
    </p:spTree>
    <p:extLst>
      <p:ext uri="{BB962C8B-B14F-4D97-AF65-F5344CB8AC3E}">
        <p14:creationId xmlns:p14="http://schemas.microsoft.com/office/powerpoint/2010/main" val="15841674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接下来对五种模型的性能进行对照比较，从表中可以清晰地看到各模型在结构上的好坏。例如，</a:t>
            </a:r>
            <a:r>
              <a:rPr lang="en-US" altLang="zh-CN"/>
              <a:t>LO</a:t>
            </a:r>
            <a:r>
              <a:rPr lang="zh-CN" altLang="en-US"/>
              <a:t>模型的二元变量数量级为 </a:t>
            </a:r>
            <a:r>
              <a:rPr lang="en-US" altLang="zh-CN" sz="1200" kern="1200">
                <a:solidFill>
                  <a:schemeClr val="tx1"/>
                </a:solidFill>
                <a:effectLst/>
                <a:latin typeface="+mn-lt"/>
                <a:ea typeface="+mn-ea"/>
                <a:cs typeface="+mn-cs"/>
              </a:rPr>
              <a:t>$O(n^2)$</a:t>
            </a:r>
            <a:r>
              <a:rPr lang="zh-CN" altLang="en-US"/>
              <a:t>，远低于其他模型的 </a:t>
            </a:r>
            <a:r>
              <a:rPr lang="en-US" altLang="zh-CN" sz="1200" kern="1200">
                <a:solidFill>
                  <a:schemeClr val="tx1"/>
                </a:solidFill>
                <a:effectLst/>
                <a:latin typeface="+mn-lt"/>
                <a:ea typeface="+mn-ea"/>
                <a:cs typeface="+mn-cs"/>
              </a:rPr>
              <a:t>$O(n^2g)$</a:t>
            </a:r>
            <a:r>
              <a:rPr lang="zh-CN" altLang="en-US"/>
              <a:t>，这是其在求解器中表现高效的关键结构优势。同时，</a:t>
            </a:r>
            <a:r>
              <a:rPr lang="en-US" altLang="zh-CN"/>
              <a:t>PD</a:t>
            </a:r>
            <a:r>
              <a:rPr lang="zh-CN" altLang="en-US"/>
              <a:t>模型虽然变量和约束数量庞大，但其大</a:t>
            </a:r>
            <a:r>
              <a:rPr lang="en-US" altLang="zh-CN"/>
              <a:t>M</a:t>
            </a:r>
            <a:r>
              <a:rPr lang="zh-CN" altLang="en-US"/>
              <a:t>约束数为零，这解释了为何它能提供较强的下界，尽管其规模较大。此表为后续的性能差异分析提供了结构层面的解释</a:t>
            </a:r>
            <a:r>
              <a:rPr lang="zh-CN" altLang="en-US" sz="1200" kern="1200" baseline="30000">
                <a:solidFill>
                  <a:schemeClr val="tx1"/>
                </a:solidFill>
                <a:effectLst/>
                <a:latin typeface="+mn-lt"/>
                <a:ea typeface="+mn-ea"/>
                <a:cs typeface="+mn-cs"/>
              </a:rPr>
              <a:t> </a:t>
            </a:r>
            <a:endParaRPr lang="zh-CN" altLang="en-US"/>
          </a:p>
        </p:txBody>
      </p:sp>
      <p:sp>
        <p:nvSpPr>
          <p:cNvPr id="4" name="灯片编号占位符 3"/>
          <p:cNvSpPr>
            <a:spLocks noGrp="1"/>
          </p:cNvSpPr>
          <p:nvPr>
            <p:ph type="sldNum" sz="quarter" idx="5"/>
          </p:nvPr>
        </p:nvSpPr>
        <p:spPr/>
        <p:txBody>
          <a:bodyPr/>
          <a:lstStyle/>
          <a:p>
            <a:fld id="{52A5A1FA-14FB-46D4-B8A3-2C7A85060E48}" type="slidenum">
              <a:rPr lang="zh-CN" altLang="en-US" smtClean="0"/>
              <a:t>5</a:t>
            </a:fld>
            <a:endParaRPr lang="zh-CN" altLang="en-US"/>
          </a:p>
        </p:txBody>
      </p:sp>
    </p:spTree>
    <p:extLst>
      <p:ext uri="{BB962C8B-B14F-4D97-AF65-F5344CB8AC3E}">
        <p14:creationId xmlns:p14="http://schemas.microsoft.com/office/powerpoint/2010/main" val="29133926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a:solidFill>
                  <a:schemeClr val="tx1"/>
                </a:solidFill>
                <a:effectLst/>
                <a:latin typeface="+mn-lt"/>
                <a:ea typeface="+mn-ea"/>
                <a:cs typeface="+mn-cs"/>
              </a:rPr>
              <a:t>论文不仅提出了新模型，还从理论上证明了其优越性，并设计了强化手段来进一步提升所有模型的性能。论文通过两个命题，严格证明了新旧模型在线性规划松弛强度上的优劣关系：命题</a:t>
            </a:r>
            <a:r>
              <a:rPr lang="en-US" altLang="zh-CN" sz="1200" b="0" i="0" kern="1200">
                <a:solidFill>
                  <a:schemeClr val="tx1"/>
                </a:solidFill>
                <a:effectLst/>
                <a:latin typeface="+mn-lt"/>
                <a:ea typeface="+mn-ea"/>
                <a:cs typeface="+mn-cs"/>
              </a:rPr>
              <a:t>1</a:t>
            </a:r>
            <a:r>
              <a:rPr lang="zh-CN" altLang="en-US" sz="1200" b="0" i="0" kern="1200">
                <a:solidFill>
                  <a:schemeClr val="tx1"/>
                </a:solidFill>
                <a:effectLst/>
                <a:latin typeface="+mn-lt"/>
                <a:ea typeface="+mn-ea"/>
                <a:cs typeface="+mn-cs"/>
              </a:rPr>
              <a:t>中证明了</a:t>
            </a:r>
            <a:r>
              <a:rPr lang="en-US" altLang="zh-CN" sz="1200" b="0" i="0" kern="1200">
                <a:solidFill>
                  <a:schemeClr val="tx1"/>
                </a:solidFill>
                <a:effectLst/>
                <a:latin typeface="+mn-lt"/>
                <a:ea typeface="+mn-ea"/>
                <a:cs typeface="+mn-cs"/>
              </a:rPr>
              <a:t> I3</a:t>
            </a:r>
            <a:r>
              <a:rPr lang="zh-CN" altLang="en-US" sz="1200" b="0" i="0" kern="1200">
                <a:solidFill>
                  <a:schemeClr val="tx1"/>
                </a:solidFill>
                <a:effectLst/>
                <a:latin typeface="+mn-lt"/>
                <a:ea typeface="+mn-ea"/>
                <a:cs typeface="+mn-cs"/>
              </a:rPr>
              <a:t>模型的线性松弛优于</a:t>
            </a:r>
            <a:r>
              <a:rPr lang="en-US" altLang="zh-CN" sz="1200" b="0" i="0" kern="1200">
                <a:solidFill>
                  <a:schemeClr val="tx1"/>
                </a:solidFill>
                <a:effectLst/>
                <a:latin typeface="+mn-lt"/>
                <a:ea typeface="+mn-ea"/>
                <a:cs typeface="+mn-cs"/>
              </a:rPr>
              <a:t>W2020</a:t>
            </a:r>
            <a:r>
              <a:rPr lang="zh-CN" altLang="en-US" sz="1200" b="0" i="0" kern="1200">
                <a:solidFill>
                  <a:schemeClr val="tx1"/>
                </a:solidFill>
                <a:effectLst/>
                <a:latin typeface="+mn-lt"/>
                <a:ea typeface="+mn-ea"/>
                <a:cs typeface="+mn-cs"/>
              </a:rPr>
              <a:t>模型。证明过程显示，任何</a:t>
            </a:r>
            <a:r>
              <a:rPr lang="en-US" altLang="zh-CN" sz="1200" b="0" i="0" kern="1200">
                <a:solidFill>
                  <a:schemeClr val="tx1"/>
                </a:solidFill>
                <a:effectLst/>
                <a:latin typeface="+mn-lt"/>
                <a:ea typeface="+mn-ea"/>
                <a:cs typeface="+mn-cs"/>
              </a:rPr>
              <a:t>I3</a:t>
            </a:r>
            <a:r>
              <a:rPr lang="zh-CN" altLang="en-US" sz="1200" b="0" i="0" kern="1200">
                <a:solidFill>
                  <a:schemeClr val="tx1"/>
                </a:solidFill>
                <a:effectLst/>
                <a:latin typeface="+mn-lt"/>
                <a:ea typeface="+mn-ea"/>
                <a:cs typeface="+mn-cs"/>
              </a:rPr>
              <a:t>模型的</a:t>
            </a:r>
            <a:r>
              <a:rPr lang="en-US" altLang="zh-CN" sz="1200" b="0" i="0" kern="1200">
                <a:solidFill>
                  <a:schemeClr val="tx1"/>
                </a:solidFill>
                <a:effectLst/>
                <a:latin typeface="+mn-lt"/>
                <a:ea typeface="+mn-ea"/>
                <a:cs typeface="+mn-cs"/>
              </a:rPr>
              <a:t>LP</a:t>
            </a:r>
            <a:r>
              <a:rPr lang="zh-CN" altLang="en-US" sz="1200" b="0" i="0" kern="1200">
                <a:solidFill>
                  <a:schemeClr val="tx1"/>
                </a:solidFill>
                <a:effectLst/>
                <a:latin typeface="+mn-lt"/>
                <a:ea typeface="+mn-ea"/>
                <a:cs typeface="+mn-cs"/>
              </a:rPr>
              <a:t>可行解都可以转化为一个</a:t>
            </a:r>
            <a:r>
              <a:rPr lang="en-US" altLang="zh-CN" sz="1200" b="0" i="0" kern="1200">
                <a:solidFill>
                  <a:schemeClr val="tx1"/>
                </a:solidFill>
                <a:effectLst/>
                <a:latin typeface="+mn-lt"/>
                <a:ea typeface="+mn-ea"/>
                <a:cs typeface="+mn-cs"/>
              </a:rPr>
              <a:t>W2020</a:t>
            </a:r>
            <a:r>
              <a:rPr lang="zh-CN" altLang="en-US" sz="1200" b="0" i="0" kern="1200">
                <a:solidFill>
                  <a:schemeClr val="tx1"/>
                </a:solidFill>
                <a:effectLst/>
                <a:latin typeface="+mn-lt"/>
                <a:ea typeface="+mn-ea"/>
                <a:cs typeface="+mn-cs"/>
              </a:rPr>
              <a:t>模型的</a:t>
            </a:r>
            <a:r>
              <a:rPr lang="en-US" altLang="zh-CN" sz="1200" b="0" i="0" kern="1200">
                <a:solidFill>
                  <a:schemeClr val="tx1"/>
                </a:solidFill>
                <a:effectLst/>
                <a:latin typeface="+mn-lt"/>
                <a:ea typeface="+mn-ea"/>
                <a:cs typeface="+mn-cs"/>
              </a:rPr>
              <a:t>LP</a:t>
            </a:r>
            <a:r>
              <a:rPr lang="zh-CN" altLang="en-US" sz="1200" b="0" i="0" kern="1200">
                <a:solidFill>
                  <a:schemeClr val="tx1"/>
                </a:solidFill>
                <a:effectLst/>
                <a:latin typeface="+mn-lt"/>
                <a:ea typeface="+mn-ea"/>
                <a:cs typeface="+mn-cs"/>
              </a:rPr>
              <a:t>可行解，但反之不成立。论文通过一个数值反例证实了这一点，即存在</a:t>
            </a:r>
            <a:r>
              <a:rPr lang="en-US" altLang="zh-CN" sz="1200" b="0" i="0" kern="1200">
                <a:solidFill>
                  <a:schemeClr val="tx1"/>
                </a:solidFill>
                <a:effectLst/>
                <a:latin typeface="+mn-lt"/>
                <a:ea typeface="+mn-ea"/>
                <a:cs typeface="+mn-cs"/>
              </a:rPr>
              <a:t>W2020</a:t>
            </a:r>
            <a:r>
              <a:rPr lang="zh-CN" altLang="en-US" sz="1200" b="0" i="0" kern="1200">
                <a:solidFill>
                  <a:schemeClr val="tx1"/>
                </a:solidFill>
                <a:effectLst/>
                <a:latin typeface="+mn-lt"/>
                <a:ea typeface="+mn-ea"/>
                <a:cs typeface="+mn-cs"/>
              </a:rPr>
              <a:t>的</a:t>
            </a:r>
            <a:r>
              <a:rPr lang="en-US" altLang="zh-CN" sz="1200" b="0" i="0" kern="1200">
                <a:solidFill>
                  <a:schemeClr val="tx1"/>
                </a:solidFill>
                <a:effectLst/>
                <a:latin typeface="+mn-lt"/>
                <a:ea typeface="+mn-ea"/>
                <a:cs typeface="+mn-cs"/>
              </a:rPr>
              <a:t>LP</a:t>
            </a:r>
            <a:r>
              <a:rPr lang="zh-CN" altLang="en-US" sz="1200" b="0" i="0" kern="1200">
                <a:solidFill>
                  <a:schemeClr val="tx1"/>
                </a:solidFill>
                <a:effectLst/>
                <a:latin typeface="+mn-lt"/>
                <a:ea typeface="+mn-ea"/>
                <a:cs typeface="+mn-cs"/>
              </a:rPr>
              <a:t>可行解对于</a:t>
            </a:r>
            <a:r>
              <a:rPr lang="en-US" altLang="zh-CN" sz="1200" b="0" i="0" kern="1200">
                <a:solidFill>
                  <a:schemeClr val="tx1"/>
                </a:solidFill>
                <a:effectLst/>
                <a:latin typeface="+mn-lt"/>
                <a:ea typeface="+mn-ea"/>
                <a:cs typeface="+mn-cs"/>
              </a:rPr>
              <a:t>I3</a:t>
            </a:r>
            <a:r>
              <a:rPr lang="zh-CN" altLang="en-US" sz="1200" b="0" i="0" kern="1200">
                <a:solidFill>
                  <a:schemeClr val="tx1"/>
                </a:solidFill>
                <a:effectLst/>
                <a:latin typeface="+mn-lt"/>
                <a:ea typeface="+mn-ea"/>
                <a:cs typeface="+mn-cs"/>
              </a:rPr>
              <a:t>是不可行的 。命题</a:t>
            </a:r>
            <a:r>
              <a:rPr lang="en-US" altLang="zh-CN" sz="1200" b="0" i="0" kern="1200">
                <a:solidFill>
                  <a:schemeClr val="tx1"/>
                </a:solidFill>
                <a:effectLst/>
                <a:latin typeface="+mn-lt"/>
                <a:ea typeface="+mn-ea"/>
                <a:cs typeface="+mn-cs"/>
              </a:rPr>
              <a:t>2</a:t>
            </a:r>
            <a:r>
              <a:rPr lang="zh-CN" altLang="en-US" sz="1200" b="0" i="0" kern="1200">
                <a:solidFill>
                  <a:schemeClr val="tx1"/>
                </a:solidFill>
                <a:effectLst/>
                <a:latin typeface="+mn-lt"/>
                <a:ea typeface="+mn-ea"/>
                <a:cs typeface="+mn-cs"/>
              </a:rPr>
              <a:t>中证明了</a:t>
            </a:r>
            <a:r>
              <a:rPr lang="en-US" altLang="zh-CN" sz="1200" b="0" i="0" kern="1200">
                <a:solidFill>
                  <a:schemeClr val="tx1"/>
                </a:solidFill>
                <a:effectLst/>
                <a:latin typeface="+mn-lt"/>
                <a:ea typeface="+mn-ea"/>
                <a:cs typeface="+mn-cs"/>
              </a:rPr>
              <a:t> W2020</a:t>
            </a:r>
            <a:r>
              <a:rPr lang="zh-CN" altLang="en-US" sz="1200" b="0" i="0" kern="1200">
                <a:solidFill>
                  <a:schemeClr val="tx1"/>
                </a:solidFill>
                <a:effectLst/>
                <a:latin typeface="+mn-lt"/>
                <a:ea typeface="+mn-ea"/>
                <a:cs typeface="+mn-cs"/>
              </a:rPr>
              <a:t>模型的线性松弛优于</a:t>
            </a:r>
            <a:r>
              <a:rPr lang="en-US" altLang="zh-CN" sz="1200" b="0" i="0" kern="1200">
                <a:solidFill>
                  <a:schemeClr val="tx1"/>
                </a:solidFill>
                <a:effectLst/>
                <a:latin typeface="+mn-lt"/>
                <a:ea typeface="+mn-ea"/>
                <a:cs typeface="+mn-cs"/>
              </a:rPr>
              <a:t>H2017</a:t>
            </a:r>
            <a:r>
              <a:rPr lang="zh-CN" altLang="en-US" sz="1200" b="0" i="0" kern="1200">
                <a:solidFill>
                  <a:schemeClr val="tx1"/>
                </a:solidFill>
                <a:effectLst/>
                <a:latin typeface="+mn-lt"/>
                <a:ea typeface="+mn-ea"/>
                <a:cs typeface="+mn-cs"/>
              </a:rPr>
              <a:t>模型。证明采用了类似的逻辑结构，表明</a:t>
            </a:r>
            <a:r>
              <a:rPr lang="en-US" altLang="zh-CN" sz="1200" b="0" i="0" kern="1200">
                <a:solidFill>
                  <a:schemeClr val="tx1"/>
                </a:solidFill>
                <a:effectLst/>
                <a:latin typeface="+mn-lt"/>
                <a:ea typeface="+mn-ea"/>
                <a:cs typeface="+mn-cs"/>
              </a:rPr>
              <a:t>W2020</a:t>
            </a:r>
            <a:r>
              <a:rPr lang="zh-CN" altLang="en-US" sz="1200" b="0" i="0" kern="1200">
                <a:solidFill>
                  <a:schemeClr val="tx1"/>
                </a:solidFill>
                <a:effectLst/>
                <a:latin typeface="+mn-lt"/>
                <a:ea typeface="+mn-ea"/>
                <a:cs typeface="+mn-cs"/>
              </a:rPr>
              <a:t>的约束集构成了比</a:t>
            </a:r>
            <a:r>
              <a:rPr lang="en-US" altLang="zh-CN" sz="1200" b="0" i="0" kern="1200">
                <a:solidFill>
                  <a:schemeClr val="tx1"/>
                </a:solidFill>
                <a:effectLst/>
                <a:latin typeface="+mn-lt"/>
                <a:ea typeface="+mn-ea"/>
                <a:cs typeface="+mn-cs"/>
              </a:rPr>
              <a:t>H2017</a:t>
            </a:r>
            <a:r>
              <a:rPr lang="zh-CN" altLang="en-US" sz="1200" b="0" i="0" kern="1200">
                <a:solidFill>
                  <a:schemeClr val="tx1"/>
                </a:solidFill>
                <a:effectLst/>
                <a:latin typeface="+mn-lt"/>
                <a:ea typeface="+mn-ea"/>
                <a:cs typeface="+mn-cs"/>
              </a:rPr>
              <a:t>更紧的可行域 。   </a:t>
            </a:r>
          </a:p>
          <a:p>
            <a:br>
              <a:rPr lang="zh-CN" altLang="en-US"/>
            </a:br>
            <a:endParaRPr lang="zh-CN" altLang="en-US"/>
          </a:p>
        </p:txBody>
      </p:sp>
      <p:sp>
        <p:nvSpPr>
          <p:cNvPr id="4" name="灯片编号占位符 3"/>
          <p:cNvSpPr>
            <a:spLocks noGrp="1"/>
          </p:cNvSpPr>
          <p:nvPr>
            <p:ph type="sldNum" sz="quarter" idx="5"/>
          </p:nvPr>
        </p:nvSpPr>
        <p:spPr/>
        <p:txBody>
          <a:bodyPr/>
          <a:lstStyle/>
          <a:p>
            <a:fld id="{52A5A1FA-14FB-46D4-B8A3-2C7A85060E48}" type="slidenum">
              <a:rPr lang="zh-CN" altLang="en-US" smtClean="0"/>
              <a:t>6</a:t>
            </a:fld>
            <a:endParaRPr lang="zh-CN" altLang="en-US"/>
          </a:p>
        </p:txBody>
      </p:sp>
    </p:spTree>
    <p:extLst>
      <p:ext uri="{BB962C8B-B14F-4D97-AF65-F5344CB8AC3E}">
        <p14:creationId xmlns:p14="http://schemas.microsoft.com/office/powerpoint/2010/main" val="9467846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a:solidFill>
                  <a:schemeClr val="tx1"/>
                </a:solidFill>
                <a:effectLst/>
                <a:latin typeface="+mn-lt"/>
                <a:ea typeface="+mn-ea"/>
                <a:cs typeface="+mn-cs"/>
              </a:rPr>
              <a:t>为了进一步收紧模型的</a:t>
            </a:r>
            <a:r>
              <a:rPr lang="en-US" altLang="zh-CN" sz="1200" b="0" i="0" kern="1200">
                <a:solidFill>
                  <a:schemeClr val="tx1"/>
                </a:solidFill>
                <a:effectLst/>
                <a:latin typeface="+mn-lt"/>
                <a:ea typeface="+mn-ea"/>
                <a:cs typeface="+mn-cs"/>
              </a:rPr>
              <a:t>LP</a:t>
            </a:r>
            <a:r>
              <a:rPr lang="zh-CN" altLang="en-US" sz="1200" b="0" i="0" kern="1200">
                <a:solidFill>
                  <a:schemeClr val="tx1"/>
                </a:solidFill>
                <a:effectLst/>
                <a:latin typeface="+mn-lt"/>
                <a:ea typeface="+mn-ea"/>
                <a:cs typeface="+mn-cs"/>
              </a:rPr>
              <a:t>松弛，论文为不同模型引入了多组有效不等式 ：第</a:t>
            </a:r>
            <a:r>
              <a:rPr lang="en-US" altLang="zh-CN" sz="1200" b="0" i="0" kern="1200">
                <a:solidFill>
                  <a:schemeClr val="tx1"/>
                </a:solidFill>
                <a:effectLst/>
                <a:latin typeface="+mn-lt"/>
                <a:ea typeface="+mn-ea"/>
                <a:cs typeface="+mn-cs"/>
              </a:rPr>
              <a:t>59</a:t>
            </a:r>
            <a:r>
              <a:rPr lang="zh-CN" altLang="en-US" sz="1200" b="0" i="0" kern="1200">
                <a:solidFill>
                  <a:schemeClr val="tx1"/>
                </a:solidFill>
                <a:effectLst/>
                <a:latin typeface="+mn-lt"/>
                <a:ea typeface="+mn-ea"/>
                <a:cs typeface="+mn-cs"/>
              </a:rPr>
              <a:t>条不等式为任意给定机器上的</a:t>
            </a:r>
            <a:r>
              <a:rPr lang="en-US" altLang="zh-CN" sz="1200" b="0" i="0" kern="1200">
                <a:solidFill>
                  <a:schemeClr val="tx1"/>
                </a:solidFill>
                <a:effectLst/>
                <a:latin typeface="+mn-lt"/>
                <a:ea typeface="+mn-ea"/>
                <a:cs typeface="+mn-cs"/>
              </a:rPr>
              <a:t>makespan</a:t>
            </a:r>
            <a:r>
              <a:rPr lang="zh-CN" altLang="en-US" sz="1200" b="0" i="0" kern="1200">
                <a:solidFill>
                  <a:schemeClr val="tx1"/>
                </a:solidFill>
                <a:effectLst/>
                <a:latin typeface="+mn-lt"/>
                <a:ea typeface="+mn-ea"/>
                <a:cs typeface="+mn-cs"/>
              </a:rPr>
              <a:t>提供了一个基于总处理时间和最早发布时间的下界。第</a:t>
            </a:r>
            <a:r>
              <a:rPr lang="en-US" altLang="zh-CN" sz="1200" b="0" i="0" kern="1200">
                <a:solidFill>
                  <a:schemeClr val="tx1"/>
                </a:solidFill>
                <a:effectLst/>
                <a:latin typeface="+mn-lt"/>
                <a:ea typeface="+mn-ea"/>
                <a:cs typeface="+mn-cs"/>
              </a:rPr>
              <a:t>60</a:t>
            </a:r>
            <a:r>
              <a:rPr lang="zh-CN" altLang="en-US" sz="1200" b="0" i="0" kern="1200">
                <a:solidFill>
                  <a:schemeClr val="tx1"/>
                </a:solidFill>
                <a:effectLst/>
                <a:latin typeface="+mn-lt"/>
                <a:ea typeface="+mn-ea"/>
                <a:cs typeface="+mn-cs"/>
              </a:rPr>
              <a:t>条这是一个与</a:t>
            </a:r>
            <a:r>
              <a:rPr lang="en-US" altLang="zh-CN" sz="1200" b="0" i="0" kern="1200">
                <a:solidFill>
                  <a:schemeClr val="tx1"/>
                </a:solidFill>
                <a:effectLst/>
                <a:latin typeface="+mn-lt"/>
                <a:ea typeface="+mn-ea"/>
                <a:cs typeface="+mn-cs"/>
              </a:rPr>
              <a:t>(59)</a:t>
            </a:r>
            <a:r>
              <a:rPr lang="zh-CN" altLang="en-US" sz="1200" b="0" i="0" kern="1200">
                <a:solidFill>
                  <a:schemeClr val="tx1"/>
                </a:solidFill>
                <a:effectLst/>
                <a:latin typeface="+mn-lt"/>
                <a:ea typeface="+mn-ea"/>
                <a:cs typeface="+mn-cs"/>
              </a:rPr>
              <a:t>类似的</a:t>
            </a:r>
            <a:r>
              <a:rPr lang="en-US" altLang="zh-CN" sz="1200" b="0" i="0" kern="1200">
                <a:solidFill>
                  <a:schemeClr val="tx1"/>
                </a:solidFill>
                <a:effectLst/>
                <a:latin typeface="+mn-lt"/>
                <a:ea typeface="+mn-ea"/>
                <a:cs typeface="+mn-cs"/>
              </a:rPr>
              <a:t>makespan</a:t>
            </a:r>
            <a:r>
              <a:rPr lang="zh-CN" altLang="en-US" sz="1200" b="0" i="0" kern="1200">
                <a:solidFill>
                  <a:schemeClr val="tx1"/>
                </a:solidFill>
                <a:effectLst/>
                <a:latin typeface="+mn-lt"/>
                <a:ea typeface="+mn-ea"/>
                <a:cs typeface="+mn-cs"/>
              </a:rPr>
              <a:t>下界。对于</a:t>
            </a:r>
            <a:r>
              <a:rPr lang="en-US" altLang="zh-CN" sz="1200" b="0" i="0" kern="1200">
                <a:solidFill>
                  <a:schemeClr val="tx1"/>
                </a:solidFill>
                <a:effectLst/>
                <a:latin typeface="+mn-lt"/>
                <a:ea typeface="+mn-ea"/>
                <a:cs typeface="+mn-cs"/>
              </a:rPr>
              <a:t>PD</a:t>
            </a:r>
            <a:r>
              <a:rPr lang="zh-CN" altLang="en-US" sz="1200" b="0" i="0" kern="1200">
                <a:solidFill>
                  <a:schemeClr val="tx1"/>
                </a:solidFill>
                <a:effectLst/>
                <a:latin typeface="+mn-lt"/>
                <a:ea typeface="+mn-ea"/>
                <a:cs typeface="+mn-cs"/>
              </a:rPr>
              <a:t>，此外，还引入了</a:t>
            </a:r>
            <a:r>
              <a:rPr lang="zh-CN" altLang="en-US" sz="1200" b="1" i="0" kern="1200">
                <a:solidFill>
                  <a:schemeClr val="tx1"/>
                </a:solidFill>
                <a:effectLst/>
                <a:latin typeface="+mn-lt"/>
                <a:ea typeface="+mn-ea"/>
                <a:cs typeface="+mn-cs"/>
              </a:rPr>
              <a:t>对称性破除约束</a:t>
            </a:r>
            <a:r>
              <a:rPr lang="zh-CN" altLang="en-US" sz="1200" b="0" i="0" kern="1200">
                <a:solidFill>
                  <a:schemeClr val="tx1"/>
                </a:solidFill>
                <a:effectLst/>
                <a:latin typeface="+mn-lt"/>
                <a:ea typeface="+mn-ea"/>
                <a:cs typeface="+mn-cs"/>
              </a:rPr>
              <a:t>，强制机器上的位置必须被顺序填充：</a:t>
            </a:r>
          </a:p>
          <a:p>
            <a:br>
              <a:rPr lang="zh-CN" altLang="en-US"/>
            </a:br>
            <a:endParaRPr lang="zh-CN" altLang="en-US"/>
          </a:p>
        </p:txBody>
      </p:sp>
      <p:sp>
        <p:nvSpPr>
          <p:cNvPr id="4" name="灯片编号占位符 3"/>
          <p:cNvSpPr>
            <a:spLocks noGrp="1"/>
          </p:cNvSpPr>
          <p:nvPr>
            <p:ph type="sldNum" sz="quarter" idx="5"/>
          </p:nvPr>
        </p:nvSpPr>
        <p:spPr/>
        <p:txBody>
          <a:bodyPr/>
          <a:lstStyle/>
          <a:p>
            <a:fld id="{52A5A1FA-14FB-46D4-B8A3-2C7A85060E48}" type="slidenum">
              <a:rPr lang="zh-CN" altLang="en-US" smtClean="0"/>
              <a:t>7</a:t>
            </a:fld>
            <a:endParaRPr lang="zh-CN" altLang="en-US"/>
          </a:p>
        </p:txBody>
      </p:sp>
    </p:spTree>
    <p:extLst>
      <p:ext uri="{BB962C8B-B14F-4D97-AF65-F5344CB8AC3E}">
        <p14:creationId xmlns:p14="http://schemas.microsoft.com/office/powerpoint/2010/main" val="1727894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a:solidFill>
                  <a:schemeClr val="tx1"/>
                </a:solidFill>
                <a:effectLst/>
                <a:latin typeface="+mn-lt"/>
                <a:ea typeface="+mn-ea"/>
                <a:cs typeface="+mn-cs"/>
              </a:rPr>
              <a:t>图中表格通过实验数据验证了上述理论分析和强化手段的有效性。实验数据为命题</a:t>
            </a:r>
            <a:r>
              <a:rPr lang="en-US" altLang="zh-CN" sz="1200" b="0" i="0" kern="1200">
                <a:solidFill>
                  <a:schemeClr val="tx1"/>
                </a:solidFill>
                <a:effectLst/>
                <a:latin typeface="+mn-lt"/>
                <a:ea typeface="+mn-ea"/>
                <a:cs typeface="+mn-cs"/>
              </a:rPr>
              <a:t>1</a:t>
            </a:r>
            <a:r>
              <a:rPr lang="zh-CN" altLang="en-US" sz="1200" b="0" i="0" kern="1200">
                <a:solidFill>
                  <a:schemeClr val="tx1"/>
                </a:solidFill>
                <a:effectLst/>
                <a:latin typeface="+mn-lt"/>
                <a:ea typeface="+mn-ea"/>
                <a:cs typeface="+mn-cs"/>
              </a:rPr>
              <a:t>和</a:t>
            </a:r>
            <a:r>
              <a:rPr lang="en-US" altLang="zh-CN" sz="1200" b="0" i="0" kern="1200">
                <a:solidFill>
                  <a:schemeClr val="tx1"/>
                </a:solidFill>
                <a:effectLst/>
                <a:latin typeface="+mn-lt"/>
                <a:ea typeface="+mn-ea"/>
                <a:cs typeface="+mn-cs"/>
              </a:rPr>
              <a:t>2</a:t>
            </a:r>
            <a:r>
              <a:rPr lang="zh-CN" altLang="en-US" sz="1200" b="0" i="0" kern="1200">
                <a:solidFill>
                  <a:schemeClr val="tx1"/>
                </a:solidFill>
                <a:effectLst/>
                <a:latin typeface="+mn-lt"/>
                <a:ea typeface="+mn-ea"/>
                <a:cs typeface="+mn-cs"/>
              </a:rPr>
              <a:t>提供了经验支持，并清晰地展示了有效不等式的巨大威力。数据显示，</a:t>
            </a:r>
            <a:r>
              <a:rPr lang="en-US" altLang="zh-CN" sz="1200" b="0" i="0" kern="1200">
                <a:solidFill>
                  <a:schemeClr val="tx1"/>
                </a:solidFill>
                <a:effectLst/>
                <a:latin typeface="+mn-lt"/>
                <a:ea typeface="+mn-ea"/>
                <a:cs typeface="+mn-cs"/>
              </a:rPr>
              <a:t>I3</a:t>
            </a:r>
            <a:r>
              <a:rPr lang="zh-CN" altLang="en-US" sz="1200" b="0" i="0" kern="1200">
                <a:solidFill>
                  <a:schemeClr val="tx1"/>
                </a:solidFill>
                <a:effectLst/>
                <a:latin typeface="+mn-lt"/>
                <a:ea typeface="+mn-ea"/>
                <a:cs typeface="+mn-cs"/>
              </a:rPr>
              <a:t>和</a:t>
            </a:r>
            <a:r>
              <a:rPr lang="en-US" altLang="zh-CN" sz="1200" b="0" i="0" kern="1200">
                <a:solidFill>
                  <a:schemeClr val="tx1"/>
                </a:solidFill>
                <a:effectLst/>
                <a:latin typeface="+mn-lt"/>
                <a:ea typeface="+mn-ea"/>
                <a:cs typeface="+mn-cs"/>
              </a:rPr>
              <a:t>LO</a:t>
            </a:r>
            <a:r>
              <a:rPr lang="zh-CN" altLang="en-US" sz="1200" b="0" i="0" kern="1200">
                <a:solidFill>
                  <a:schemeClr val="tx1"/>
                </a:solidFill>
                <a:effectLst/>
                <a:latin typeface="+mn-lt"/>
                <a:ea typeface="+mn-ea"/>
                <a:cs typeface="+mn-cs"/>
              </a:rPr>
              <a:t>模型的</a:t>
            </a:r>
            <a:r>
              <a:rPr lang="en-US" altLang="zh-CN" sz="1200" b="0" i="0" kern="1200">
                <a:solidFill>
                  <a:schemeClr val="tx1"/>
                </a:solidFill>
                <a:effectLst/>
                <a:latin typeface="+mn-lt"/>
                <a:ea typeface="+mn-ea"/>
                <a:cs typeface="+mn-cs"/>
              </a:rPr>
              <a:t>LP</a:t>
            </a:r>
            <a:r>
              <a:rPr lang="zh-CN" altLang="en-US" sz="1200" b="0" i="0" kern="1200">
                <a:solidFill>
                  <a:schemeClr val="tx1"/>
                </a:solidFill>
                <a:effectLst/>
                <a:latin typeface="+mn-lt"/>
                <a:ea typeface="+mn-ea"/>
                <a:cs typeface="+mn-cs"/>
              </a:rPr>
              <a:t>松弛（差距更小）确实优于</a:t>
            </a:r>
            <a:r>
              <a:rPr lang="en-US" altLang="zh-CN" sz="1200" b="0" i="0" kern="1200">
                <a:solidFill>
                  <a:schemeClr val="tx1"/>
                </a:solidFill>
                <a:effectLst/>
                <a:latin typeface="+mn-lt"/>
                <a:ea typeface="+mn-ea"/>
                <a:cs typeface="+mn-cs"/>
              </a:rPr>
              <a:t>H2017</a:t>
            </a:r>
            <a:r>
              <a:rPr lang="zh-CN" altLang="en-US" sz="1200" b="0" i="0" kern="1200">
                <a:solidFill>
                  <a:schemeClr val="tx1"/>
                </a:solidFill>
                <a:effectLst/>
                <a:latin typeface="+mn-lt"/>
                <a:ea typeface="+mn-ea"/>
                <a:cs typeface="+mn-cs"/>
              </a:rPr>
              <a:t>和</a:t>
            </a:r>
            <a:r>
              <a:rPr lang="en-US" altLang="zh-CN" sz="1200" b="0" i="0" kern="1200">
                <a:solidFill>
                  <a:schemeClr val="tx1"/>
                </a:solidFill>
                <a:effectLst/>
                <a:latin typeface="+mn-lt"/>
                <a:ea typeface="+mn-ea"/>
                <a:cs typeface="+mn-cs"/>
              </a:rPr>
              <a:t>W2020</a:t>
            </a:r>
            <a:r>
              <a:rPr lang="zh-CN" altLang="en-US" sz="1200" b="0" i="0" kern="1200">
                <a:solidFill>
                  <a:schemeClr val="tx1"/>
                </a:solidFill>
                <a:effectLst/>
                <a:latin typeface="+mn-lt"/>
                <a:ea typeface="+mn-ea"/>
                <a:cs typeface="+mn-cs"/>
              </a:rPr>
              <a:t>。更重要的是，加入有效不等式后，所有模型的平均</a:t>
            </a:r>
            <a:r>
              <a:rPr lang="en-US" altLang="zh-CN" sz="1200" b="0" i="0" kern="1200">
                <a:solidFill>
                  <a:schemeClr val="tx1"/>
                </a:solidFill>
                <a:effectLst/>
                <a:latin typeface="+mn-lt"/>
                <a:ea typeface="+mn-ea"/>
                <a:cs typeface="+mn-cs"/>
              </a:rPr>
              <a:t>LP</a:t>
            </a:r>
            <a:r>
              <a:rPr lang="zh-CN" altLang="en-US" sz="1200" b="0" i="0" kern="1200">
                <a:solidFill>
                  <a:schemeClr val="tx1"/>
                </a:solidFill>
                <a:effectLst/>
                <a:latin typeface="+mn-lt"/>
                <a:ea typeface="+mn-ea"/>
                <a:cs typeface="+mn-cs"/>
              </a:rPr>
              <a:t>差距都得到了显著降低。这一数据有力地证明了这些强化约束的必要性，并解释了为何强化后的模型在实际求解中表现更佳 。</a:t>
            </a:r>
            <a:endParaRPr lang="zh-CN" altLang="en-US"/>
          </a:p>
        </p:txBody>
      </p:sp>
      <p:sp>
        <p:nvSpPr>
          <p:cNvPr id="4" name="灯片编号占位符 3"/>
          <p:cNvSpPr>
            <a:spLocks noGrp="1"/>
          </p:cNvSpPr>
          <p:nvPr>
            <p:ph type="sldNum" sz="quarter" idx="5"/>
          </p:nvPr>
        </p:nvSpPr>
        <p:spPr/>
        <p:txBody>
          <a:bodyPr/>
          <a:lstStyle/>
          <a:p>
            <a:fld id="{52A5A1FA-14FB-46D4-B8A3-2C7A85060E48}" type="slidenum">
              <a:rPr lang="zh-CN" altLang="en-US" smtClean="0"/>
              <a:t>8</a:t>
            </a:fld>
            <a:endParaRPr lang="zh-CN" altLang="en-US"/>
          </a:p>
        </p:txBody>
      </p:sp>
    </p:spTree>
    <p:extLst>
      <p:ext uri="{BB962C8B-B14F-4D97-AF65-F5344CB8AC3E}">
        <p14:creationId xmlns:p14="http://schemas.microsoft.com/office/powerpoint/2010/main" val="7854028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a:solidFill>
                  <a:schemeClr val="tx1"/>
                </a:solidFill>
                <a:effectLst/>
                <a:latin typeface="+mn-lt"/>
                <a:ea typeface="+mn-ea"/>
                <a:cs typeface="+mn-cs"/>
              </a:rPr>
              <a:t>为了评估启发式算法和</a:t>
            </a:r>
            <a:r>
              <a:rPr lang="en-US" altLang="zh-CN" sz="1200" b="0" i="0" kern="1200">
                <a:solidFill>
                  <a:schemeClr val="tx1"/>
                </a:solidFill>
                <a:effectLst/>
                <a:latin typeface="+mn-lt"/>
                <a:ea typeface="+mn-ea"/>
                <a:cs typeface="+mn-cs"/>
              </a:rPr>
              <a:t>LBBD</a:t>
            </a:r>
            <a:r>
              <a:rPr lang="zh-CN" altLang="en-US" sz="1200" b="0" i="0" kern="1200">
                <a:solidFill>
                  <a:schemeClr val="tx1"/>
                </a:solidFill>
                <a:effectLst/>
                <a:latin typeface="+mn-lt"/>
                <a:ea typeface="+mn-ea"/>
                <a:cs typeface="+mn-cs"/>
              </a:rPr>
              <a:t>算法所得解的质量，论文系统性地构建了一系列下界，并最终选取其中较强的几条用于算法和评估 。</a:t>
            </a:r>
            <a:r>
              <a:rPr lang="en-US" altLang="zh-CN" sz="1200" b="0" i="0" kern="1200">
                <a:solidFill>
                  <a:schemeClr val="tx1"/>
                </a:solidFill>
                <a:effectLst/>
                <a:latin typeface="+mn-lt"/>
                <a:ea typeface="+mn-ea"/>
                <a:cs typeface="+mn-cs"/>
              </a:rPr>
              <a:t>LB0</a:t>
            </a:r>
            <a:r>
              <a:rPr lang="zh-CN" altLang="en-US" sz="1200" b="0" i="0" kern="1200">
                <a:solidFill>
                  <a:schemeClr val="tx1"/>
                </a:solidFill>
                <a:effectLst/>
                <a:latin typeface="+mn-lt"/>
                <a:ea typeface="+mn-ea"/>
                <a:cs typeface="+mn-cs"/>
              </a:rPr>
              <a:t>是一个最基础的下界，源自经典的并行机调度问题，</a:t>
            </a:r>
            <a:r>
              <a:rPr lang="en-US" altLang="zh-CN"/>
              <a:t>LB1</a:t>
            </a:r>
            <a:r>
              <a:rPr lang="zh-CN" altLang="en-US"/>
              <a:t>是</a:t>
            </a:r>
            <a:r>
              <a:rPr lang="en-US" altLang="zh-CN"/>
              <a:t>LB0</a:t>
            </a:r>
            <a:r>
              <a:rPr lang="zh-CN" altLang="en-US"/>
              <a:t>的直接改进，它在 </a:t>
            </a:r>
            <a:r>
              <a:rPr lang="en-US" altLang="zh-CN" sz="1200" kern="1200">
                <a:solidFill>
                  <a:schemeClr val="tx1"/>
                </a:solidFill>
                <a:effectLst/>
                <a:latin typeface="+mn-lt"/>
                <a:ea typeface="+mn-ea"/>
                <a:cs typeface="+mn-cs"/>
              </a:rPr>
              <a:t>LB0</a:t>
            </a:r>
            <a:r>
              <a:rPr lang="zh-CN" altLang="en-US"/>
              <a:t>的基础上，考虑了所有作业在所有可能位置上的最小发布时间</a:t>
            </a:r>
            <a:r>
              <a:rPr lang="en-US" altLang="zh-CN"/>
              <a:t>.LB2</a:t>
            </a:r>
            <a:r>
              <a:rPr lang="zh-CN" altLang="en-US" sz="1200" b="0" i="0" kern="1200">
                <a:solidFill>
                  <a:schemeClr val="tx1"/>
                </a:solidFill>
                <a:effectLst/>
                <a:latin typeface="+mn-lt"/>
                <a:ea typeface="+mn-ea"/>
                <a:cs typeface="+mn-cs"/>
              </a:rPr>
              <a:t>是一个更精细的下界，</a:t>
            </a:r>
            <a:r>
              <a:rPr lang="zh-CN" altLang="en-US"/>
              <a:t>它认识到至少有</a:t>
            </a:r>
            <a:r>
              <a:rPr lang="en-US" altLang="zh-CN" sz="1200" kern="1200">
                <a:solidFill>
                  <a:schemeClr val="tx1"/>
                </a:solidFill>
                <a:effectLst/>
                <a:latin typeface="+mn-lt"/>
                <a:ea typeface="+mn-ea"/>
                <a:cs typeface="+mn-cs"/>
              </a:rPr>
              <a:t>g-m</a:t>
            </a:r>
            <a:r>
              <a:rPr lang="zh-CN" altLang="en-US"/>
              <a:t>个作业必须被运输到其他位置进行加工，从而产生不可避免的运输时间。</a:t>
            </a:r>
            <a:r>
              <a:rPr lang="en-US" altLang="zh-CN"/>
              <a:t>LB3</a:t>
            </a:r>
            <a:r>
              <a:rPr lang="zh-CN" altLang="en-US"/>
              <a:t>通过为每个候选位置求解一个松弛的单机调度问题来获得。论文明确指出，</a:t>
            </a:r>
            <a:r>
              <a:rPr lang="en-US" altLang="zh-CN" sz="1200" kern="1200">
                <a:solidFill>
                  <a:schemeClr val="tx1"/>
                </a:solidFill>
                <a:effectLst/>
                <a:latin typeface="+mn-lt"/>
                <a:ea typeface="+mn-ea"/>
                <a:cs typeface="+mn-cs"/>
              </a:rPr>
              <a:t>LB1</a:t>
            </a:r>
            <a:r>
              <a:rPr lang="zh-CN" altLang="en-US"/>
              <a:t>总是大于或等于 </a:t>
            </a:r>
            <a:r>
              <a:rPr lang="en-US" altLang="zh-CN" sz="1200" kern="1200">
                <a:solidFill>
                  <a:schemeClr val="tx1"/>
                </a:solidFill>
                <a:effectLst/>
                <a:latin typeface="+mn-lt"/>
                <a:ea typeface="+mn-ea"/>
                <a:cs typeface="+mn-cs"/>
              </a:rPr>
              <a:t>LB_0</a:t>
            </a:r>
            <a:r>
              <a:rPr lang="zh-CN" altLang="en-US"/>
              <a:t>。因此，在构建最终用于评估和算法的下界时，</a:t>
            </a:r>
            <a:r>
              <a:rPr lang="en-US" altLang="zh-CN" sz="1200" kern="1200">
                <a:solidFill>
                  <a:schemeClr val="tx1"/>
                </a:solidFill>
                <a:effectLst/>
                <a:latin typeface="+mn-lt"/>
                <a:ea typeface="+mn-ea"/>
                <a:cs typeface="+mn-cs"/>
              </a:rPr>
              <a:t>LB_0</a:t>
            </a:r>
            <a:r>
              <a:rPr lang="zh-CN" altLang="en-US"/>
              <a:t> 被 </a:t>
            </a:r>
            <a:r>
              <a:rPr lang="en-US" altLang="zh-CN" sz="1200" kern="1200">
                <a:solidFill>
                  <a:schemeClr val="tx1"/>
                </a:solidFill>
                <a:effectLst/>
                <a:latin typeface="+mn-lt"/>
                <a:ea typeface="+mn-ea"/>
                <a:cs typeface="+mn-cs"/>
              </a:rPr>
              <a:t>LB_1</a:t>
            </a:r>
            <a:r>
              <a:rPr lang="zh-CN" altLang="en-US"/>
              <a:t>自然取代。最终的下界 </a:t>
            </a:r>
            <a:r>
              <a:rPr lang="en-US" altLang="zh-CN" sz="1200" kern="1200">
                <a:solidFill>
                  <a:schemeClr val="tx1"/>
                </a:solidFill>
                <a:effectLst/>
                <a:latin typeface="+mn-lt"/>
                <a:ea typeface="+mn-ea"/>
                <a:cs typeface="+mn-cs"/>
              </a:rPr>
              <a:t>$LB$</a:t>
            </a:r>
            <a:r>
              <a:rPr lang="zh-CN" altLang="en-US"/>
              <a:t> 是由三个更强的下界 </a:t>
            </a:r>
            <a:r>
              <a:rPr lang="en-US" altLang="zh-CN" sz="1200" kern="1200">
                <a:solidFill>
                  <a:schemeClr val="tx1"/>
                </a:solidFill>
                <a:effectLst/>
                <a:latin typeface="+mn-lt"/>
                <a:ea typeface="+mn-ea"/>
                <a:cs typeface="+mn-cs"/>
              </a:rPr>
              <a:t>$LB_1, LB_2, LB_3$</a:t>
            </a:r>
            <a:r>
              <a:rPr lang="zh-CN" altLang="en-US"/>
              <a:t> 中的最大值构成。</a:t>
            </a:r>
          </a:p>
        </p:txBody>
      </p:sp>
      <p:sp>
        <p:nvSpPr>
          <p:cNvPr id="4" name="灯片编号占位符 3"/>
          <p:cNvSpPr>
            <a:spLocks noGrp="1"/>
          </p:cNvSpPr>
          <p:nvPr>
            <p:ph type="sldNum" sz="quarter" idx="5"/>
          </p:nvPr>
        </p:nvSpPr>
        <p:spPr/>
        <p:txBody>
          <a:bodyPr/>
          <a:lstStyle/>
          <a:p>
            <a:fld id="{52A5A1FA-14FB-46D4-B8A3-2C7A85060E48}" type="slidenum">
              <a:rPr lang="zh-CN" altLang="en-US" smtClean="0"/>
              <a:t>9</a:t>
            </a:fld>
            <a:endParaRPr lang="zh-CN" altLang="en-US"/>
          </a:p>
        </p:txBody>
      </p:sp>
    </p:spTree>
    <p:extLst>
      <p:ext uri="{BB962C8B-B14F-4D97-AF65-F5344CB8AC3E}">
        <p14:creationId xmlns:p14="http://schemas.microsoft.com/office/powerpoint/2010/main" val="3492831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a:solidFill>
                  <a:schemeClr val="tx1"/>
                </a:solidFill>
                <a:effectLst/>
                <a:latin typeface="+mn-lt"/>
                <a:ea typeface="+mn-ea"/>
                <a:cs typeface="+mn-cs"/>
              </a:rPr>
              <a:t>本文算法通过将原问题分解为主问题和子问题来求解，其设计精妙地利用了</a:t>
            </a:r>
            <a:r>
              <a:rPr lang="en-US" altLang="zh-CN" sz="1200" b="0" i="0" kern="1200">
                <a:solidFill>
                  <a:schemeClr val="tx1"/>
                </a:solidFill>
                <a:effectLst/>
                <a:latin typeface="+mn-lt"/>
                <a:ea typeface="+mn-ea"/>
                <a:cs typeface="+mn-cs"/>
              </a:rPr>
              <a:t>D-ScheLoc</a:t>
            </a:r>
            <a:r>
              <a:rPr lang="zh-CN" altLang="en-US" sz="1200" b="0" i="0" kern="1200">
                <a:solidFill>
                  <a:schemeClr val="tx1"/>
                </a:solidFill>
                <a:effectLst/>
                <a:latin typeface="+mn-lt"/>
                <a:ea typeface="+mn-ea"/>
                <a:cs typeface="+mn-cs"/>
              </a:rPr>
              <a:t>问题的内在结构。 首先，进行初始化，</a:t>
            </a:r>
            <a:r>
              <a:rPr lang="zh-CN" altLang="en-US"/>
              <a:t>为算法提供一个高质量的初始上界</a:t>
            </a:r>
            <a:r>
              <a:rPr lang="en-US" altLang="zh-CN"/>
              <a:t>U</a:t>
            </a:r>
            <a:r>
              <a:rPr lang="zh-CN" altLang="en-US"/>
              <a:t>和一个可行的初始解。本文使用一个专门设计的</a:t>
            </a:r>
            <a:r>
              <a:rPr lang="zh-CN" altLang="en-US" sz="1200" b="1" kern="1200">
                <a:solidFill>
                  <a:schemeClr val="tx1"/>
                </a:solidFill>
                <a:effectLst/>
                <a:latin typeface="+mn-lt"/>
                <a:ea typeface="+mn-ea"/>
                <a:cs typeface="+mn-cs"/>
              </a:rPr>
              <a:t>两阶段启发式算法 </a:t>
            </a:r>
            <a:r>
              <a:rPr lang="zh-CN" altLang="en-US"/>
              <a:t> 来计算初始上界</a:t>
            </a:r>
            <a:r>
              <a:rPr lang="en-US" altLang="zh-CN" sz="1200" kern="1200">
                <a:solidFill>
                  <a:schemeClr val="tx1"/>
                </a:solidFill>
                <a:effectLst/>
                <a:latin typeface="+mn-lt"/>
                <a:ea typeface="+mn-ea"/>
                <a:cs typeface="+mn-cs"/>
              </a:rPr>
              <a:t>U</a:t>
            </a:r>
            <a:r>
              <a:rPr lang="zh-CN" altLang="en-US"/>
              <a:t>。该算法后续会详细讲解。最终得到一个初始上界</a:t>
            </a:r>
            <a:r>
              <a:rPr lang="en-US" altLang="zh-CN"/>
              <a:t>U</a:t>
            </a:r>
            <a:r>
              <a:rPr lang="zh-CN" altLang="en-US"/>
              <a:t>和一个对应的可行解，该解可作为求解器的热启动方案。同时，初始化迭代计数器</a:t>
            </a:r>
            <a:r>
              <a:rPr lang="en-US" altLang="zh-CN" sz="1200" kern="1200">
                <a:solidFill>
                  <a:schemeClr val="tx1"/>
                </a:solidFill>
                <a:effectLst/>
                <a:latin typeface="+mn-lt"/>
                <a:ea typeface="+mn-ea"/>
                <a:cs typeface="+mn-cs"/>
              </a:rPr>
              <a:t>s=0</a:t>
            </a:r>
            <a:r>
              <a:rPr lang="zh-CN" altLang="en-US"/>
              <a:t>和一个空的割池。接下来，进行主问题的求解。求解一个松弛的主问题，以确定机器的选址方案 和作业的分配方案。采用</a:t>
            </a:r>
            <a:r>
              <a:rPr lang="zh-CN" altLang="en-US" sz="1200" b="1" kern="1200">
                <a:solidFill>
                  <a:schemeClr val="tx1"/>
                </a:solidFill>
                <a:effectLst/>
                <a:latin typeface="+mn-lt"/>
                <a:ea typeface="+mn-ea"/>
                <a:cs typeface="+mn-cs"/>
              </a:rPr>
              <a:t>分支定界 </a:t>
            </a:r>
            <a:r>
              <a:rPr lang="en-US" altLang="zh-CN" sz="1200" b="1" kern="1200">
                <a:solidFill>
                  <a:schemeClr val="tx1"/>
                </a:solidFill>
                <a:effectLst/>
                <a:latin typeface="+mn-lt"/>
                <a:ea typeface="+mn-ea"/>
                <a:cs typeface="+mn-cs"/>
              </a:rPr>
              <a:t>(Branch-and-Cut, B&amp;C)</a:t>
            </a:r>
            <a:r>
              <a:rPr lang="zh-CN" altLang="en-US"/>
              <a:t> 算法</a:t>
            </a:r>
            <a:r>
              <a:rPr lang="zh-CN" altLang="en-US" sz="1200" b="0" i="0" kern="1200">
                <a:solidFill>
                  <a:schemeClr val="tx1"/>
                </a:solidFill>
                <a:effectLst/>
                <a:latin typeface="+mn-lt"/>
                <a:ea typeface="+mn-ea"/>
                <a:cs typeface="+mn-cs"/>
              </a:rPr>
              <a:t>。随后，进行子问题求解和上界更新：对于主问题给出的每一个整数可行解，计算其精确的</a:t>
            </a:r>
            <a:r>
              <a:rPr lang="en-US" altLang="zh-CN" sz="1200" b="0" i="0" kern="1200">
                <a:solidFill>
                  <a:schemeClr val="tx1"/>
                </a:solidFill>
                <a:effectLst/>
                <a:latin typeface="+mn-lt"/>
                <a:ea typeface="+mn-ea"/>
                <a:cs typeface="+mn-cs"/>
              </a:rPr>
              <a:t>makespan</a:t>
            </a:r>
            <a:r>
              <a:rPr lang="zh-CN" altLang="en-US" sz="1200" b="0" i="0" kern="1200">
                <a:solidFill>
                  <a:schemeClr val="tx1"/>
                </a:solidFill>
                <a:effectLst/>
                <a:latin typeface="+mn-lt"/>
                <a:ea typeface="+mn-ea"/>
                <a:cs typeface="+mn-cs"/>
              </a:rPr>
              <a:t>，并更新全局最优上界。这里我们应用了一个</a:t>
            </a:r>
            <a:r>
              <a:rPr lang="en-US" altLang="zh-CN" sz="1200" b="0" i="0" kern="1200">
                <a:solidFill>
                  <a:schemeClr val="tx1"/>
                </a:solidFill>
                <a:effectLst/>
                <a:latin typeface="+mn-lt"/>
                <a:ea typeface="+mn-ea"/>
                <a:cs typeface="+mn-cs"/>
              </a:rPr>
              <a:t>ERD</a:t>
            </a:r>
            <a:r>
              <a:rPr lang="zh-CN" altLang="en-US" sz="1200" b="0" i="0" kern="1200">
                <a:solidFill>
                  <a:schemeClr val="tx1"/>
                </a:solidFill>
                <a:effectLst/>
                <a:latin typeface="+mn-lt"/>
                <a:ea typeface="+mn-ea"/>
                <a:cs typeface="+mn-cs"/>
              </a:rPr>
              <a:t>规则，后续会详细介绍。最终</a:t>
            </a:r>
            <a:r>
              <a:rPr lang="zh-CN" altLang="en-US"/>
              <a:t>得到当前解的精确</a:t>
            </a:r>
            <a:r>
              <a:rPr lang="en-US" altLang="zh-CN"/>
              <a:t>makespan</a:t>
            </a:r>
            <a:r>
              <a:rPr lang="zh-CN" altLang="en-US"/>
              <a:t>。如果该值小于当前的全局最优上界</a:t>
            </a:r>
            <a:r>
              <a:rPr lang="en-US" altLang="zh-CN" sz="1200" kern="1200">
                <a:solidFill>
                  <a:schemeClr val="tx1"/>
                </a:solidFill>
                <a:effectLst/>
                <a:latin typeface="+mn-lt"/>
                <a:ea typeface="+mn-ea"/>
                <a:cs typeface="+mn-cs"/>
              </a:rPr>
              <a:t>U</a:t>
            </a:r>
            <a:r>
              <a:rPr lang="zh-CN" altLang="en-US"/>
              <a:t>，则更新</a:t>
            </a:r>
            <a:r>
              <a:rPr lang="en-US" altLang="zh-CN" sz="1200" kern="1200">
                <a:solidFill>
                  <a:schemeClr val="tx1"/>
                </a:solidFill>
                <a:effectLst/>
                <a:latin typeface="+mn-lt"/>
                <a:ea typeface="+mn-ea"/>
                <a:cs typeface="+mn-cs"/>
              </a:rPr>
              <a:t>U</a:t>
            </a:r>
            <a:r>
              <a:rPr lang="zh-CN" altLang="en-US"/>
              <a:t>为该值，并存储当前解为最优解。随后，进行割平面的生成与添加：</a:t>
            </a:r>
            <a:r>
              <a:rPr lang="zh-CN" altLang="en-US" sz="1200" b="0" i="0" kern="1200">
                <a:solidFill>
                  <a:schemeClr val="tx1"/>
                </a:solidFill>
                <a:effectLst/>
                <a:latin typeface="+mn-lt"/>
                <a:ea typeface="+mn-ea"/>
                <a:cs typeface="+mn-cs"/>
              </a:rPr>
              <a:t>基于子问题的求解结果，生成一个或多个</a:t>
            </a:r>
            <a:r>
              <a:rPr lang="en-US" altLang="zh-CN" sz="1200" b="0" i="0" kern="1200">
                <a:solidFill>
                  <a:schemeClr val="tx1"/>
                </a:solidFill>
                <a:effectLst/>
                <a:latin typeface="+mn-lt"/>
                <a:ea typeface="+mn-ea"/>
                <a:cs typeface="+mn-cs"/>
              </a:rPr>
              <a:t>Benders</a:t>
            </a:r>
            <a:r>
              <a:rPr lang="zh-CN" altLang="en-US" sz="1200" b="0" i="0" kern="1200">
                <a:solidFill>
                  <a:schemeClr val="tx1"/>
                </a:solidFill>
                <a:effectLst/>
                <a:latin typeface="+mn-lt"/>
                <a:ea typeface="+mn-ea"/>
                <a:cs typeface="+mn-cs"/>
              </a:rPr>
              <a:t>割，用于切除当前解以及其他类似的解空间。具体的割随后介绍：生成的新割被添加到主问题的割池 </a:t>
            </a:r>
            <a:r>
              <a:rPr lang="en-US" altLang="zh-CN" sz="1200" b="0" i="0" kern="1200">
                <a:solidFill>
                  <a:schemeClr val="tx1"/>
                </a:solidFill>
                <a:effectLst/>
                <a:latin typeface="+mn-lt"/>
                <a:ea typeface="+mn-ea"/>
                <a:cs typeface="+mn-cs"/>
              </a:rPr>
              <a:t>CUTS</a:t>
            </a:r>
            <a:r>
              <a:rPr lang="zh-CN" altLang="en-US" sz="1200" b="0" i="0" kern="1200">
                <a:solidFill>
                  <a:schemeClr val="tx1"/>
                </a:solidFill>
                <a:effectLst/>
                <a:latin typeface="+mn-lt"/>
                <a:ea typeface="+mn-ea"/>
                <a:cs typeface="+mn-cs"/>
              </a:rPr>
              <a:t> 中。这些割会应用于</a:t>
            </a:r>
            <a:r>
              <a:rPr lang="en-US" altLang="zh-CN" sz="1200" b="0" i="0" kern="1200">
                <a:solidFill>
                  <a:schemeClr val="tx1"/>
                </a:solidFill>
                <a:effectLst/>
                <a:latin typeface="+mn-lt"/>
                <a:ea typeface="+mn-ea"/>
                <a:cs typeface="+mn-cs"/>
              </a:rPr>
              <a:t>B&amp;C</a:t>
            </a:r>
            <a:r>
              <a:rPr lang="zh-CN" altLang="en-US" sz="1200" b="0" i="0" kern="1200">
                <a:solidFill>
                  <a:schemeClr val="tx1"/>
                </a:solidFill>
                <a:effectLst/>
                <a:latin typeface="+mn-lt"/>
                <a:ea typeface="+mn-ea"/>
                <a:cs typeface="+mn-cs"/>
              </a:rPr>
              <a:t>搜索树的所有节点，从而收紧主问题的可行域。最后判断是否收敛，也就是看看最优解的上下界之差小于一个容差。收敛则终止，否则回到第二步。</a:t>
            </a:r>
          </a:p>
          <a:p>
            <a:br>
              <a:rPr lang="zh-CN" altLang="en-US"/>
            </a:br>
            <a:br>
              <a:rPr lang="zh-CN" altLang="en-US" sz="1200" b="0" i="0" u="none" strike="noStrike" kern="1200">
                <a:solidFill>
                  <a:schemeClr val="tx1"/>
                </a:solidFill>
                <a:effectLst/>
                <a:latin typeface="+mn-lt"/>
                <a:ea typeface="+mn-ea"/>
                <a:cs typeface="+mn-cs"/>
              </a:rPr>
            </a:br>
            <a:endParaRPr lang="zh-CN" altLang="en-US" sz="1200" b="0" i="0" u="none" strike="noStrike"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lang="zh-CN" altLang="en-US" sz="1200" b="0" i="0" u="none" strike="noStrike" kern="1200">
                <a:solidFill>
                  <a:schemeClr val="tx1"/>
                </a:solidFill>
                <a:effectLst/>
                <a:latin typeface="+mn-lt"/>
                <a:ea typeface="+mn-ea"/>
                <a:cs typeface="+mn-cs"/>
              </a:rPr>
            </a:br>
            <a:endParaRPr lang="zh-CN" altLang="en-US" sz="1200" b="0" i="0" u="none" strike="noStrike" kern="1200">
              <a:solidFill>
                <a:schemeClr val="tx1"/>
              </a:solidFill>
              <a:effectLst/>
              <a:latin typeface="+mn-lt"/>
              <a:ea typeface="+mn-ea"/>
              <a:cs typeface="+mn-cs"/>
            </a:endParaRPr>
          </a:p>
          <a:p>
            <a:pPr rtl="0"/>
            <a:br>
              <a:rPr lang="zh-CN" altLang="en-US" sz="1200" b="0" i="0" u="none" strike="noStrike" kern="1200">
                <a:solidFill>
                  <a:schemeClr val="tx1"/>
                </a:solidFill>
                <a:effectLst/>
                <a:latin typeface="+mn-lt"/>
                <a:ea typeface="+mn-ea"/>
                <a:cs typeface="+mn-cs"/>
              </a:rPr>
            </a:br>
            <a:endParaRPr lang="zh-CN" altLang="en-US" b="0">
              <a:effectLst/>
            </a:endParaRPr>
          </a:p>
        </p:txBody>
      </p:sp>
      <p:sp>
        <p:nvSpPr>
          <p:cNvPr id="4" name="灯片编号占位符 3"/>
          <p:cNvSpPr>
            <a:spLocks noGrp="1"/>
          </p:cNvSpPr>
          <p:nvPr>
            <p:ph type="sldNum" sz="quarter" idx="5"/>
          </p:nvPr>
        </p:nvSpPr>
        <p:spPr/>
        <p:txBody>
          <a:bodyPr/>
          <a:lstStyle/>
          <a:p>
            <a:fld id="{52A5A1FA-14FB-46D4-B8A3-2C7A85060E48}" type="slidenum">
              <a:rPr lang="zh-CN" altLang="en-US" smtClean="0"/>
              <a:t>10</a:t>
            </a:fld>
            <a:endParaRPr lang="zh-CN" altLang="en-US"/>
          </a:p>
        </p:txBody>
      </p:sp>
    </p:spTree>
    <p:extLst>
      <p:ext uri="{BB962C8B-B14F-4D97-AF65-F5344CB8AC3E}">
        <p14:creationId xmlns:p14="http://schemas.microsoft.com/office/powerpoint/2010/main" val="23371867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接下来我们细致讲解以下初始化阶段所应用的两阶段启发式算法。</a:t>
            </a:r>
            <a:r>
              <a:rPr lang="zh-CN" altLang="en-US" sz="1200" b="0" i="0" u="none" strike="noStrike" kern="1200">
                <a:solidFill>
                  <a:schemeClr val="tx1"/>
                </a:solidFill>
                <a:effectLst/>
                <a:latin typeface="+mn-lt"/>
                <a:ea typeface="+mn-ea"/>
                <a:cs typeface="+mn-cs"/>
              </a:rPr>
              <a:t>第一阶段的目标是做出选址和分配的决策。该阶段将问题简化为一个类似于</a:t>
            </a:r>
            <a:r>
              <a:rPr lang="en-US" altLang="zh-CN" sz="1200" b="0" i="0" u="none" strike="noStrike" kern="1200">
                <a:solidFill>
                  <a:schemeClr val="tx1"/>
                </a:solidFill>
                <a:effectLst/>
                <a:latin typeface="+mn-lt"/>
                <a:ea typeface="+mn-ea"/>
                <a:cs typeface="+mn-cs"/>
              </a:rPr>
              <a:t>P-</a:t>
            </a:r>
            <a:r>
              <a:rPr lang="zh-CN" altLang="en-US" sz="1200" b="0" i="0" u="none" strike="noStrike" kern="1200">
                <a:solidFill>
                  <a:schemeClr val="tx1"/>
                </a:solidFill>
                <a:effectLst/>
                <a:latin typeface="+mn-lt"/>
                <a:ea typeface="+mn-ea"/>
                <a:cs typeface="+mn-cs"/>
              </a:rPr>
              <a:t>中值问题的设施选址模型。其核心思想是，将作业分配给较近的机器，减少因运输而导致的释放延迟，从而降低机器的初始空闲时间。此外，为了避免将过多作业分配给少数几个“中心”位置，模型还引入了负载平衡约束</a:t>
            </a:r>
            <a:r>
              <a:rPr lang="en-US" altLang="zh-CN" sz="1200" b="0" i="0" u="none" strike="noStrike" kern="1200">
                <a:solidFill>
                  <a:schemeClr val="tx1"/>
                </a:solidFill>
                <a:effectLst/>
                <a:latin typeface="+mn-lt"/>
                <a:ea typeface="+mn-ea"/>
                <a:cs typeface="+mn-cs"/>
              </a:rPr>
              <a:t>96</a:t>
            </a:r>
            <a:r>
              <a:rPr lang="zh-CN" altLang="en-US" sz="1200" b="0" i="0" u="none" strike="noStrike" kern="1200">
                <a:solidFill>
                  <a:schemeClr val="tx1"/>
                </a:solidFill>
                <a:effectLst/>
                <a:latin typeface="+mn-lt"/>
                <a:ea typeface="+mn-ea"/>
                <a:cs typeface="+mn-cs"/>
              </a:rPr>
              <a:t>），这里不做详细解释。第二阶段在第一阶段确定了机器的位置之后，原问题就退化为一个纯粹的调度问题：在给定的位置上，对已分配的作业进行排序，以最小化全局</a:t>
            </a:r>
            <a:r>
              <a:rPr lang="en-US" altLang="zh-CN" sz="1200" b="0" i="0" u="none" strike="noStrike" kern="1200">
                <a:solidFill>
                  <a:schemeClr val="tx1"/>
                </a:solidFill>
                <a:effectLst/>
                <a:latin typeface="+mn-lt"/>
                <a:ea typeface="+mn-ea"/>
                <a:cs typeface="+mn-cs"/>
              </a:rPr>
              <a:t>C{max}</a:t>
            </a:r>
            <a:r>
              <a:rPr lang="zh-CN" altLang="en-US" sz="1200" b="0" i="0" u="none" strike="noStrike" kern="1200">
                <a:solidFill>
                  <a:schemeClr val="tx1"/>
                </a:solidFill>
                <a:effectLst/>
                <a:latin typeface="+mn-lt"/>
                <a:ea typeface="+mn-ea"/>
                <a:cs typeface="+mn-cs"/>
              </a:rPr>
              <a:t>。这个问题属于</a:t>
            </a:r>
            <a:r>
              <a:rPr lang="en-US" altLang="zh-CN" sz="1200" b="0" i="0" u="none" strike="noStrike" kern="1200">
                <a:solidFill>
                  <a:schemeClr val="tx1"/>
                </a:solidFill>
                <a:effectLst/>
                <a:latin typeface="+mn-lt"/>
                <a:ea typeface="+mn-ea"/>
                <a:cs typeface="+mn-cs"/>
              </a:rPr>
              <a:t>NP</a:t>
            </a:r>
            <a:r>
              <a:rPr lang="zh-CN" altLang="en-US" sz="1200" b="0" i="0" u="none" strike="noStrike" kern="1200">
                <a:solidFill>
                  <a:schemeClr val="tx1"/>
                </a:solidFill>
                <a:effectLst/>
                <a:latin typeface="+mn-lt"/>
                <a:ea typeface="+mn-ea"/>
                <a:cs typeface="+mn-cs"/>
              </a:rPr>
              <a:t>难问题。为此，论文提出了一种快速的启发式算法来求解。该算法包括两个步骤：</a:t>
            </a:r>
            <a:r>
              <a:rPr lang="en-US" altLang="zh-CN" sz="1200" b="0" i="0" u="none" strike="noStrike" kern="1200">
                <a:solidFill>
                  <a:schemeClr val="tx1"/>
                </a:solidFill>
                <a:effectLst/>
                <a:latin typeface="+mn-lt"/>
                <a:ea typeface="+mn-ea"/>
                <a:cs typeface="+mn-cs"/>
              </a:rPr>
              <a:t>1.</a:t>
            </a:r>
            <a:r>
              <a:rPr lang="zh-CN" altLang="en-US" sz="1200" b="0" i="0" u="none" strike="noStrike" kern="1200">
                <a:solidFill>
                  <a:schemeClr val="tx1"/>
                </a:solidFill>
                <a:effectLst/>
                <a:latin typeface="+mn-lt"/>
                <a:ea typeface="+mn-ea"/>
                <a:cs typeface="+mn-cs"/>
              </a:rPr>
              <a:t>构造性分配：</a:t>
            </a:r>
            <a:r>
              <a:rPr lang="zh-CN" altLang="en-US" sz="1200" b="0" i="0" kern="1200">
                <a:solidFill>
                  <a:schemeClr val="tx1"/>
                </a:solidFill>
                <a:effectLst/>
                <a:latin typeface="+mn-lt"/>
                <a:ea typeface="+mn-ea"/>
                <a:cs typeface="+mn-cs"/>
              </a:rPr>
              <a:t>采用一种派工法则，迭代地选择当前</a:t>
            </a:r>
            <a:r>
              <a:rPr lang="en-US" altLang="zh-CN" sz="1200" b="0" i="0" kern="1200">
                <a:solidFill>
                  <a:schemeClr val="tx1"/>
                </a:solidFill>
                <a:effectLst/>
                <a:latin typeface="+mn-lt"/>
                <a:ea typeface="+mn-ea"/>
                <a:cs typeface="+mn-cs"/>
              </a:rPr>
              <a:t>makespan</a:t>
            </a:r>
            <a:r>
              <a:rPr lang="zh-CN" altLang="en-US" sz="1200" b="0" i="0" kern="1200">
                <a:solidFill>
                  <a:schemeClr val="tx1"/>
                </a:solidFill>
                <a:effectLst/>
                <a:latin typeface="+mn-lt"/>
                <a:ea typeface="+mn-ea"/>
                <a:cs typeface="+mn-cs"/>
              </a:rPr>
              <a:t>最小的机器，并从可开始加工的作业中选择一个能使该机器新</a:t>
            </a:r>
            <a:r>
              <a:rPr lang="en-US" altLang="zh-CN" sz="1200" b="0" i="0" kern="1200">
                <a:solidFill>
                  <a:schemeClr val="tx1"/>
                </a:solidFill>
                <a:effectLst/>
                <a:latin typeface="+mn-lt"/>
                <a:ea typeface="+mn-ea"/>
                <a:cs typeface="+mn-cs"/>
              </a:rPr>
              <a:t>makespan</a:t>
            </a:r>
            <a:r>
              <a:rPr lang="zh-CN" altLang="en-US" sz="1200" b="0" i="0" kern="1200">
                <a:solidFill>
                  <a:schemeClr val="tx1"/>
                </a:solidFill>
                <a:effectLst/>
                <a:latin typeface="+mn-lt"/>
                <a:ea typeface="+mn-ea"/>
                <a:cs typeface="+mn-cs"/>
              </a:rPr>
              <a:t>增量最小的作业进行分配 。</a:t>
            </a:r>
            <a:r>
              <a:rPr lang="en-US" altLang="zh-CN" sz="1200" b="0" i="0" kern="1200">
                <a:solidFill>
                  <a:schemeClr val="tx1"/>
                </a:solidFill>
                <a:effectLst/>
                <a:latin typeface="+mn-lt"/>
                <a:ea typeface="+mn-ea"/>
                <a:cs typeface="+mn-cs"/>
              </a:rPr>
              <a:t>2.</a:t>
            </a:r>
            <a:r>
              <a:rPr lang="zh-CN" altLang="en-US" sz="1200" b="1" i="0" kern="1200">
                <a:solidFill>
                  <a:schemeClr val="tx1"/>
                </a:solidFill>
                <a:effectLst/>
                <a:latin typeface="+mn-lt"/>
                <a:ea typeface="+mn-ea"/>
                <a:cs typeface="+mn-cs"/>
              </a:rPr>
              <a:t>局部搜索改进</a:t>
            </a:r>
            <a:r>
              <a:rPr lang="en-US" altLang="zh-CN" sz="1200" b="0" i="0" kern="1200">
                <a:solidFill>
                  <a:schemeClr val="tx1"/>
                </a:solidFill>
                <a:effectLst/>
                <a:latin typeface="+mn-lt"/>
                <a:ea typeface="+mn-ea"/>
                <a:cs typeface="+mn-cs"/>
              </a:rPr>
              <a:t>: </a:t>
            </a:r>
            <a:r>
              <a:rPr lang="zh-CN" altLang="en-US" sz="1200" b="0" i="0" kern="1200">
                <a:solidFill>
                  <a:schemeClr val="tx1"/>
                </a:solidFill>
                <a:effectLst/>
                <a:latin typeface="+mn-lt"/>
                <a:ea typeface="+mn-ea"/>
                <a:cs typeface="+mn-cs"/>
              </a:rPr>
              <a:t>识别出导致全局</a:t>
            </a:r>
            <a:r>
              <a:rPr lang="en-US" altLang="zh-CN" sz="1200" b="0" i="0" kern="1200">
                <a:solidFill>
                  <a:schemeClr val="tx1"/>
                </a:solidFill>
                <a:effectLst/>
                <a:latin typeface="+mn-lt"/>
                <a:ea typeface="+mn-ea"/>
                <a:cs typeface="+mn-cs"/>
              </a:rPr>
              <a:t>makespan</a:t>
            </a:r>
            <a:r>
              <a:rPr lang="zh-CN" altLang="en-US" sz="1200" b="0" i="0" kern="1200">
                <a:solidFill>
                  <a:schemeClr val="tx1"/>
                </a:solidFill>
                <a:effectLst/>
                <a:latin typeface="+mn-lt"/>
                <a:ea typeface="+mn-ea"/>
                <a:cs typeface="+mn-cs"/>
              </a:rPr>
              <a:t>的“瓶颈”机器，并尝试将其上的每个作业重新分配到其他非瓶颈机器上，只要这种移动能够降低全局</a:t>
            </a:r>
            <a:r>
              <a:rPr lang="en-US" altLang="zh-CN" sz="1200" b="0" i="0" kern="1200">
                <a:solidFill>
                  <a:schemeClr val="tx1"/>
                </a:solidFill>
                <a:effectLst/>
                <a:latin typeface="+mn-lt"/>
                <a:ea typeface="+mn-ea"/>
                <a:cs typeface="+mn-cs"/>
              </a:rPr>
              <a:t>makespan</a:t>
            </a:r>
            <a:r>
              <a:rPr lang="zh-CN" altLang="en-US" sz="1200" b="0" i="0" kern="1200">
                <a:solidFill>
                  <a:schemeClr val="tx1"/>
                </a:solidFill>
                <a:effectLst/>
                <a:latin typeface="+mn-lt"/>
                <a:ea typeface="+mn-ea"/>
                <a:cs typeface="+mn-cs"/>
              </a:rPr>
              <a:t>，就执行该移动。此过程重复进行，直至无法改进 。</a:t>
            </a:r>
            <a:r>
              <a:rPr lang="zh-CN" altLang="en-US">
                <a:effectLst/>
              </a:rPr>
              <a:t> </a:t>
            </a:r>
            <a:endParaRPr lang="zh-CN" altLang="en-US" sz="1200" b="0" i="0" u="none" strike="noStrike" kern="1200">
              <a:solidFill>
                <a:schemeClr val="tx1"/>
              </a:solidFill>
              <a:effectLst/>
              <a:latin typeface="+mn-lt"/>
              <a:ea typeface="+mn-ea"/>
              <a:cs typeface="+mn-cs"/>
            </a:endParaRPr>
          </a:p>
          <a:p>
            <a:endParaRPr lang="zh-CN" altLang="en-US"/>
          </a:p>
        </p:txBody>
      </p:sp>
      <p:sp>
        <p:nvSpPr>
          <p:cNvPr id="4" name="灯片编号占位符 3"/>
          <p:cNvSpPr>
            <a:spLocks noGrp="1"/>
          </p:cNvSpPr>
          <p:nvPr>
            <p:ph type="sldNum" sz="quarter" idx="5"/>
          </p:nvPr>
        </p:nvSpPr>
        <p:spPr/>
        <p:txBody>
          <a:bodyPr/>
          <a:lstStyle/>
          <a:p>
            <a:fld id="{52A5A1FA-14FB-46D4-B8A3-2C7A85060E48}" type="slidenum">
              <a:rPr lang="zh-CN" altLang="en-US" smtClean="0"/>
              <a:t>11</a:t>
            </a:fld>
            <a:endParaRPr lang="zh-CN" altLang="en-US"/>
          </a:p>
        </p:txBody>
      </p:sp>
    </p:spTree>
    <p:extLst>
      <p:ext uri="{BB962C8B-B14F-4D97-AF65-F5344CB8AC3E}">
        <p14:creationId xmlns:p14="http://schemas.microsoft.com/office/powerpoint/2010/main" val="24578810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lang="zh-CN" altLang="en-US" sz="1200" b="0" i="0" kern="1200">
                <a:solidFill>
                  <a:schemeClr val="tx1"/>
                </a:solidFill>
                <a:effectLst/>
                <a:latin typeface="+mn-lt"/>
                <a:ea typeface="+mn-ea"/>
                <a:cs typeface="+mn-cs"/>
              </a:rPr>
              <a:t>主问题的目标是确定机器的位置和作业的分配，同时通过</a:t>
            </a:r>
            <a:r>
              <a:rPr lang="en-US" altLang="zh-CN" sz="1200" b="0" i="0" kern="1200">
                <a:solidFill>
                  <a:schemeClr val="tx1"/>
                </a:solidFill>
                <a:effectLst/>
                <a:latin typeface="+mn-lt"/>
                <a:ea typeface="+mn-ea"/>
                <a:cs typeface="+mn-cs"/>
              </a:rPr>
              <a:t>Benders</a:t>
            </a:r>
            <a:r>
              <a:rPr lang="zh-CN" altLang="en-US" sz="1200" b="0" i="0" kern="1200">
                <a:solidFill>
                  <a:schemeClr val="tx1"/>
                </a:solidFill>
                <a:effectLst/>
                <a:latin typeface="+mn-lt"/>
                <a:ea typeface="+mn-ea"/>
                <a:cs typeface="+mn-cs"/>
              </a:rPr>
              <a:t>割来近似子问题的成本影响。其数学模型</a:t>
            </a:r>
            <a:r>
              <a:rPr lang="en-US" altLang="zh-CN" sz="1200" b="0" i="0" kern="1200">
                <a:solidFill>
                  <a:schemeClr val="tx1"/>
                </a:solidFill>
                <a:effectLst/>
                <a:latin typeface="+mn-lt"/>
                <a:ea typeface="+mn-ea"/>
                <a:cs typeface="+mn-cs"/>
              </a:rPr>
              <a:t>70-73</a:t>
            </a:r>
            <a:r>
              <a:rPr lang="zh-CN" altLang="en-US" sz="1200" b="0" i="0" kern="1200">
                <a:solidFill>
                  <a:schemeClr val="tx1"/>
                </a:solidFill>
                <a:effectLst/>
                <a:latin typeface="+mn-lt"/>
                <a:ea typeface="+mn-ea"/>
                <a:cs typeface="+mn-cs"/>
              </a:rPr>
              <a:t>被构建为一个混合整数线性规划 。其中我要展开讲一下第</a:t>
            </a:r>
            <a:r>
              <a:rPr lang="en-US" altLang="zh-CN" sz="1200" b="0" i="0" kern="1200">
                <a:solidFill>
                  <a:schemeClr val="tx1"/>
                </a:solidFill>
                <a:effectLst/>
                <a:latin typeface="+mn-lt"/>
                <a:ea typeface="+mn-ea"/>
                <a:cs typeface="+mn-cs"/>
              </a:rPr>
              <a:t>73</a:t>
            </a:r>
            <a:r>
              <a:rPr lang="zh-CN" altLang="en-US" sz="1200" b="0" i="0" kern="1200">
                <a:solidFill>
                  <a:schemeClr val="tx1"/>
                </a:solidFill>
                <a:effectLst/>
                <a:latin typeface="+mn-lt"/>
                <a:ea typeface="+mn-ea"/>
                <a:cs typeface="+mn-cs"/>
              </a:rPr>
              <a:t>条约束，</a:t>
            </a:r>
            <a:r>
              <a:rPr lang="zh-CN" altLang="en-US" sz="1200" b="0" i="0" u="none" strike="noStrike" kern="1200">
                <a:solidFill>
                  <a:schemeClr val="tx1"/>
                </a:solidFill>
                <a:effectLst/>
                <a:latin typeface="+mn-lt"/>
                <a:ea typeface="+mn-ea"/>
                <a:cs typeface="+mn-cs"/>
              </a:rPr>
              <a:t>这并非一个具体的约束，而是代表一个动态更新的约束集合。在算法的迭代过程中，所有通过求解子问题生成的组合</a:t>
            </a:r>
            <a:r>
              <a:rPr lang="en-US" altLang="zh-CN" sz="1200" b="0" i="0" u="none" strike="noStrike" kern="1200">
                <a:solidFill>
                  <a:schemeClr val="tx1"/>
                </a:solidFill>
                <a:effectLst/>
                <a:latin typeface="+mn-lt"/>
                <a:ea typeface="+mn-ea"/>
                <a:cs typeface="+mn-cs"/>
              </a:rPr>
              <a:t>Benders</a:t>
            </a:r>
            <a:r>
              <a:rPr lang="zh-CN" altLang="en-US" sz="1200" b="0" i="0" u="none" strike="noStrike" kern="1200">
                <a:solidFill>
                  <a:schemeClr val="tx1"/>
                </a:solidFill>
                <a:effectLst/>
                <a:latin typeface="+mn-lt"/>
                <a:ea typeface="+mn-ea"/>
                <a:cs typeface="+mn-cs"/>
              </a:rPr>
              <a:t>割和最优性割都会被添加到这个集合中，不断地丰富和精确化主问题对子问题成本的描述 。</a:t>
            </a:r>
            <a:r>
              <a:rPr lang="zh-CN" altLang="en-US" sz="1200" b="0" i="0" kern="1200">
                <a:solidFill>
                  <a:schemeClr val="tx1"/>
                </a:solidFill>
                <a:effectLst/>
                <a:latin typeface="+mn-lt"/>
                <a:ea typeface="+mn-ea"/>
                <a:cs typeface="+mn-cs"/>
              </a:rPr>
              <a:t>子问题中，对于主问题给出的每一个整数可行解，计算其精确的</a:t>
            </a:r>
            <a:r>
              <a:rPr lang="en-US" altLang="zh-CN" sz="1200" b="0" i="0" kern="1200">
                <a:solidFill>
                  <a:schemeClr val="tx1"/>
                </a:solidFill>
                <a:effectLst/>
                <a:latin typeface="+mn-lt"/>
                <a:ea typeface="+mn-ea"/>
                <a:cs typeface="+mn-cs"/>
              </a:rPr>
              <a:t>makespan</a:t>
            </a:r>
            <a:r>
              <a:rPr lang="zh-CN" altLang="en-US" sz="1200" b="0" i="0" kern="1200">
                <a:solidFill>
                  <a:schemeClr val="tx1"/>
                </a:solidFill>
                <a:effectLst/>
                <a:latin typeface="+mn-lt"/>
                <a:ea typeface="+mn-ea"/>
                <a:cs typeface="+mn-cs"/>
              </a:rPr>
              <a:t>，并更新全局最优上界。</a:t>
            </a:r>
            <a:r>
              <a:rPr lang="zh-CN" altLang="en-US" sz="1200" b="0" i="0" u="none" strike="noStrike" kern="1200">
                <a:solidFill>
                  <a:schemeClr val="tx1"/>
                </a:solidFill>
                <a:effectLst/>
                <a:latin typeface="+mn-lt"/>
                <a:ea typeface="+mn-ea"/>
                <a:cs typeface="+mn-cs"/>
              </a:rPr>
              <a:t>该子问题精确地对应于经典的单机带释放时间调度问题。如前所述，该子问题可以通过</a:t>
            </a:r>
            <a:r>
              <a:rPr lang="en-US" altLang="zh-CN" sz="1200" b="0" i="0" u="none" strike="noStrike" kern="1200">
                <a:solidFill>
                  <a:schemeClr val="tx1"/>
                </a:solidFill>
                <a:effectLst/>
                <a:latin typeface="+mn-lt"/>
                <a:ea typeface="+mn-ea"/>
                <a:cs typeface="+mn-cs"/>
              </a:rPr>
              <a:t>ERD</a:t>
            </a:r>
            <a:r>
              <a:rPr lang="zh-CN" altLang="en-US" sz="1200" b="0" i="0" u="none" strike="noStrike" kern="1200">
                <a:solidFill>
                  <a:schemeClr val="tx1"/>
                </a:solidFill>
                <a:effectLst/>
                <a:latin typeface="+mn-lt"/>
                <a:ea typeface="+mn-ea"/>
                <a:cs typeface="+mn-cs"/>
              </a:rPr>
              <a:t>规则在多项式时间内求得最优解。论文详细描述了这一过程 </a:t>
            </a:r>
            <a:r>
              <a:rPr lang="en-US" altLang="zh-CN" sz="1200" b="0" i="0" u="none" strike="noStrike" kern="1200">
                <a:solidFill>
                  <a:schemeClr val="tx1"/>
                </a:solidFill>
                <a:effectLst/>
                <a:latin typeface="+mn-lt"/>
                <a:ea typeface="+mn-ea"/>
                <a:cs typeface="+mn-cs"/>
              </a:rPr>
              <a:t>.</a:t>
            </a:r>
            <a:r>
              <a:rPr lang="zh-CN" altLang="en-US" sz="1200" b="0" i="0" u="none" strike="noStrike" kern="1200">
                <a:solidFill>
                  <a:schemeClr val="tx1"/>
                </a:solidFill>
                <a:effectLst/>
                <a:latin typeface="+mn-lt"/>
                <a:ea typeface="+mn-ea"/>
                <a:cs typeface="+mn-cs"/>
              </a:rPr>
              <a:t>简单的说就是确保了机器在任何时刻都不会无故空闲。如果机器空闲，它会立即处理当前所有已到达，就是释放时间已过的作业中，释放时间最早的那个。这个策略最大化了机器的利用率，从而最小化了最后的完工时间。</a:t>
            </a:r>
            <a:endParaRPr lang="zh-CN" altLang="en-US" b="0">
              <a:effectLst/>
            </a:endParaRPr>
          </a:p>
          <a:p>
            <a:br>
              <a:rPr lang="zh-CN" altLang="en-US"/>
            </a:br>
            <a:endParaRPr lang="zh-CN" altLang="en-US" sz="1200" b="0" i="0" u="none" strike="noStrike"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a:solidFill>
                <a:schemeClr val="tx1"/>
              </a:solidFill>
              <a:effectLst/>
              <a:latin typeface="+mn-lt"/>
              <a:ea typeface="+mn-ea"/>
              <a:cs typeface="+mn-cs"/>
            </a:endParaRPr>
          </a:p>
          <a:p>
            <a:br>
              <a:rPr lang="zh-CN" altLang="en-US"/>
            </a:br>
            <a:endParaRPr lang="zh-CN" altLang="en-US"/>
          </a:p>
        </p:txBody>
      </p:sp>
      <p:sp>
        <p:nvSpPr>
          <p:cNvPr id="4" name="灯片编号占位符 3"/>
          <p:cNvSpPr>
            <a:spLocks noGrp="1"/>
          </p:cNvSpPr>
          <p:nvPr>
            <p:ph type="sldNum" sz="quarter" idx="5"/>
          </p:nvPr>
        </p:nvSpPr>
        <p:spPr/>
        <p:txBody>
          <a:bodyPr/>
          <a:lstStyle/>
          <a:p>
            <a:fld id="{52A5A1FA-14FB-46D4-B8A3-2C7A85060E48}" type="slidenum">
              <a:rPr lang="zh-CN" altLang="en-US" smtClean="0"/>
              <a:t>12</a:t>
            </a:fld>
            <a:endParaRPr lang="zh-CN" altLang="en-US"/>
          </a:p>
        </p:txBody>
      </p:sp>
    </p:spTree>
    <p:extLst>
      <p:ext uri="{BB962C8B-B14F-4D97-AF65-F5344CB8AC3E}">
        <p14:creationId xmlns:p14="http://schemas.microsoft.com/office/powerpoint/2010/main" val="5035762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在割平面的生成与添加中，如果其完工时间 </a:t>
            </a:r>
            <a:r>
              <a:rPr lang="en-US" altLang="zh-CN" sz="1200" kern="1200">
                <a:solidFill>
                  <a:schemeClr val="tx1"/>
                </a:solidFill>
                <a:effectLst/>
                <a:latin typeface="+mn-lt"/>
                <a:ea typeface="+mn-ea"/>
                <a:cs typeface="+mn-cs"/>
              </a:rPr>
              <a:t>C{max}(Rk)</a:t>
            </a:r>
            <a:r>
              <a:rPr lang="zh-CN" altLang="en-US"/>
              <a:t>大于等于当前最优上界</a:t>
            </a:r>
            <a:r>
              <a:rPr lang="en-US" altLang="zh-CN" sz="1200" kern="1200">
                <a:solidFill>
                  <a:schemeClr val="tx1"/>
                </a:solidFill>
                <a:effectLst/>
                <a:latin typeface="+mn-lt"/>
                <a:ea typeface="+mn-ea"/>
                <a:cs typeface="+mn-cs"/>
              </a:rPr>
              <a:t>U</a:t>
            </a:r>
            <a:r>
              <a:rPr lang="zh-CN" altLang="en-US"/>
              <a:t>，则认为该分配方案是不可接受的，需要生成</a:t>
            </a:r>
            <a:r>
              <a:rPr lang="zh-CN" altLang="en-US" sz="1200" b="1" kern="1200">
                <a:solidFill>
                  <a:schemeClr val="tx1"/>
                </a:solidFill>
                <a:effectLst/>
                <a:latin typeface="+mn-lt"/>
                <a:ea typeface="+mn-ea"/>
                <a:cs typeface="+mn-cs"/>
              </a:rPr>
              <a:t>组合</a:t>
            </a:r>
            <a:r>
              <a:rPr lang="en-US" altLang="zh-CN" sz="1200" b="1" kern="1200">
                <a:solidFill>
                  <a:schemeClr val="tx1"/>
                </a:solidFill>
                <a:effectLst/>
                <a:latin typeface="+mn-lt"/>
                <a:ea typeface="+mn-ea"/>
                <a:cs typeface="+mn-cs"/>
              </a:rPr>
              <a:t>Benders</a:t>
            </a:r>
            <a:r>
              <a:rPr lang="zh-CN" altLang="en-US" sz="1200" b="1" kern="1200">
                <a:solidFill>
                  <a:schemeClr val="tx1"/>
                </a:solidFill>
                <a:effectLst/>
                <a:latin typeface="+mn-lt"/>
                <a:ea typeface="+mn-ea"/>
                <a:cs typeface="+mn-cs"/>
              </a:rPr>
              <a:t>割</a:t>
            </a:r>
            <a:r>
              <a:rPr lang="zh-CN" altLang="en-US"/>
              <a:t> </a:t>
            </a:r>
            <a:r>
              <a:rPr lang="en-US" altLang="zh-CN"/>
              <a:t>(V1, V2, V3) </a:t>
            </a:r>
            <a:r>
              <a:rPr lang="zh-CN" altLang="en-US"/>
              <a:t>来禁止它 。</a:t>
            </a:r>
            <a:r>
              <a:rPr lang="en-US" altLang="zh-CN" sz="1200" kern="1200">
                <a:solidFill>
                  <a:schemeClr val="tx1"/>
                </a:solidFill>
                <a:effectLst/>
                <a:latin typeface="+mn-lt"/>
                <a:ea typeface="+mn-ea"/>
                <a:cs typeface="+mn-cs"/>
              </a:rPr>
              <a:t>C{max}(Rk)</a:t>
            </a:r>
            <a:r>
              <a:rPr lang="zh-CN" altLang="en-US" sz="1200" kern="1200">
                <a:solidFill>
                  <a:schemeClr val="tx1"/>
                </a:solidFill>
                <a:effectLst/>
                <a:latin typeface="+mn-lt"/>
                <a:ea typeface="+mn-ea"/>
                <a:cs typeface="+mn-cs"/>
              </a:rPr>
              <a:t>小于</a:t>
            </a:r>
            <a:r>
              <a:rPr lang="zh-CN" altLang="en-US"/>
              <a:t>当前最优上界</a:t>
            </a:r>
            <a:r>
              <a:rPr lang="en-US" altLang="zh-CN" sz="1200" kern="1200">
                <a:solidFill>
                  <a:schemeClr val="tx1"/>
                </a:solidFill>
                <a:effectLst/>
                <a:latin typeface="+mn-lt"/>
                <a:ea typeface="+mn-ea"/>
                <a:cs typeface="+mn-cs"/>
              </a:rPr>
              <a:t>U</a:t>
            </a:r>
            <a:r>
              <a:rPr lang="zh-CN" altLang="en-US" sz="1200" kern="1200">
                <a:solidFill>
                  <a:schemeClr val="tx1"/>
                </a:solidFill>
                <a:effectLst/>
                <a:latin typeface="+mn-lt"/>
                <a:ea typeface="+mn-ea"/>
                <a:cs typeface="+mn-cs"/>
              </a:rPr>
              <a:t>，可以生成</a:t>
            </a:r>
            <a:r>
              <a:rPr lang="zh-CN" altLang="en-US" sz="1200" b="1" i="0" kern="1200">
                <a:solidFill>
                  <a:schemeClr val="tx1"/>
                </a:solidFill>
                <a:effectLst/>
                <a:latin typeface="+mn-lt"/>
                <a:ea typeface="+mn-ea"/>
                <a:cs typeface="+mn-cs"/>
              </a:rPr>
              <a:t>最优性割</a:t>
            </a:r>
            <a:r>
              <a:rPr lang="zh-CN" altLang="en-US" sz="1200" b="0" i="0" kern="1200">
                <a:solidFill>
                  <a:schemeClr val="tx1"/>
                </a:solidFill>
                <a:effectLst/>
                <a:latin typeface="+mn-lt"/>
                <a:ea typeface="+mn-ea"/>
                <a:cs typeface="+mn-cs"/>
              </a:rPr>
              <a:t> </a:t>
            </a:r>
            <a:r>
              <a:rPr lang="en-US" altLang="zh-CN" sz="1200" b="0" i="0" kern="1200">
                <a:solidFill>
                  <a:schemeClr val="tx1"/>
                </a:solidFill>
                <a:effectLst/>
                <a:latin typeface="+mn-lt"/>
                <a:ea typeface="+mn-ea"/>
                <a:cs typeface="+mn-cs"/>
              </a:rPr>
              <a:t>(V4, V5, V6, V7) </a:t>
            </a:r>
            <a:r>
              <a:rPr lang="zh-CN" altLang="en-US" sz="1200" b="0" i="0" kern="1200">
                <a:solidFill>
                  <a:schemeClr val="tx1"/>
                </a:solidFill>
                <a:effectLst/>
                <a:latin typeface="+mn-lt"/>
                <a:ea typeface="+mn-ea"/>
                <a:cs typeface="+mn-cs"/>
              </a:rPr>
              <a:t>来为未来的迭代施加更紧的下界 。由于这个时间得限制，对割不做细致解读</a:t>
            </a:r>
            <a:endParaRPr lang="zh-CN" altLang="en-US"/>
          </a:p>
        </p:txBody>
      </p:sp>
      <p:sp>
        <p:nvSpPr>
          <p:cNvPr id="4" name="灯片编号占位符 3"/>
          <p:cNvSpPr>
            <a:spLocks noGrp="1"/>
          </p:cNvSpPr>
          <p:nvPr>
            <p:ph type="sldNum" sz="quarter" idx="5"/>
          </p:nvPr>
        </p:nvSpPr>
        <p:spPr/>
        <p:txBody>
          <a:bodyPr/>
          <a:lstStyle/>
          <a:p>
            <a:fld id="{52A5A1FA-14FB-46D4-B8A3-2C7A85060E48}" type="slidenum">
              <a:rPr lang="zh-CN" altLang="en-US" smtClean="0"/>
              <a:t>13</a:t>
            </a:fld>
            <a:endParaRPr lang="zh-CN" altLang="en-US"/>
          </a:p>
        </p:txBody>
      </p:sp>
    </p:spTree>
    <p:extLst>
      <p:ext uri="{BB962C8B-B14F-4D97-AF65-F5344CB8AC3E}">
        <p14:creationId xmlns:p14="http://schemas.microsoft.com/office/powerpoint/2010/main" val="18955108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a:solidFill>
                  <a:schemeClr val="tx1"/>
                </a:solidFill>
                <a:effectLst/>
                <a:latin typeface="+mn-lt"/>
                <a:ea typeface="+mn-ea"/>
                <a:cs typeface="+mn-cs"/>
              </a:rPr>
              <a:t>本文在数学模型构建方面的创新，不仅体现在理论上的优越性，更在实际求解性能上得到了验证。表中比较了五种</a:t>
            </a:r>
            <a:r>
              <a:rPr lang="en-US" altLang="zh-CN" sz="1200" b="0" i="0" kern="1200">
                <a:solidFill>
                  <a:schemeClr val="tx1"/>
                </a:solidFill>
                <a:effectLst/>
                <a:latin typeface="+mn-lt"/>
                <a:ea typeface="+mn-ea"/>
                <a:cs typeface="+mn-cs"/>
              </a:rPr>
              <a:t>MILP</a:t>
            </a:r>
            <a:r>
              <a:rPr lang="zh-CN" altLang="en-US" sz="1200" b="0" i="0" kern="1200">
                <a:solidFill>
                  <a:schemeClr val="tx1"/>
                </a:solidFill>
                <a:effectLst/>
                <a:latin typeface="+mn-lt"/>
                <a:ea typeface="+mn-ea"/>
                <a:cs typeface="+mn-cs"/>
              </a:rPr>
              <a:t>模型在使用商业求解器</a:t>
            </a:r>
            <a:r>
              <a:rPr lang="en-US" altLang="zh-CN" sz="1200" b="0" i="0" kern="1200">
                <a:solidFill>
                  <a:schemeClr val="tx1"/>
                </a:solidFill>
                <a:effectLst/>
                <a:latin typeface="+mn-lt"/>
                <a:ea typeface="+mn-ea"/>
                <a:cs typeface="+mn-cs"/>
              </a:rPr>
              <a:t>CPLEX</a:t>
            </a:r>
            <a:r>
              <a:rPr lang="zh-CN" altLang="en-US" sz="1200" b="0" i="0" kern="1200">
                <a:solidFill>
                  <a:schemeClr val="tx1"/>
                </a:solidFill>
                <a:effectLst/>
                <a:latin typeface="+mn-lt"/>
                <a:ea typeface="+mn-ea"/>
                <a:cs typeface="+mn-cs"/>
              </a:rPr>
              <a:t>直接求解时的性能。</a:t>
            </a:r>
            <a:endParaRPr lang="en-US" altLang="zh-CN" sz="1200" b="0" i="0" kern="1200">
              <a:solidFill>
                <a:schemeClr val="tx1"/>
              </a:solidFill>
              <a:effectLst/>
              <a:latin typeface="+mn-lt"/>
              <a:ea typeface="+mn-ea"/>
              <a:cs typeface="+mn-cs"/>
            </a:endParaRPr>
          </a:p>
          <a:p>
            <a:r>
              <a:rPr lang="zh-CN" altLang="en-US" sz="1200" b="0" i="0" kern="1200">
                <a:solidFill>
                  <a:schemeClr val="tx1"/>
                </a:solidFill>
                <a:effectLst/>
                <a:latin typeface="+mn-lt"/>
                <a:ea typeface="+mn-ea"/>
                <a:cs typeface="+mn-cs"/>
              </a:rPr>
              <a:t>从表</a:t>
            </a:r>
            <a:r>
              <a:rPr lang="en-US" altLang="zh-CN" sz="1200" b="0" i="0" kern="1200">
                <a:solidFill>
                  <a:schemeClr val="tx1"/>
                </a:solidFill>
                <a:effectLst/>
                <a:latin typeface="+mn-lt"/>
                <a:ea typeface="+mn-ea"/>
                <a:cs typeface="+mn-cs"/>
              </a:rPr>
              <a:t>4</a:t>
            </a:r>
            <a:r>
              <a:rPr lang="zh-CN" altLang="en-US" sz="1200" b="0" i="0" kern="1200">
                <a:solidFill>
                  <a:schemeClr val="tx1"/>
                </a:solidFill>
                <a:effectLst/>
                <a:latin typeface="+mn-lt"/>
                <a:ea typeface="+mn-ea"/>
                <a:cs typeface="+mn-cs"/>
              </a:rPr>
              <a:t>和表</a:t>
            </a:r>
            <a:r>
              <a:rPr lang="en-US" altLang="zh-CN" sz="1200" b="0" i="0" kern="1200">
                <a:solidFill>
                  <a:schemeClr val="tx1"/>
                </a:solidFill>
                <a:effectLst/>
                <a:latin typeface="+mn-lt"/>
                <a:ea typeface="+mn-ea"/>
                <a:cs typeface="+mn-cs"/>
              </a:rPr>
              <a:t>5</a:t>
            </a:r>
            <a:r>
              <a:rPr lang="zh-CN" altLang="en-US" sz="1200" b="0" i="0" kern="1200">
                <a:solidFill>
                  <a:schemeClr val="tx1"/>
                </a:solidFill>
                <a:effectLst/>
                <a:latin typeface="+mn-lt"/>
                <a:ea typeface="+mn-ea"/>
                <a:cs typeface="+mn-cs"/>
              </a:rPr>
              <a:t>的数据可以得出以下关键结论 ：   </a:t>
            </a:r>
          </a:p>
          <a:p>
            <a:r>
              <a:rPr lang="zh-CN" altLang="en-US" sz="1200" b="1" i="0" kern="1200">
                <a:solidFill>
                  <a:schemeClr val="tx1"/>
                </a:solidFill>
                <a:effectLst/>
                <a:latin typeface="+mn-lt"/>
                <a:ea typeface="+mn-ea"/>
                <a:cs typeface="+mn-cs"/>
              </a:rPr>
              <a:t>第一，</a:t>
            </a:r>
            <a:r>
              <a:rPr lang="zh-CN" altLang="en-US" sz="1200" b="0" i="0" kern="1200">
                <a:solidFill>
                  <a:schemeClr val="tx1"/>
                </a:solidFill>
                <a:effectLst/>
                <a:latin typeface="+mn-lt"/>
                <a:ea typeface="+mn-ea"/>
                <a:cs typeface="+mn-cs"/>
              </a:rPr>
              <a:t>三种新模型在平均最优性差距、求得最优解的实例数量和计算时间上，均一致地优于现有的</a:t>
            </a:r>
            <a:r>
              <a:rPr lang="en-US" altLang="zh-CN" sz="1200" b="0" i="0" kern="1200">
                <a:solidFill>
                  <a:schemeClr val="tx1"/>
                </a:solidFill>
                <a:effectLst/>
                <a:latin typeface="+mn-lt"/>
                <a:ea typeface="+mn-ea"/>
                <a:cs typeface="+mn-cs"/>
              </a:rPr>
              <a:t>H2017</a:t>
            </a:r>
            <a:r>
              <a:rPr lang="zh-CN" altLang="en-US" sz="1200" b="0" i="0" kern="1200">
                <a:solidFill>
                  <a:schemeClr val="tx1"/>
                </a:solidFill>
                <a:effectLst/>
                <a:latin typeface="+mn-lt"/>
                <a:ea typeface="+mn-ea"/>
                <a:cs typeface="+mn-cs"/>
              </a:rPr>
              <a:t>和</a:t>
            </a:r>
            <a:r>
              <a:rPr lang="en-US" altLang="zh-CN" sz="1200" b="0" i="0" kern="1200">
                <a:solidFill>
                  <a:schemeClr val="tx1"/>
                </a:solidFill>
                <a:effectLst/>
                <a:latin typeface="+mn-lt"/>
                <a:ea typeface="+mn-ea"/>
                <a:cs typeface="+mn-cs"/>
              </a:rPr>
              <a:t>W2020</a:t>
            </a:r>
            <a:r>
              <a:rPr lang="zh-CN" altLang="en-US" sz="1200" b="0" i="0" kern="1200">
                <a:solidFill>
                  <a:schemeClr val="tx1"/>
                </a:solidFill>
                <a:effectLst/>
                <a:latin typeface="+mn-lt"/>
                <a:ea typeface="+mn-ea"/>
                <a:cs typeface="+mn-cs"/>
              </a:rPr>
              <a:t>模型。</a:t>
            </a:r>
          </a:p>
          <a:p>
            <a:r>
              <a:rPr lang="zh-CN" altLang="en-US" sz="1200" b="1" i="0" kern="1200">
                <a:solidFill>
                  <a:schemeClr val="tx1"/>
                </a:solidFill>
                <a:effectLst/>
                <a:latin typeface="+mn-lt"/>
                <a:ea typeface="+mn-ea"/>
                <a:cs typeface="+mn-cs"/>
              </a:rPr>
              <a:t>第二，</a:t>
            </a:r>
            <a:r>
              <a:rPr lang="zh-CN" altLang="en-US" sz="1200" b="0" i="0" kern="1200">
                <a:solidFill>
                  <a:schemeClr val="tx1"/>
                </a:solidFill>
                <a:effectLst/>
                <a:latin typeface="+mn-lt"/>
                <a:ea typeface="+mn-ea"/>
                <a:cs typeface="+mn-cs"/>
              </a:rPr>
              <a:t>在不添加有效不等式的情况下，</a:t>
            </a:r>
            <a:r>
              <a:rPr lang="en-US" altLang="zh-CN" sz="1200" b="0" i="0" kern="1200">
                <a:solidFill>
                  <a:schemeClr val="tx1"/>
                </a:solidFill>
                <a:effectLst/>
                <a:latin typeface="+mn-lt"/>
                <a:ea typeface="+mn-ea"/>
                <a:cs typeface="+mn-cs"/>
              </a:rPr>
              <a:t>PD</a:t>
            </a:r>
            <a:r>
              <a:rPr lang="zh-CN" altLang="en-US" sz="1200" b="0" i="0" kern="1200">
                <a:solidFill>
                  <a:schemeClr val="tx1"/>
                </a:solidFill>
                <a:effectLst/>
                <a:latin typeface="+mn-lt"/>
                <a:ea typeface="+mn-ea"/>
                <a:cs typeface="+mn-cs"/>
              </a:rPr>
              <a:t>模型表现最佳。这很可能归因于其独特的无“大</a:t>
            </a:r>
            <a:r>
              <a:rPr lang="en-US" altLang="zh-CN" sz="1200" b="0" i="0" kern="1200">
                <a:solidFill>
                  <a:schemeClr val="tx1"/>
                </a:solidFill>
                <a:effectLst/>
                <a:latin typeface="+mn-lt"/>
                <a:ea typeface="+mn-ea"/>
                <a:cs typeface="+mn-cs"/>
              </a:rPr>
              <a:t>M”</a:t>
            </a:r>
            <a:r>
              <a:rPr lang="zh-CN" altLang="en-US" sz="1200" b="0" i="0" kern="1200">
                <a:solidFill>
                  <a:schemeClr val="tx1"/>
                </a:solidFill>
                <a:effectLst/>
                <a:latin typeface="+mn-lt"/>
                <a:ea typeface="+mn-ea"/>
                <a:cs typeface="+mn-cs"/>
              </a:rPr>
              <a:t>约束结构，这使得其</a:t>
            </a:r>
            <a:r>
              <a:rPr lang="en-US" altLang="zh-CN" sz="1200" b="0" i="0" kern="1200">
                <a:solidFill>
                  <a:schemeClr val="tx1"/>
                </a:solidFill>
                <a:effectLst/>
                <a:latin typeface="+mn-lt"/>
                <a:ea typeface="+mn-ea"/>
                <a:cs typeface="+mn-cs"/>
              </a:rPr>
              <a:t>LP</a:t>
            </a:r>
            <a:r>
              <a:rPr lang="zh-CN" altLang="en-US" sz="1200" b="0" i="0" kern="1200">
                <a:solidFill>
                  <a:schemeClr val="tx1"/>
                </a:solidFill>
                <a:effectLst/>
                <a:latin typeface="+mn-lt"/>
                <a:ea typeface="+mn-ea"/>
                <a:cs typeface="+mn-cs"/>
              </a:rPr>
              <a:t>松弛质量相对较高，引导求解器更快地找到高质量整数解。</a:t>
            </a:r>
          </a:p>
          <a:p>
            <a:r>
              <a:rPr lang="zh-CN" altLang="en-US" sz="1200" b="1" i="0" kern="1200">
                <a:solidFill>
                  <a:schemeClr val="tx1"/>
                </a:solidFill>
                <a:effectLst/>
                <a:latin typeface="+mn-lt"/>
                <a:ea typeface="+mn-ea"/>
                <a:cs typeface="+mn-cs"/>
              </a:rPr>
              <a:t>第三，</a:t>
            </a:r>
            <a:r>
              <a:rPr lang="zh-CN" altLang="en-US" sz="1200" b="0" i="0" kern="1200">
                <a:solidFill>
                  <a:schemeClr val="tx1"/>
                </a:solidFill>
                <a:effectLst/>
                <a:latin typeface="+mn-lt"/>
                <a:ea typeface="+mn-ea"/>
                <a:cs typeface="+mn-cs"/>
              </a:rPr>
              <a:t>当加入有效不等式后，</a:t>
            </a:r>
            <a:r>
              <a:rPr lang="en-US" altLang="zh-CN" sz="1200" b="0" i="0" kern="1200">
                <a:solidFill>
                  <a:schemeClr val="tx1"/>
                </a:solidFill>
                <a:effectLst/>
                <a:latin typeface="+mn-lt"/>
                <a:ea typeface="+mn-ea"/>
                <a:cs typeface="+mn-cs"/>
              </a:rPr>
              <a:t>LO+</a:t>
            </a:r>
            <a:r>
              <a:rPr lang="zh-CN" altLang="en-US" sz="1200" b="0" i="0" kern="1200">
                <a:solidFill>
                  <a:schemeClr val="tx1"/>
                </a:solidFill>
                <a:effectLst/>
                <a:latin typeface="+mn-lt"/>
                <a:ea typeface="+mn-ea"/>
                <a:cs typeface="+mn-cs"/>
              </a:rPr>
              <a:t>模型成为所有直接求解的</a:t>
            </a:r>
            <a:r>
              <a:rPr lang="en-US" altLang="zh-CN" sz="1200" b="0" i="0" kern="1200">
                <a:solidFill>
                  <a:schemeClr val="tx1"/>
                </a:solidFill>
                <a:effectLst/>
                <a:latin typeface="+mn-lt"/>
                <a:ea typeface="+mn-ea"/>
                <a:cs typeface="+mn-cs"/>
              </a:rPr>
              <a:t>MILP</a:t>
            </a:r>
            <a:r>
              <a:rPr lang="zh-CN" altLang="en-US" sz="1200" b="0" i="0" kern="1200">
                <a:solidFill>
                  <a:schemeClr val="tx1"/>
                </a:solidFill>
                <a:effectLst/>
                <a:latin typeface="+mn-lt"/>
                <a:ea typeface="+mn-ea"/>
                <a:cs typeface="+mn-cs"/>
              </a:rPr>
              <a:t>模型中的最优选择。其结构优势与有效不等式的强化作用相结合，使其在求解效率和解的质量上达到了最佳平衡。</a:t>
            </a:r>
          </a:p>
          <a:p>
            <a:r>
              <a:rPr lang="zh-CN" altLang="en-US" sz="1200" b="1" i="0" kern="1200">
                <a:solidFill>
                  <a:schemeClr val="tx1"/>
                </a:solidFill>
                <a:effectLst/>
                <a:latin typeface="+mn-lt"/>
                <a:ea typeface="+mn-ea"/>
                <a:cs typeface="+mn-cs"/>
              </a:rPr>
              <a:t>第四，</a:t>
            </a:r>
            <a:r>
              <a:rPr lang="zh-CN" altLang="en-US" sz="1200" b="0" i="0" kern="1200">
                <a:solidFill>
                  <a:schemeClr val="tx1"/>
                </a:solidFill>
                <a:effectLst/>
                <a:latin typeface="+mn-lt"/>
                <a:ea typeface="+mn-ea"/>
                <a:cs typeface="+mn-cs"/>
              </a:rPr>
              <a:t>对比表</a:t>
            </a:r>
            <a:r>
              <a:rPr lang="en-US" altLang="zh-CN" sz="1200" b="0" i="0" kern="1200">
                <a:solidFill>
                  <a:schemeClr val="tx1"/>
                </a:solidFill>
                <a:effectLst/>
                <a:latin typeface="+mn-lt"/>
                <a:ea typeface="+mn-ea"/>
                <a:cs typeface="+mn-cs"/>
              </a:rPr>
              <a:t>4</a:t>
            </a:r>
            <a:r>
              <a:rPr lang="zh-CN" altLang="en-US" sz="1200" b="0" i="0" kern="1200">
                <a:solidFill>
                  <a:schemeClr val="tx1"/>
                </a:solidFill>
                <a:effectLst/>
                <a:latin typeface="+mn-lt"/>
                <a:ea typeface="+mn-ea"/>
                <a:cs typeface="+mn-cs"/>
              </a:rPr>
              <a:t>和表</a:t>
            </a:r>
            <a:r>
              <a:rPr lang="en-US" altLang="zh-CN" sz="1200" b="0" i="0" kern="1200">
                <a:solidFill>
                  <a:schemeClr val="tx1"/>
                </a:solidFill>
                <a:effectLst/>
                <a:latin typeface="+mn-lt"/>
                <a:ea typeface="+mn-ea"/>
                <a:cs typeface="+mn-cs"/>
              </a:rPr>
              <a:t>5</a:t>
            </a:r>
            <a:r>
              <a:rPr lang="zh-CN" altLang="en-US" sz="1200" b="0" i="0" kern="1200">
                <a:solidFill>
                  <a:schemeClr val="tx1"/>
                </a:solidFill>
                <a:effectLst/>
                <a:latin typeface="+mn-lt"/>
                <a:ea typeface="+mn-ea"/>
                <a:cs typeface="+mn-cs"/>
              </a:rPr>
              <a:t>，可以清晰地看到，为每个模型添加论文提出的有效不等式后，其性能都得到了显著提升。平均差距减小，最优解数量增多，计算时间缩短。这证明了模型强化的重要性。</a:t>
            </a:r>
          </a:p>
          <a:p>
            <a:endParaRPr lang="zh-CN" altLang="en-US"/>
          </a:p>
        </p:txBody>
      </p:sp>
      <p:sp>
        <p:nvSpPr>
          <p:cNvPr id="4" name="灯片编号占位符 3"/>
          <p:cNvSpPr>
            <a:spLocks noGrp="1"/>
          </p:cNvSpPr>
          <p:nvPr>
            <p:ph type="sldNum" sz="quarter" idx="5"/>
          </p:nvPr>
        </p:nvSpPr>
        <p:spPr/>
        <p:txBody>
          <a:bodyPr/>
          <a:lstStyle/>
          <a:p>
            <a:fld id="{52A5A1FA-14FB-46D4-B8A3-2C7A85060E48}" type="slidenum">
              <a:rPr lang="zh-CN" altLang="en-US" smtClean="0"/>
              <a:t>14</a:t>
            </a:fld>
            <a:endParaRPr lang="zh-CN" altLang="en-US"/>
          </a:p>
        </p:txBody>
      </p:sp>
    </p:spTree>
    <p:extLst>
      <p:ext uri="{BB962C8B-B14F-4D97-AF65-F5344CB8AC3E}">
        <p14:creationId xmlns:p14="http://schemas.microsoft.com/office/powerpoint/2010/main" val="32833208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1C8B6-62EE-9FD0-B28D-48957EAD849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C57504-2ED8-7690-4C56-C26CF1F5B08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1D645C9-6BA7-852D-107A-B03AB1BB7E5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a:solidFill>
                  <a:schemeClr val="tx1"/>
                </a:solidFill>
                <a:effectLst/>
                <a:latin typeface="+mn-lt"/>
                <a:ea typeface="+mn-ea"/>
                <a:cs typeface="+mn-cs"/>
              </a:rPr>
              <a:t>算法层面的核心创新在于为</a:t>
            </a:r>
            <a:r>
              <a:rPr lang="en-US" altLang="zh-CN" sz="1200" b="0" i="0" kern="1200">
                <a:solidFill>
                  <a:schemeClr val="tx1"/>
                </a:solidFill>
                <a:effectLst/>
                <a:latin typeface="+mn-lt"/>
                <a:ea typeface="+mn-ea"/>
                <a:cs typeface="+mn-cs"/>
              </a:rPr>
              <a:t>D-ScheLoc</a:t>
            </a:r>
            <a:r>
              <a:rPr lang="zh-CN" altLang="en-US" sz="1200" b="0" i="0" kern="1200">
                <a:solidFill>
                  <a:schemeClr val="tx1"/>
                </a:solidFill>
                <a:effectLst/>
                <a:latin typeface="+mn-lt"/>
                <a:ea typeface="+mn-ea"/>
                <a:cs typeface="+mn-cs"/>
              </a:rPr>
              <a:t>问题开发了</a:t>
            </a:r>
            <a:r>
              <a:rPr lang="zh-CN" altLang="en-US" sz="1200" b="1" i="0" kern="1200">
                <a:solidFill>
                  <a:schemeClr val="tx1"/>
                </a:solidFill>
                <a:effectLst/>
                <a:latin typeface="+mn-lt"/>
                <a:ea typeface="+mn-ea"/>
                <a:cs typeface="+mn-cs"/>
              </a:rPr>
              <a:t>首个精确求解方法</a:t>
            </a:r>
            <a:r>
              <a:rPr lang="zh-CN" altLang="en-US" sz="1200" b="0" i="0" kern="1200">
                <a:solidFill>
                  <a:schemeClr val="tx1"/>
                </a:solidFill>
                <a:effectLst/>
                <a:latin typeface="+mn-lt"/>
                <a:ea typeface="+mn-ea"/>
                <a:cs typeface="+mn-cs"/>
              </a:rPr>
              <a:t>。这标志着该问题研究从依赖启发式算法的近似求解，迈向了能够保证最优性的精确求解新阶段。图中五个表格，将</a:t>
            </a:r>
            <a:r>
              <a:rPr lang="en-US" altLang="zh-CN" sz="1200" b="0" i="0" kern="1200">
                <a:solidFill>
                  <a:schemeClr val="tx1"/>
                </a:solidFill>
                <a:effectLst/>
                <a:latin typeface="+mn-lt"/>
                <a:ea typeface="+mn-ea"/>
                <a:cs typeface="+mn-cs"/>
              </a:rPr>
              <a:t>LBBD</a:t>
            </a:r>
            <a:r>
              <a:rPr lang="zh-CN" altLang="en-US" sz="1200" b="0" i="0" kern="1200">
                <a:solidFill>
                  <a:schemeClr val="tx1"/>
                </a:solidFill>
                <a:effectLst/>
                <a:latin typeface="+mn-lt"/>
                <a:ea typeface="+mn-ea"/>
                <a:cs typeface="+mn-cs"/>
              </a:rPr>
              <a:t>算法的七个变体与文献中最优的启发式算法</a:t>
            </a:r>
            <a:r>
              <a:rPr lang="en-US" altLang="zh-CN" sz="1200" b="0" i="0" kern="1200">
                <a:solidFill>
                  <a:schemeClr val="tx1"/>
                </a:solidFill>
                <a:effectLst/>
                <a:latin typeface="+mn-lt"/>
                <a:ea typeface="+mn-ea"/>
                <a:cs typeface="+mn-cs"/>
              </a:rPr>
              <a:t>CH</a:t>
            </a:r>
            <a:r>
              <a:rPr lang="zh-CN" altLang="en-US" sz="1200" b="0" i="0" kern="1200">
                <a:solidFill>
                  <a:schemeClr val="tx1"/>
                </a:solidFill>
                <a:effectLst/>
                <a:latin typeface="+mn-lt"/>
                <a:ea typeface="+mn-ea"/>
                <a:cs typeface="+mn-cs"/>
              </a:rPr>
              <a:t>和</a:t>
            </a:r>
            <a:r>
              <a:rPr lang="en-US" altLang="zh-CN" sz="1200" b="0" i="0" kern="1200">
                <a:solidFill>
                  <a:schemeClr val="tx1"/>
                </a:solidFill>
                <a:effectLst/>
                <a:latin typeface="+mn-lt"/>
                <a:ea typeface="+mn-ea"/>
                <a:cs typeface="+mn-cs"/>
              </a:rPr>
              <a:t>LDL</a:t>
            </a:r>
            <a:r>
              <a:rPr lang="zh-CN" altLang="en-US" sz="1200" b="0" i="0" kern="1200">
                <a:solidFill>
                  <a:schemeClr val="tx1"/>
                </a:solidFill>
                <a:effectLst/>
                <a:latin typeface="+mn-lt"/>
                <a:ea typeface="+mn-ea"/>
                <a:cs typeface="+mn-cs"/>
              </a:rPr>
              <a:t>进行了直接的性能对比 。这些数据无可辩驳地证明了</a:t>
            </a:r>
            <a:r>
              <a:rPr lang="en-US" altLang="zh-CN" sz="1200" b="0" i="0" kern="1200">
                <a:solidFill>
                  <a:schemeClr val="tx1"/>
                </a:solidFill>
                <a:effectLst/>
                <a:latin typeface="+mn-lt"/>
                <a:ea typeface="+mn-ea"/>
                <a:cs typeface="+mn-cs"/>
              </a:rPr>
              <a:t>LBBD</a:t>
            </a:r>
            <a:r>
              <a:rPr lang="zh-CN" altLang="en-US" sz="1200" b="0" i="0" kern="1200">
                <a:solidFill>
                  <a:schemeClr val="tx1"/>
                </a:solidFill>
                <a:effectLst/>
                <a:latin typeface="+mn-lt"/>
                <a:ea typeface="+mn-ea"/>
                <a:cs typeface="+mn-cs"/>
              </a:rPr>
              <a:t>算法的优越性：</a:t>
            </a:r>
            <a:endParaRPr lang="en-US" altLang="zh-CN" sz="1200" b="0" i="0" kern="1200">
              <a:solidFill>
                <a:schemeClr val="tx1"/>
              </a:solidFill>
              <a:effectLst/>
              <a:latin typeface="+mn-lt"/>
              <a:ea typeface="+mn-ea"/>
              <a:cs typeface="+mn-cs"/>
            </a:endParaRPr>
          </a:p>
          <a:p>
            <a:r>
              <a:rPr lang="zh-CN" altLang="en-US" sz="1200" b="0" i="0" kern="1200">
                <a:solidFill>
                  <a:schemeClr val="tx1"/>
                </a:solidFill>
                <a:effectLst/>
                <a:latin typeface="+mn-lt"/>
                <a:ea typeface="+mn-ea"/>
                <a:cs typeface="+mn-cs"/>
              </a:rPr>
              <a:t>第一，</a:t>
            </a:r>
            <a:r>
              <a:rPr lang="en-US" altLang="zh-CN" sz="1200" b="0" i="0" kern="1200">
                <a:solidFill>
                  <a:schemeClr val="tx1"/>
                </a:solidFill>
                <a:effectLst/>
                <a:latin typeface="+mn-lt"/>
                <a:ea typeface="+mn-ea"/>
                <a:cs typeface="+mn-cs"/>
              </a:rPr>
              <a:t>LBBD</a:t>
            </a:r>
            <a:r>
              <a:rPr lang="zh-CN" altLang="en-US" sz="1200" b="0" i="0" kern="1200">
                <a:solidFill>
                  <a:schemeClr val="tx1"/>
                </a:solidFill>
                <a:effectLst/>
                <a:latin typeface="+mn-lt"/>
                <a:ea typeface="+mn-ea"/>
                <a:cs typeface="+mn-cs"/>
              </a:rPr>
              <a:t>算法的设计成功地将问题的复杂性分离开来。</a:t>
            </a:r>
            <a:r>
              <a:rPr lang="en-US" altLang="zh-CN" sz="1200" b="0" i="0" kern="1200">
                <a:solidFill>
                  <a:schemeClr val="tx1"/>
                </a:solidFill>
                <a:effectLst/>
                <a:latin typeface="+mn-lt"/>
                <a:ea typeface="+mn-ea"/>
                <a:cs typeface="+mn-cs"/>
              </a:rPr>
              <a:t>MP</a:t>
            </a:r>
            <a:r>
              <a:rPr lang="zh-CN" altLang="en-US" sz="1200" b="0" i="0" kern="1200">
                <a:solidFill>
                  <a:schemeClr val="tx1"/>
                </a:solidFill>
                <a:effectLst/>
                <a:latin typeface="+mn-lt"/>
                <a:ea typeface="+mn-ea"/>
                <a:cs typeface="+mn-cs"/>
              </a:rPr>
              <a:t>负责处理战略性的选址与分配决策，而</a:t>
            </a:r>
            <a:r>
              <a:rPr lang="en-US" altLang="zh-CN" sz="1200" b="0" i="0" kern="1200">
                <a:solidFill>
                  <a:schemeClr val="tx1"/>
                </a:solidFill>
                <a:effectLst/>
                <a:latin typeface="+mn-lt"/>
                <a:ea typeface="+mn-ea"/>
                <a:cs typeface="+mn-cs"/>
              </a:rPr>
              <a:t>SP</a:t>
            </a:r>
            <a:r>
              <a:rPr lang="zh-CN" altLang="en-US" sz="1200" b="0" i="0" kern="1200">
                <a:solidFill>
                  <a:schemeClr val="tx1"/>
                </a:solidFill>
                <a:effectLst/>
                <a:latin typeface="+mn-lt"/>
                <a:ea typeface="+mn-ea"/>
                <a:cs typeface="+mn-cs"/>
              </a:rPr>
              <a:t>则高效地解决战术性的调度排序问题。这种分解结构，使算法能够扩展到处理多达</a:t>
            </a:r>
            <a:r>
              <a:rPr lang="en-US" altLang="zh-CN" sz="1200" b="0" i="0" kern="1200">
                <a:solidFill>
                  <a:schemeClr val="tx1"/>
                </a:solidFill>
                <a:effectLst/>
                <a:latin typeface="+mn-lt"/>
                <a:ea typeface="+mn-ea"/>
                <a:cs typeface="+mn-cs"/>
              </a:rPr>
              <a:t>300</a:t>
            </a:r>
            <a:r>
              <a:rPr lang="zh-CN" altLang="en-US" sz="1200" b="0" i="0" kern="1200">
                <a:solidFill>
                  <a:schemeClr val="tx1"/>
                </a:solidFill>
                <a:effectLst/>
                <a:latin typeface="+mn-lt"/>
                <a:ea typeface="+mn-ea"/>
                <a:cs typeface="+mn-cs"/>
              </a:rPr>
              <a:t>个作业和</a:t>
            </a:r>
            <a:r>
              <a:rPr lang="en-US" altLang="zh-CN" sz="1200" b="0" i="0" kern="1200">
                <a:solidFill>
                  <a:schemeClr val="tx1"/>
                </a:solidFill>
                <a:effectLst/>
                <a:latin typeface="+mn-lt"/>
                <a:ea typeface="+mn-ea"/>
                <a:cs typeface="+mn-cs"/>
              </a:rPr>
              <a:t>300</a:t>
            </a:r>
            <a:r>
              <a:rPr lang="zh-CN" altLang="en-US" sz="1200" b="0" i="0" kern="1200">
                <a:solidFill>
                  <a:schemeClr val="tx1"/>
                </a:solidFill>
                <a:effectLst/>
                <a:latin typeface="+mn-lt"/>
                <a:ea typeface="+mn-ea"/>
                <a:cs typeface="+mn-cs"/>
              </a:rPr>
              <a:t>个候选位置的大规模实例 。</a:t>
            </a:r>
            <a:endParaRPr lang="en-US" altLang="zh-CN" sz="1200" b="0" i="0" kern="1200">
              <a:solidFill>
                <a:schemeClr val="tx1"/>
              </a:solidFill>
              <a:effectLst/>
              <a:latin typeface="+mn-lt"/>
              <a:ea typeface="+mn-ea"/>
              <a:cs typeface="+mn-cs"/>
            </a:endParaRPr>
          </a:p>
          <a:p>
            <a:r>
              <a:rPr lang="zh-CN" altLang="en-US" sz="1200" b="0" i="0" kern="1200">
                <a:solidFill>
                  <a:schemeClr val="tx1"/>
                </a:solidFill>
                <a:effectLst/>
                <a:latin typeface="+mn-lt"/>
                <a:ea typeface="+mn-ea"/>
                <a:cs typeface="+mn-cs"/>
              </a:rPr>
              <a:t>第二，算法的创新不仅在于应用了</a:t>
            </a:r>
            <a:r>
              <a:rPr lang="en-US" altLang="zh-CN" sz="1200" b="0" i="0" kern="1200">
                <a:solidFill>
                  <a:schemeClr val="tx1"/>
                </a:solidFill>
                <a:effectLst/>
                <a:latin typeface="+mn-lt"/>
                <a:ea typeface="+mn-ea"/>
                <a:cs typeface="+mn-cs"/>
              </a:rPr>
              <a:t>LBBD</a:t>
            </a:r>
            <a:r>
              <a:rPr lang="zh-CN" altLang="en-US" sz="1200" b="0" i="0" kern="1200">
                <a:solidFill>
                  <a:schemeClr val="tx1"/>
                </a:solidFill>
                <a:effectLst/>
                <a:latin typeface="+mn-lt"/>
                <a:ea typeface="+mn-ea"/>
                <a:cs typeface="+mn-cs"/>
              </a:rPr>
              <a:t>模型，更在于为该问题量身定制并系统性地强化了七个不同的割平面组。</a:t>
            </a:r>
            <a:r>
              <a:rPr lang="zh-CN" altLang="en-US"/>
              <a:t>在所有四个实例集上，</a:t>
            </a:r>
            <a:r>
              <a:rPr lang="en-US" altLang="zh-CN"/>
              <a:t>LBBD</a:t>
            </a:r>
            <a:r>
              <a:rPr lang="zh-CN" altLang="en-US"/>
              <a:t>算法的所有变体找到的解均优于</a:t>
            </a:r>
            <a:r>
              <a:rPr lang="en-US" altLang="zh-CN"/>
              <a:t>CH</a:t>
            </a:r>
            <a:r>
              <a:rPr lang="zh-CN" altLang="en-US"/>
              <a:t>和</a:t>
            </a:r>
            <a:r>
              <a:rPr lang="en-US" altLang="zh-CN"/>
              <a:t>LDL</a:t>
            </a:r>
            <a:r>
              <a:rPr lang="zh-CN" altLang="en-US"/>
              <a:t>。</a:t>
            </a:r>
            <a:r>
              <a:rPr lang="zh-CN" altLang="en-US" sz="1200" b="0" i="0" kern="1200">
                <a:solidFill>
                  <a:schemeClr val="tx1"/>
                </a:solidFill>
                <a:effectLst/>
                <a:latin typeface="+mn-lt"/>
                <a:ea typeface="+mn-ea"/>
                <a:cs typeface="+mn-cs"/>
              </a:rPr>
              <a:t>通过比较</a:t>
            </a:r>
            <a:r>
              <a:rPr lang="en-US" altLang="zh-CN" sz="1200" b="0" i="0" kern="1200">
                <a:solidFill>
                  <a:schemeClr val="tx1"/>
                </a:solidFill>
                <a:effectLst/>
                <a:latin typeface="+mn-lt"/>
                <a:ea typeface="+mn-ea"/>
                <a:cs typeface="+mn-cs"/>
              </a:rPr>
              <a:t>V1, V2, V3</a:t>
            </a:r>
            <a:r>
              <a:rPr lang="zh-CN" altLang="en-US" sz="1200" b="0" i="0" kern="1200">
                <a:solidFill>
                  <a:schemeClr val="tx1"/>
                </a:solidFill>
                <a:effectLst/>
                <a:latin typeface="+mn-lt"/>
                <a:ea typeface="+mn-ea"/>
                <a:cs typeface="+mn-cs"/>
              </a:rPr>
              <a:t>的性能，以及</a:t>
            </a:r>
            <a:r>
              <a:rPr lang="en-US" altLang="zh-CN" sz="1200" b="0" i="0" kern="1200">
                <a:solidFill>
                  <a:schemeClr val="tx1"/>
                </a:solidFill>
                <a:effectLst/>
                <a:latin typeface="+mn-lt"/>
                <a:ea typeface="+mn-ea"/>
                <a:cs typeface="+mn-cs"/>
              </a:rPr>
              <a:t>V4/V5</a:t>
            </a:r>
            <a:r>
              <a:rPr lang="zh-CN" altLang="en-US" sz="1200" b="0" i="0" kern="1200">
                <a:solidFill>
                  <a:schemeClr val="tx1"/>
                </a:solidFill>
                <a:effectLst/>
                <a:latin typeface="+mn-lt"/>
                <a:ea typeface="+mn-ea"/>
                <a:cs typeface="+mn-cs"/>
              </a:rPr>
              <a:t>与</a:t>
            </a:r>
            <a:r>
              <a:rPr lang="en-US" altLang="zh-CN" sz="1200" b="0" i="0" kern="1200">
                <a:solidFill>
                  <a:schemeClr val="tx1"/>
                </a:solidFill>
                <a:effectLst/>
                <a:latin typeface="+mn-lt"/>
                <a:ea typeface="+mn-ea"/>
                <a:cs typeface="+mn-cs"/>
              </a:rPr>
              <a:t>V6/V7</a:t>
            </a:r>
            <a:r>
              <a:rPr lang="zh-CN" altLang="en-US" sz="1200" b="0" i="0" kern="1200">
                <a:solidFill>
                  <a:schemeClr val="tx1"/>
                </a:solidFill>
                <a:effectLst/>
                <a:latin typeface="+mn-lt"/>
                <a:ea typeface="+mn-ea"/>
                <a:cs typeface="+mn-cs"/>
              </a:rPr>
              <a:t>的性能，可以清晰地看到</a:t>
            </a:r>
            <a:r>
              <a:rPr lang="en-US" altLang="zh-CN" sz="1200" b="0" i="0" kern="1200">
                <a:solidFill>
                  <a:schemeClr val="tx1"/>
                </a:solidFill>
                <a:effectLst/>
                <a:latin typeface="+mn-lt"/>
                <a:ea typeface="+mn-ea"/>
                <a:cs typeface="+mn-cs"/>
              </a:rPr>
              <a:t>MIS</a:t>
            </a:r>
            <a:r>
              <a:rPr lang="zh-CN" altLang="en-US" sz="1200" b="0" i="0" kern="1200">
                <a:solidFill>
                  <a:schemeClr val="tx1"/>
                </a:solidFill>
                <a:effectLst/>
                <a:latin typeface="+mn-lt"/>
                <a:ea typeface="+mn-ea"/>
                <a:cs typeface="+mn-cs"/>
              </a:rPr>
              <a:t>和</a:t>
            </a:r>
            <a:r>
              <a:rPr lang="en-US" altLang="zh-CN" sz="1200" b="0" i="0" kern="1200">
                <a:solidFill>
                  <a:schemeClr val="tx1"/>
                </a:solidFill>
                <a:effectLst/>
                <a:latin typeface="+mn-lt"/>
                <a:ea typeface="+mn-ea"/>
                <a:cs typeface="+mn-cs"/>
              </a:rPr>
              <a:t>lifting</a:t>
            </a:r>
            <a:r>
              <a:rPr lang="zh-CN" altLang="en-US" sz="1200" b="0" i="0" kern="1200">
                <a:solidFill>
                  <a:schemeClr val="tx1"/>
                </a:solidFill>
                <a:effectLst/>
                <a:latin typeface="+mn-lt"/>
                <a:ea typeface="+mn-ea"/>
                <a:cs typeface="+mn-cs"/>
              </a:rPr>
              <a:t>等强化技术带来的显著提升。例如，在</a:t>
            </a:r>
            <a:r>
              <a:rPr lang="en-US" altLang="zh-CN" sz="1200" b="0" i="0" kern="1200">
                <a:solidFill>
                  <a:schemeClr val="tx1"/>
                </a:solidFill>
                <a:effectLst/>
                <a:latin typeface="+mn-lt"/>
                <a:ea typeface="+mn-ea"/>
                <a:cs typeface="+mn-cs"/>
              </a:rPr>
              <a:t>Large</a:t>
            </a:r>
            <a:r>
              <a:rPr lang="zh-CN" altLang="en-US" sz="1200" b="0" i="0" kern="1200">
                <a:solidFill>
                  <a:schemeClr val="tx1"/>
                </a:solidFill>
                <a:effectLst/>
                <a:latin typeface="+mn-lt"/>
                <a:ea typeface="+mn-ea"/>
                <a:cs typeface="+mn-cs"/>
              </a:rPr>
              <a:t>实例集上，</a:t>
            </a:r>
            <a:r>
              <a:rPr lang="en-US" altLang="zh-CN" sz="1200" b="0" i="0" kern="1200">
                <a:solidFill>
                  <a:schemeClr val="tx1"/>
                </a:solidFill>
                <a:effectLst/>
                <a:latin typeface="+mn-lt"/>
                <a:ea typeface="+mn-ea"/>
                <a:cs typeface="+mn-cs"/>
              </a:rPr>
              <a:t>V3</a:t>
            </a:r>
            <a:r>
              <a:rPr lang="zh-CN" altLang="en-US" sz="1200" b="0" i="0" kern="1200">
                <a:solidFill>
                  <a:schemeClr val="tx1"/>
                </a:solidFill>
                <a:effectLst/>
                <a:latin typeface="+mn-lt"/>
                <a:ea typeface="+mn-ea"/>
                <a:cs typeface="+mn-cs"/>
              </a:rPr>
              <a:t>比</a:t>
            </a:r>
            <a:r>
              <a:rPr lang="en-US" altLang="zh-CN" sz="1200" b="0" i="0" kern="1200">
                <a:solidFill>
                  <a:schemeClr val="tx1"/>
                </a:solidFill>
                <a:effectLst/>
                <a:latin typeface="+mn-lt"/>
                <a:ea typeface="+mn-ea"/>
                <a:cs typeface="+mn-cs"/>
              </a:rPr>
              <a:t>V1</a:t>
            </a:r>
            <a:r>
              <a:rPr lang="zh-CN" altLang="en-US" sz="1200" b="0" i="0" kern="1200">
                <a:solidFill>
                  <a:schemeClr val="tx1"/>
                </a:solidFill>
                <a:effectLst/>
                <a:latin typeface="+mn-lt"/>
                <a:ea typeface="+mn-ea"/>
                <a:cs typeface="+mn-cs"/>
              </a:rPr>
              <a:t>多求解了</a:t>
            </a:r>
            <a:r>
              <a:rPr lang="en-US" altLang="zh-CN" sz="1200" b="0" i="0" kern="1200">
                <a:solidFill>
                  <a:schemeClr val="tx1"/>
                </a:solidFill>
                <a:effectLst/>
                <a:latin typeface="+mn-lt"/>
                <a:ea typeface="+mn-ea"/>
                <a:cs typeface="+mn-cs"/>
              </a:rPr>
              <a:t>23</a:t>
            </a:r>
            <a:r>
              <a:rPr lang="zh-CN" altLang="en-US" sz="1200" b="0" i="0" kern="1200">
                <a:solidFill>
                  <a:schemeClr val="tx1"/>
                </a:solidFill>
                <a:effectLst/>
                <a:latin typeface="+mn-lt"/>
                <a:ea typeface="+mn-ea"/>
                <a:cs typeface="+mn-cs"/>
              </a:rPr>
              <a:t>个实例至最优，</a:t>
            </a:r>
            <a:r>
              <a:rPr lang="en-US" altLang="zh-CN" sz="1200" b="0" i="0" kern="1200">
                <a:solidFill>
                  <a:schemeClr val="tx1"/>
                </a:solidFill>
                <a:effectLst/>
                <a:latin typeface="+mn-lt"/>
                <a:ea typeface="+mn-ea"/>
                <a:cs typeface="+mn-cs"/>
              </a:rPr>
              <a:t>V6</a:t>
            </a:r>
            <a:r>
              <a:rPr lang="zh-CN" altLang="en-US" sz="1200" b="0" i="0" kern="1200">
                <a:solidFill>
                  <a:schemeClr val="tx1"/>
                </a:solidFill>
                <a:effectLst/>
                <a:latin typeface="+mn-lt"/>
                <a:ea typeface="+mn-ea"/>
                <a:cs typeface="+mn-cs"/>
              </a:rPr>
              <a:t>比</a:t>
            </a:r>
            <a:r>
              <a:rPr lang="en-US" altLang="zh-CN" sz="1200" b="0" i="0" kern="1200">
                <a:solidFill>
                  <a:schemeClr val="tx1"/>
                </a:solidFill>
                <a:effectLst/>
                <a:latin typeface="+mn-lt"/>
                <a:ea typeface="+mn-ea"/>
                <a:cs typeface="+mn-cs"/>
              </a:rPr>
              <a:t>V4</a:t>
            </a:r>
            <a:r>
              <a:rPr lang="zh-CN" altLang="en-US" sz="1200" b="0" i="0" kern="1200">
                <a:solidFill>
                  <a:schemeClr val="tx1"/>
                </a:solidFill>
                <a:effectLst/>
                <a:latin typeface="+mn-lt"/>
                <a:ea typeface="+mn-ea"/>
                <a:cs typeface="+mn-cs"/>
              </a:rPr>
              <a:t>多求解了</a:t>
            </a:r>
            <a:r>
              <a:rPr lang="en-US" altLang="zh-CN" sz="1200" b="0" i="0" kern="1200">
                <a:solidFill>
                  <a:schemeClr val="tx1"/>
                </a:solidFill>
                <a:effectLst/>
                <a:latin typeface="+mn-lt"/>
                <a:ea typeface="+mn-ea"/>
                <a:cs typeface="+mn-cs"/>
              </a:rPr>
              <a:t>13</a:t>
            </a:r>
            <a:r>
              <a:rPr lang="zh-CN" altLang="en-US" sz="1200" b="0" i="0" kern="1200">
                <a:solidFill>
                  <a:schemeClr val="tx1"/>
                </a:solidFill>
                <a:effectLst/>
                <a:latin typeface="+mn-lt"/>
                <a:ea typeface="+mn-ea"/>
                <a:cs typeface="+mn-cs"/>
              </a:rPr>
              <a:t>个。一个高质量的</a:t>
            </a:r>
            <a:r>
              <a:rPr lang="en-US" altLang="zh-CN" sz="1200" b="0" i="0" kern="1200">
                <a:solidFill>
                  <a:schemeClr val="tx1"/>
                </a:solidFill>
                <a:effectLst/>
                <a:latin typeface="+mn-lt"/>
                <a:ea typeface="+mn-ea"/>
                <a:cs typeface="+mn-cs"/>
              </a:rPr>
              <a:t>V3</a:t>
            </a:r>
            <a:r>
              <a:rPr lang="zh-CN" altLang="en-US" sz="1200" b="0" i="0" kern="1200">
                <a:solidFill>
                  <a:schemeClr val="tx1"/>
                </a:solidFill>
                <a:effectLst/>
                <a:latin typeface="+mn-lt"/>
                <a:ea typeface="+mn-ea"/>
                <a:cs typeface="+mn-cs"/>
              </a:rPr>
              <a:t>或</a:t>
            </a:r>
            <a:r>
              <a:rPr lang="en-US" altLang="zh-CN" sz="1200" b="0" i="0" kern="1200">
                <a:solidFill>
                  <a:schemeClr val="tx1"/>
                </a:solidFill>
                <a:effectLst/>
                <a:latin typeface="+mn-lt"/>
                <a:ea typeface="+mn-ea"/>
                <a:cs typeface="+mn-cs"/>
              </a:rPr>
              <a:t>V6</a:t>
            </a:r>
            <a:r>
              <a:rPr lang="zh-CN" altLang="en-US" sz="1200" b="0" i="0" kern="1200">
                <a:solidFill>
                  <a:schemeClr val="tx1"/>
                </a:solidFill>
                <a:effectLst/>
                <a:latin typeface="+mn-lt"/>
                <a:ea typeface="+mn-ea"/>
                <a:cs typeface="+mn-cs"/>
              </a:rPr>
              <a:t>割，其剪枝效率远超一个普通的</a:t>
            </a:r>
            <a:r>
              <a:rPr lang="en-US" altLang="zh-CN" sz="1200" b="0" i="0" kern="1200">
                <a:solidFill>
                  <a:schemeClr val="tx1"/>
                </a:solidFill>
                <a:effectLst/>
                <a:latin typeface="+mn-lt"/>
                <a:ea typeface="+mn-ea"/>
                <a:cs typeface="+mn-cs"/>
              </a:rPr>
              <a:t>V1</a:t>
            </a:r>
            <a:r>
              <a:rPr lang="zh-CN" altLang="en-US" sz="1200" b="0" i="0" kern="1200">
                <a:solidFill>
                  <a:schemeClr val="tx1"/>
                </a:solidFill>
                <a:effectLst/>
                <a:latin typeface="+mn-lt"/>
                <a:ea typeface="+mn-ea"/>
                <a:cs typeface="+mn-cs"/>
              </a:rPr>
              <a:t>或</a:t>
            </a:r>
            <a:r>
              <a:rPr lang="en-US" altLang="zh-CN" sz="1200" b="0" i="0" kern="1200">
                <a:solidFill>
                  <a:schemeClr val="tx1"/>
                </a:solidFill>
                <a:effectLst/>
                <a:latin typeface="+mn-lt"/>
                <a:ea typeface="+mn-ea"/>
                <a:cs typeface="+mn-cs"/>
              </a:rPr>
              <a:t>V4</a:t>
            </a:r>
            <a:r>
              <a:rPr lang="zh-CN" altLang="en-US" sz="1200" b="0" i="0" kern="1200">
                <a:solidFill>
                  <a:schemeClr val="tx1"/>
                </a:solidFill>
                <a:effectLst/>
                <a:latin typeface="+mn-lt"/>
                <a:ea typeface="+mn-ea"/>
                <a:cs typeface="+mn-cs"/>
              </a:rPr>
              <a:t>割，从而加速了算法收敛并能在有限时间内找到更优的解。这些数据无可辩驳地证明了</a:t>
            </a:r>
            <a:r>
              <a:rPr lang="en-US" altLang="zh-CN" sz="1200" b="0" i="0" kern="1200">
                <a:solidFill>
                  <a:schemeClr val="tx1"/>
                </a:solidFill>
                <a:effectLst/>
                <a:latin typeface="+mn-lt"/>
                <a:ea typeface="+mn-ea"/>
                <a:cs typeface="+mn-cs"/>
              </a:rPr>
              <a:t>LBBD</a:t>
            </a:r>
            <a:r>
              <a:rPr lang="zh-CN" altLang="en-US" sz="1200" b="0" i="0" kern="1200">
                <a:solidFill>
                  <a:schemeClr val="tx1"/>
                </a:solidFill>
                <a:effectLst/>
                <a:latin typeface="+mn-lt"/>
                <a:ea typeface="+mn-ea"/>
                <a:cs typeface="+mn-cs"/>
              </a:rPr>
              <a:t>算法的优越性。</a:t>
            </a:r>
            <a:endParaRPr lang="en-US" altLang="zh-CN" sz="1200" b="0" i="0" kern="1200">
              <a:solidFill>
                <a:schemeClr val="tx1"/>
              </a:solidFill>
              <a:effectLst/>
              <a:latin typeface="+mn-lt"/>
              <a:ea typeface="+mn-ea"/>
              <a:cs typeface="+mn-cs"/>
            </a:endParaRPr>
          </a:p>
          <a:p>
            <a:br>
              <a:rPr lang="zh-CN" altLang="en-US" sz="1200" b="0" i="0" kern="1200">
                <a:solidFill>
                  <a:schemeClr val="tx1"/>
                </a:solidFill>
                <a:effectLst/>
                <a:latin typeface="+mn-lt"/>
                <a:ea typeface="+mn-ea"/>
                <a:cs typeface="+mn-cs"/>
              </a:rPr>
            </a:br>
            <a:endParaRPr lang="zh-CN" altLang="en-US"/>
          </a:p>
        </p:txBody>
      </p:sp>
      <p:sp>
        <p:nvSpPr>
          <p:cNvPr id="4" name="灯片编号占位符 3">
            <a:extLst>
              <a:ext uri="{FF2B5EF4-FFF2-40B4-BE49-F238E27FC236}">
                <a16:creationId xmlns:a16="http://schemas.microsoft.com/office/drawing/2014/main" id="{9E618310-3D6C-7A13-8EC7-9D80C638B273}"/>
              </a:ext>
            </a:extLst>
          </p:cNvPr>
          <p:cNvSpPr>
            <a:spLocks noGrp="1"/>
          </p:cNvSpPr>
          <p:nvPr>
            <p:ph type="sldNum" sz="quarter" idx="5"/>
          </p:nvPr>
        </p:nvSpPr>
        <p:spPr/>
        <p:txBody>
          <a:bodyPr/>
          <a:lstStyle/>
          <a:p>
            <a:fld id="{52A5A1FA-14FB-46D4-B8A3-2C7A85060E48}" type="slidenum">
              <a:rPr lang="zh-CN" altLang="en-US" smtClean="0"/>
              <a:t>15</a:t>
            </a:fld>
            <a:endParaRPr lang="zh-CN" altLang="en-US"/>
          </a:p>
        </p:txBody>
      </p:sp>
    </p:spTree>
    <p:extLst>
      <p:ext uri="{BB962C8B-B14F-4D97-AF65-F5344CB8AC3E}">
        <p14:creationId xmlns:p14="http://schemas.microsoft.com/office/powerpoint/2010/main" val="28729587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a:solidFill>
                  <a:schemeClr val="tx1"/>
                </a:solidFill>
                <a:effectLst/>
                <a:latin typeface="+mn-lt"/>
                <a:ea typeface="+mn-ea"/>
                <a:cs typeface="+mn-cs"/>
              </a:rPr>
              <a:t>本研究成功地填补了文献中的一个重要空白，为并行离散机器调度与选址问题（</a:t>
            </a:r>
            <a:r>
              <a:rPr lang="en-US" altLang="zh-CN" sz="1200" b="0" i="0" kern="1200">
                <a:solidFill>
                  <a:schemeClr val="tx1"/>
                </a:solidFill>
                <a:effectLst/>
                <a:latin typeface="+mn-lt"/>
                <a:ea typeface="+mn-ea"/>
                <a:cs typeface="+mn-cs"/>
              </a:rPr>
              <a:t>D-ScheLoc</a:t>
            </a:r>
            <a:r>
              <a:rPr lang="zh-CN" altLang="en-US" sz="1200" b="0" i="0" kern="1200">
                <a:solidFill>
                  <a:schemeClr val="tx1"/>
                </a:solidFill>
                <a:effectLst/>
                <a:latin typeface="+mn-lt"/>
                <a:ea typeface="+mn-ea"/>
                <a:cs typeface="+mn-cs"/>
              </a:rPr>
              <a:t>）开发了首个高效的精确求解框架。我认为本文的核心成就在于两个方面：首先，提出了三种新颖的</a:t>
            </a:r>
            <a:r>
              <a:rPr lang="en-US" altLang="zh-CN" sz="1200" b="0" i="0" kern="1200">
                <a:solidFill>
                  <a:schemeClr val="tx1"/>
                </a:solidFill>
                <a:effectLst/>
                <a:latin typeface="+mn-lt"/>
                <a:ea typeface="+mn-ea"/>
                <a:cs typeface="+mn-cs"/>
              </a:rPr>
              <a:t>MILP</a:t>
            </a:r>
            <a:r>
              <a:rPr lang="zh-CN" altLang="en-US" sz="1200" b="0" i="0" kern="1200">
                <a:solidFill>
                  <a:schemeClr val="tx1"/>
                </a:solidFill>
                <a:effectLst/>
                <a:latin typeface="+mn-lt"/>
                <a:ea typeface="+mn-ea"/>
                <a:cs typeface="+mn-cs"/>
              </a:rPr>
              <a:t>模型，这些模型在计算性能上被证明优于现有模型。其次，设计并实现了一个高效的</a:t>
            </a:r>
            <a:r>
              <a:rPr lang="en-US" altLang="zh-CN" sz="1200" b="0" i="0" kern="1200">
                <a:solidFill>
                  <a:schemeClr val="tx1"/>
                </a:solidFill>
                <a:effectLst/>
                <a:latin typeface="+mn-lt"/>
                <a:ea typeface="+mn-ea"/>
                <a:cs typeface="+mn-cs"/>
              </a:rPr>
              <a:t>LBBD</a:t>
            </a:r>
            <a:r>
              <a:rPr lang="zh-CN" altLang="en-US" sz="1200" b="0" i="0" kern="1200">
                <a:solidFill>
                  <a:schemeClr val="tx1"/>
                </a:solidFill>
                <a:effectLst/>
                <a:latin typeface="+mn-lt"/>
                <a:ea typeface="+mn-ea"/>
                <a:cs typeface="+mn-cs"/>
              </a:rPr>
              <a:t>算法，该算法在</a:t>
            </a:r>
            <a:r>
              <a:rPr lang="en-US" altLang="zh-CN" sz="1200" b="0" i="0" kern="1200">
                <a:solidFill>
                  <a:schemeClr val="tx1"/>
                </a:solidFill>
                <a:effectLst/>
                <a:latin typeface="+mn-lt"/>
                <a:ea typeface="+mn-ea"/>
                <a:cs typeface="+mn-cs"/>
              </a:rPr>
              <a:t>1,400</a:t>
            </a:r>
            <a:r>
              <a:rPr lang="zh-CN" altLang="en-US" sz="1200" b="0" i="0" kern="1200">
                <a:solidFill>
                  <a:schemeClr val="tx1"/>
                </a:solidFill>
                <a:effectLst/>
                <a:latin typeface="+mn-lt"/>
                <a:ea typeface="+mn-ea"/>
                <a:cs typeface="+mn-cs"/>
              </a:rPr>
              <a:t>个基准实例上的测试结果表明，其求解质量显著超越了当前最先进的启发式算法，将平均最优性差距从超过</a:t>
            </a:r>
            <a:r>
              <a:rPr lang="en-US" altLang="zh-CN" sz="1200" b="0" i="0" kern="1200">
                <a:solidFill>
                  <a:schemeClr val="tx1"/>
                </a:solidFill>
                <a:effectLst/>
                <a:latin typeface="+mn-lt"/>
                <a:ea typeface="+mn-ea"/>
                <a:cs typeface="+mn-cs"/>
              </a:rPr>
              <a:t>9%</a:t>
            </a:r>
            <a:r>
              <a:rPr lang="zh-CN" altLang="en-US" sz="1200" b="0" i="0" kern="1200">
                <a:solidFill>
                  <a:schemeClr val="tx1"/>
                </a:solidFill>
                <a:effectLst/>
                <a:latin typeface="+mn-lt"/>
                <a:ea typeface="+mn-ea"/>
                <a:cs typeface="+mn-cs"/>
              </a:rPr>
              <a:t>降低到</a:t>
            </a:r>
            <a:r>
              <a:rPr lang="en-US" altLang="zh-CN" sz="1200" b="0" i="0" kern="1200">
                <a:solidFill>
                  <a:schemeClr val="tx1"/>
                </a:solidFill>
                <a:effectLst/>
                <a:latin typeface="+mn-lt"/>
                <a:ea typeface="+mn-ea"/>
                <a:cs typeface="+mn-cs"/>
              </a:rPr>
              <a:t>4%</a:t>
            </a:r>
            <a:r>
              <a:rPr lang="zh-CN" altLang="en-US" sz="1200" b="0" i="0" kern="1200">
                <a:solidFill>
                  <a:schemeClr val="tx1"/>
                </a:solidFill>
                <a:effectLst/>
                <a:latin typeface="+mn-lt"/>
                <a:ea typeface="+mn-ea"/>
                <a:cs typeface="+mn-cs"/>
              </a:rPr>
              <a:t>以下 。核心启示就如屏幕说的那样，证明，通过将强大的数学模型与针对问题特定结构量身定制的分解算法相结合，即使是复杂的大规模</a:t>
            </a:r>
            <a:r>
              <a:rPr lang="en-US" altLang="zh-CN" sz="1200" b="0" i="0" kern="1200">
                <a:solidFill>
                  <a:schemeClr val="tx1"/>
                </a:solidFill>
                <a:effectLst/>
                <a:latin typeface="+mn-lt"/>
                <a:ea typeface="+mn-ea"/>
                <a:cs typeface="+mn-cs"/>
              </a:rPr>
              <a:t>NP-hard</a:t>
            </a:r>
            <a:r>
              <a:rPr lang="zh-CN" altLang="en-US" sz="1200" b="0" i="0" kern="1200">
                <a:solidFill>
                  <a:schemeClr val="tx1"/>
                </a:solidFill>
                <a:effectLst/>
                <a:latin typeface="+mn-lt"/>
                <a:ea typeface="+mn-ea"/>
                <a:cs typeface="+mn-cs"/>
              </a:rPr>
              <a:t>集成优化问题，也能够被求解至接近最优。在未来的科研中，我将把本文的算法应用到实际案例之中。感谢大家的倾听，谢谢大家。</a:t>
            </a:r>
            <a:endParaRPr lang="en-US" altLang="zh-CN" sz="1200" b="0" i="0" kern="1200">
              <a:solidFill>
                <a:schemeClr val="tx1"/>
              </a:solidFill>
              <a:effectLst/>
              <a:latin typeface="+mn-lt"/>
              <a:ea typeface="+mn-ea"/>
              <a:cs typeface="+mn-cs"/>
            </a:endParaRPr>
          </a:p>
          <a:p>
            <a:endParaRPr lang="zh-CN" altLang="en-US"/>
          </a:p>
        </p:txBody>
      </p:sp>
      <p:sp>
        <p:nvSpPr>
          <p:cNvPr id="4" name="灯片编号占位符 3"/>
          <p:cNvSpPr>
            <a:spLocks noGrp="1"/>
          </p:cNvSpPr>
          <p:nvPr>
            <p:ph type="sldNum" sz="quarter" idx="5"/>
          </p:nvPr>
        </p:nvSpPr>
        <p:spPr/>
        <p:txBody>
          <a:bodyPr/>
          <a:lstStyle/>
          <a:p>
            <a:fld id="{52A5A1FA-14FB-46D4-B8A3-2C7A85060E48}" type="slidenum">
              <a:rPr lang="zh-CN" altLang="en-US" smtClean="0"/>
              <a:t>16</a:t>
            </a:fld>
            <a:endParaRPr lang="zh-CN" altLang="en-US"/>
          </a:p>
        </p:txBody>
      </p:sp>
    </p:spTree>
    <p:extLst>
      <p:ext uri="{BB962C8B-B14F-4D97-AF65-F5344CB8AC3E}">
        <p14:creationId xmlns:p14="http://schemas.microsoft.com/office/powerpoint/2010/main" val="1685155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6D3A1-3F05-DDA9-D0EF-9EF8ED19F1A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3E6BF9F-F1C1-4E66-D657-CC3D8A7F3F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C13605C-9E35-EFA4-33A0-B344DE42806C}"/>
              </a:ext>
            </a:extLst>
          </p:cNvPr>
          <p:cNvSpPr>
            <a:spLocks noGrp="1"/>
          </p:cNvSpPr>
          <p:nvPr>
            <p:ph type="dt" sz="half" idx="10"/>
          </p:nvPr>
        </p:nvSpPr>
        <p:spPr/>
        <p:txBody>
          <a:bodyPr/>
          <a:lstStyle/>
          <a:p>
            <a:fld id="{F0BB3E3E-C64F-4D25-9B7A-FC78F2347D4E}" type="datetimeFigureOut">
              <a:rPr lang="zh-CN" altLang="en-US" smtClean="0"/>
              <a:t>2025/10/20</a:t>
            </a:fld>
            <a:endParaRPr lang="zh-CN" altLang="en-US"/>
          </a:p>
        </p:txBody>
      </p:sp>
      <p:sp>
        <p:nvSpPr>
          <p:cNvPr id="5" name="页脚占位符 4">
            <a:extLst>
              <a:ext uri="{FF2B5EF4-FFF2-40B4-BE49-F238E27FC236}">
                <a16:creationId xmlns:a16="http://schemas.microsoft.com/office/drawing/2014/main" id="{4551B2ED-510E-B4CA-7333-1E954B78A0F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0CBA6CD-85D1-F95F-7448-034DABA62D25}"/>
              </a:ext>
            </a:extLst>
          </p:cNvPr>
          <p:cNvSpPr>
            <a:spLocks noGrp="1"/>
          </p:cNvSpPr>
          <p:nvPr>
            <p:ph type="sldNum" sz="quarter" idx="12"/>
          </p:nvPr>
        </p:nvSpPr>
        <p:spPr/>
        <p:txBody>
          <a:bodyPr/>
          <a:lstStyle/>
          <a:p>
            <a:fld id="{DB07F143-B53F-489F-A454-3EAF00AE5A48}" type="slidenum">
              <a:rPr lang="zh-CN" altLang="en-US" smtClean="0"/>
              <a:t>‹#›</a:t>
            </a:fld>
            <a:endParaRPr lang="zh-CN" altLang="en-US"/>
          </a:p>
        </p:txBody>
      </p:sp>
    </p:spTree>
    <p:extLst>
      <p:ext uri="{BB962C8B-B14F-4D97-AF65-F5344CB8AC3E}">
        <p14:creationId xmlns:p14="http://schemas.microsoft.com/office/powerpoint/2010/main" val="34454626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0AE9F9-E5DD-F4DD-1BAC-02EEEDEAA55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62E01D7-D251-E140-D3E2-19F956A9E3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B994C7F-5EE3-36E5-F9F9-3DC16C38A4BC}"/>
              </a:ext>
            </a:extLst>
          </p:cNvPr>
          <p:cNvSpPr>
            <a:spLocks noGrp="1"/>
          </p:cNvSpPr>
          <p:nvPr>
            <p:ph type="dt" sz="half" idx="10"/>
          </p:nvPr>
        </p:nvSpPr>
        <p:spPr/>
        <p:txBody>
          <a:bodyPr/>
          <a:lstStyle/>
          <a:p>
            <a:fld id="{F0BB3E3E-C64F-4D25-9B7A-FC78F2347D4E}" type="datetimeFigureOut">
              <a:rPr lang="zh-CN" altLang="en-US" smtClean="0"/>
              <a:t>2025/10/20</a:t>
            </a:fld>
            <a:endParaRPr lang="zh-CN" altLang="en-US"/>
          </a:p>
        </p:txBody>
      </p:sp>
      <p:sp>
        <p:nvSpPr>
          <p:cNvPr id="5" name="页脚占位符 4">
            <a:extLst>
              <a:ext uri="{FF2B5EF4-FFF2-40B4-BE49-F238E27FC236}">
                <a16:creationId xmlns:a16="http://schemas.microsoft.com/office/drawing/2014/main" id="{1F6D0B0B-7714-F014-F91F-6392A953509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A642FE7-D0F2-381E-51A1-6296CBBEA197}"/>
              </a:ext>
            </a:extLst>
          </p:cNvPr>
          <p:cNvSpPr>
            <a:spLocks noGrp="1"/>
          </p:cNvSpPr>
          <p:nvPr>
            <p:ph type="sldNum" sz="quarter" idx="12"/>
          </p:nvPr>
        </p:nvSpPr>
        <p:spPr/>
        <p:txBody>
          <a:bodyPr/>
          <a:lstStyle/>
          <a:p>
            <a:fld id="{DB07F143-B53F-489F-A454-3EAF00AE5A48}" type="slidenum">
              <a:rPr lang="zh-CN" altLang="en-US" smtClean="0"/>
              <a:t>‹#›</a:t>
            </a:fld>
            <a:endParaRPr lang="zh-CN" altLang="en-US"/>
          </a:p>
        </p:txBody>
      </p:sp>
    </p:spTree>
    <p:extLst>
      <p:ext uri="{BB962C8B-B14F-4D97-AF65-F5344CB8AC3E}">
        <p14:creationId xmlns:p14="http://schemas.microsoft.com/office/powerpoint/2010/main" val="2665049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ED824B-7144-A79E-42D1-502EDC7622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30CC299-3385-FEB9-389B-F502678E99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A80F17F-1BDC-2132-8C47-46F35F02346B}"/>
              </a:ext>
            </a:extLst>
          </p:cNvPr>
          <p:cNvSpPr>
            <a:spLocks noGrp="1"/>
          </p:cNvSpPr>
          <p:nvPr>
            <p:ph type="dt" sz="half" idx="10"/>
          </p:nvPr>
        </p:nvSpPr>
        <p:spPr/>
        <p:txBody>
          <a:bodyPr/>
          <a:lstStyle/>
          <a:p>
            <a:fld id="{F0BB3E3E-C64F-4D25-9B7A-FC78F2347D4E}" type="datetimeFigureOut">
              <a:rPr lang="zh-CN" altLang="en-US" smtClean="0"/>
              <a:t>2025/10/20</a:t>
            </a:fld>
            <a:endParaRPr lang="zh-CN" altLang="en-US"/>
          </a:p>
        </p:txBody>
      </p:sp>
      <p:sp>
        <p:nvSpPr>
          <p:cNvPr id="5" name="页脚占位符 4">
            <a:extLst>
              <a:ext uri="{FF2B5EF4-FFF2-40B4-BE49-F238E27FC236}">
                <a16:creationId xmlns:a16="http://schemas.microsoft.com/office/drawing/2014/main" id="{00FCEA77-CD4E-D37A-0F7A-95676A131AC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A4F0DD-B284-0B72-EBDD-3BD5C43EB018}"/>
              </a:ext>
            </a:extLst>
          </p:cNvPr>
          <p:cNvSpPr>
            <a:spLocks noGrp="1"/>
          </p:cNvSpPr>
          <p:nvPr>
            <p:ph type="sldNum" sz="quarter" idx="12"/>
          </p:nvPr>
        </p:nvSpPr>
        <p:spPr/>
        <p:txBody>
          <a:bodyPr/>
          <a:lstStyle/>
          <a:p>
            <a:fld id="{DB07F143-B53F-489F-A454-3EAF00AE5A48}" type="slidenum">
              <a:rPr lang="zh-CN" altLang="en-US" smtClean="0"/>
              <a:t>‹#›</a:t>
            </a:fld>
            <a:endParaRPr lang="zh-CN" altLang="en-US"/>
          </a:p>
        </p:txBody>
      </p:sp>
    </p:spTree>
    <p:extLst>
      <p:ext uri="{BB962C8B-B14F-4D97-AF65-F5344CB8AC3E}">
        <p14:creationId xmlns:p14="http://schemas.microsoft.com/office/powerpoint/2010/main" val="1679429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23BBE9-07F6-E35D-E787-B736DBA09DD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6109691-AF41-429A-0BE2-338AAC02DEB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5843655-261C-30F3-854B-A42A80921BC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E3C8B16-8457-DE56-9FEE-79C744915130}"/>
              </a:ext>
            </a:extLst>
          </p:cNvPr>
          <p:cNvSpPr>
            <a:spLocks noGrp="1"/>
          </p:cNvSpPr>
          <p:nvPr>
            <p:ph type="dt" sz="half" idx="10"/>
          </p:nvPr>
        </p:nvSpPr>
        <p:spPr/>
        <p:txBody>
          <a:bodyPr/>
          <a:lstStyle/>
          <a:p>
            <a:fld id="{F0BB3E3E-C64F-4D25-9B7A-FC78F2347D4E}" type="datetimeFigureOut">
              <a:rPr lang="zh-CN" altLang="en-US" smtClean="0"/>
              <a:t>2025/10/20</a:t>
            </a:fld>
            <a:endParaRPr lang="zh-CN" altLang="en-US"/>
          </a:p>
        </p:txBody>
      </p:sp>
      <p:sp>
        <p:nvSpPr>
          <p:cNvPr id="6" name="页脚占位符 5">
            <a:extLst>
              <a:ext uri="{FF2B5EF4-FFF2-40B4-BE49-F238E27FC236}">
                <a16:creationId xmlns:a16="http://schemas.microsoft.com/office/drawing/2014/main" id="{9098E286-C94F-D271-DB58-3FC668E8659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80FE02C-232A-9766-789E-1946DC8EDB68}"/>
              </a:ext>
            </a:extLst>
          </p:cNvPr>
          <p:cNvSpPr>
            <a:spLocks noGrp="1"/>
          </p:cNvSpPr>
          <p:nvPr>
            <p:ph type="sldNum" sz="quarter" idx="12"/>
          </p:nvPr>
        </p:nvSpPr>
        <p:spPr/>
        <p:txBody>
          <a:bodyPr/>
          <a:lstStyle/>
          <a:p>
            <a:fld id="{DB07F143-B53F-489F-A454-3EAF00AE5A48}" type="slidenum">
              <a:rPr lang="zh-CN" altLang="en-US" smtClean="0"/>
              <a:t>‹#›</a:t>
            </a:fld>
            <a:endParaRPr lang="zh-CN" altLang="en-US"/>
          </a:p>
        </p:txBody>
      </p:sp>
    </p:spTree>
    <p:extLst>
      <p:ext uri="{BB962C8B-B14F-4D97-AF65-F5344CB8AC3E}">
        <p14:creationId xmlns:p14="http://schemas.microsoft.com/office/powerpoint/2010/main" val="10669842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182A87-68E0-D58F-5877-A9E6E606BAA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588CE2D-752F-7B1B-19FB-4189093734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C013F9E-59BF-B5C4-CDE1-CF0D872F05F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BEEC377-BDC4-734E-DBCF-C92665BACB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5CAB56F-A05B-C4E9-A309-F163DC14D8C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B7028D6-1A95-746F-5BB5-2A9A8E90A934}"/>
              </a:ext>
            </a:extLst>
          </p:cNvPr>
          <p:cNvSpPr>
            <a:spLocks noGrp="1"/>
          </p:cNvSpPr>
          <p:nvPr>
            <p:ph type="dt" sz="half" idx="10"/>
          </p:nvPr>
        </p:nvSpPr>
        <p:spPr/>
        <p:txBody>
          <a:bodyPr/>
          <a:lstStyle/>
          <a:p>
            <a:fld id="{F0BB3E3E-C64F-4D25-9B7A-FC78F2347D4E}" type="datetimeFigureOut">
              <a:rPr lang="zh-CN" altLang="en-US" smtClean="0"/>
              <a:t>2025/10/20</a:t>
            </a:fld>
            <a:endParaRPr lang="zh-CN" altLang="en-US"/>
          </a:p>
        </p:txBody>
      </p:sp>
      <p:sp>
        <p:nvSpPr>
          <p:cNvPr id="8" name="页脚占位符 7">
            <a:extLst>
              <a:ext uri="{FF2B5EF4-FFF2-40B4-BE49-F238E27FC236}">
                <a16:creationId xmlns:a16="http://schemas.microsoft.com/office/drawing/2014/main" id="{475F1293-FF7D-DDD3-32AB-B07B710E844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AF64827-DCF5-4718-7B5F-CAD842475E3C}"/>
              </a:ext>
            </a:extLst>
          </p:cNvPr>
          <p:cNvSpPr>
            <a:spLocks noGrp="1"/>
          </p:cNvSpPr>
          <p:nvPr>
            <p:ph type="sldNum" sz="quarter" idx="12"/>
          </p:nvPr>
        </p:nvSpPr>
        <p:spPr/>
        <p:txBody>
          <a:bodyPr/>
          <a:lstStyle/>
          <a:p>
            <a:fld id="{DB07F143-B53F-489F-A454-3EAF00AE5A48}" type="slidenum">
              <a:rPr lang="zh-CN" altLang="en-US" smtClean="0"/>
              <a:t>‹#›</a:t>
            </a:fld>
            <a:endParaRPr lang="zh-CN" altLang="en-US"/>
          </a:p>
        </p:txBody>
      </p:sp>
    </p:spTree>
    <p:extLst>
      <p:ext uri="{BB962C8B-B14F-4D97-AF65-F5344CB8AC3E}">
        <p14:creationId xmlns:p14="http://schemas.microsoft.com/office/powerpoint/2010/main" val="15591716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814277-2F02-1748-FD37-6F97677AB89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F635E03-3E61-DDD9-E65D-B373869332F1}"/>
              </a:ext>
            </a:extLst>
          </p:cNvPr>
          <p:cNvSpPr>
            <a:spLocks noGrp="1"/>
          </p:cNvSpPr>
          <p:nvPr>
            <p:ph type="dt" sz="half" idx="10"/>
          </p:nvPr>
        </p:nvSpPr>
        <p:spPr/>
        <p:txBody>
          <a:bodyPr/>
          <a:lstStyle/>
          <a:p>
            <a:fld id="{F0BB3E3E-C64F-4D25-9B7A-FC78F2347D4E}" type="datetimeFigureOut">
              <a:rPr lang="zh-CN" altLang="en-US" smtClean="0"/>
              <a:t>2025/10/20</a:t>
            </a:fld>
            <a:endParaRPr lang="zh-CN" altLang="en-US"/>
          </a:p>
        </p:txBody>
      </p:sp>
      <p:sp>
        <p:nvSpPr>
          <p:cNvPr id="4" name="页脚占位符 3">
            <a:extLst>
              <a:ext uri="{FF2B5EF4-FFF2-40B4-BE49-F238E27FC236}">
                <a16:creationId xmlns:a16="http://schemas.microsoft.com/office/drawing/2014/main" id="{945A158F-8278-6D1F-69E7-CCA55B714F6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F72F2B9-BE89-54A7-3F9E-FA5F5044A426}"/>
              </a:ext>
            </a:extLst>
          </p:cNvPr>
          <p:cNvSpPr>
            <a:spLocks noGrp="1"/>
          </p:cNvSpPr>
          <p:nvPr>
            <p:ph type="sldNum" sz="quarter" idx="12"/>
          </p:nvPr>
        </p:nvSpPr>
        <p:spPr/>
        <p:txBody>
          <a:bodyPr/>
          <a:lstStyle/>
          <a:p>
            <a:fld id="{DB07F143-B53F-489F-A454-3EAF00AE5A48}" type="slidenum">
              <a:rPr lang="zh-CN" altLang="en-US" smtClean="0"/>
              <a:t>‹#›</a:t>
            </a:fld>
            <a:endParaRPr lang="zh-CN" altLang="en-US"/>
          </a:p>
        </p:txBody>
      </p:sp>
    </p:spTree>
    <p:extLst>
      <p:ext uri="{BB962C8B-B14F-4D97-AF65-F5344CB8AC3E}">
        <p14:creationId xmlns:p14="http://schemas.microsoft.com/office/powerpoint/2010/main" val="30686081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33FA492-5189-1E32-E1F6-BA6D6924DBB5}"/>
              </a:ext>
            </a:extLst>
          </p:cNvPr>
          <p:cNvSpPr>
            <a:spLocks noGrp="1"/>
          </p:cNvSpPr>
          <p:nvPr>
            <p:ph type="dt" sz="half" idx="10"/>
          </p:nvPr>
        </p:nvSpPr>
        <p:spPr/>
        <p:txBody>
          <a:bodyPr/>
          <a:lstStyle/>
          <a:p>
            <a:fld id="{F0BB3E3E-C64F-4D25-9B7A-FC78F2347D4E}" type="datetimeFigureOut">
              <a:rPr lang="zh-CN" altLang="en-US" smtClean="0"/>
              <a:t>2025/10/20</a:t>
            </a:fld>
            <a:endParaRPr lang="zh-CN" altLang="en-US"/>
          </a:p>
        </p:txBody>
      </p:sp>
      <p:sp>
        <p:nvSpPr>
          <p:cNvPr id="3" name="页脚占位符 2">
            <a:extLst>
              <a:ext uri="{FF2B5EF4-FFF2-40B4-BE49-F238E27FC236}">
                <a16:creationId xmlns:a16="http://schemas.microsoft.com/office/drawing/2014/main" id="{20C7F53C-1462-1129-F653-0AB9E8BD634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2F8CA35-3ADE-2A14-6E87-34836109497B}"/>
              </a:ext>
            </a:extLst>
          </p:cNvPr>
          <p:cNvSpPr>
            <a:spLocks noGrp="1"/>
          </p:cNvSpPr>
          <p:nvPr>
            <p:ph type="sldNum" sz="quarter" idx="12"/>
          </p:nvPr>
        </p:nvSpPr>
        <p:spPr/>
        <p:txBody>
          <a:bodyPr/>
          <a:lstStyle/>
          <a:p>
            <a:fld id="{DB07F143-B53F-489F-A454-3EAF00AE5A48}" type="slidenum">
              <a:rPr lang="zh-CN" altLang="en-US" smtClean="0"/>
              <a:t>‹#›</a:t>
            </a:fld>
            <a:endParaRPr lang="zh-CN" altLang="en-US"/>
          </a:p>
        </p:txBody>
      </p:sp>
    </p:spTree>
    <p:extLst>
      <p:ext uri="{BB962C8B-B14F-4D97-AF65-F5344CB8AC3E}">
        <p14:creationId xmlns:p14="http://schemas.microsoft.com/office/powerpoint/2010/main" val="22364968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67BC4F-2422-D80A-E0BB-CDDC5F5E6E8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2FCC3B9-2EA9-61A8-CE70-34C96EB75B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E59DD6B0-3FC2-6389-F448-B0AE8B8A40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C759781-6D82-D271-F612-ADD3698BB594}"/>
              </a:ext>
            </a:extLst>
          </p:cNvPr>
          <p:cNvSpPr>
            <a:spLocks noGrp="1"/>
          </p:cNvSpPr>
          <p:nvPr>
            <p:ph type="dt" sz="half" idx="10"/>
          </p:nvPr>
        </p:nvSpPr>
        <p:spPr/>
        <p:txBody>
          <a:bodyPr/>
          <a:lstStyle/>
          <a:p>
            <a:fld id="{F0BB3E3E-C64F-4D25-9B7A-FC78F2347D4E}" type="datetimeFigureOut">
              <a:rPr lang="zh-CN" altLang="en-US" smtClean="0"/>
              <a:t>2025/10/20</a:t>
            </a:fld>
            <a:endParaRPr lang="zh-CN" altLang="en-US"/>
          </a:p>
        </p:txBody>
      </p:sp>
      <p:sp>
        <p:nvSpPr>
          <p:cNvPr id="6" name="页脚占位符 5">
            <a:extLst>
              <a:ext uri="{FF2B5EF4-FFF2-40B4-BE49-F238E27FC236}">
                <a16:creationId xmlns:a16="http://schemas.microsoft.com/office/drawing/2014/main" id="{693B6B49-8630-38A9-EF7D-2EE44E724C0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FAE2DBD-6F13-9744-8C61-F0110BB52288}"/>
              </a:ext>
            </a:extLst>
          </p:cNvPr>
          <p:cNvSpPr>
            <a:spLocks noGrp="1"/>
          </p:cNvSpPr>
          <p:nvPr>
            <p:ph type="sldNum" sz="quarter" idx="12"/>
          </p:nvPr>
        </p:nvSpPr>
        <p:spPr/>
        <p:txBody>
          <a:bodyPr/>
          <a:lstStyle/>
          <a:p>
            <a:fld id="{DB07F143-B53F-489F-A454-3EAF00AE5A48}" type="slidenum">
              <a:rPr lang="zh-CN" altLang="en-US" smtClean="0"/>
              <a:t>‹#›</a:t>
            </a:fld>
            <a:endParaRPr lang="zh-CN" altLang="en-US"/>
          </a:p>
        </p:txBody>
      </p:sp>
    </p:spTree>
    <p:extLst>
      <p:ext uri="{BB962C8B-B14F-4D97-AF65-F5344CB8AC3E}">
        <p14:creationId xmlns:p14="http://schemas.microsoft.com/office/powerpoint/2010/main" val="25264456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96BF62-7167-FA1F-74DF-807A7CEBCB1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8F7E9F0-5887-0A0C-94EF-1D5655A938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CDDB6B3-05D6-ED5D-02FD-A24EDFB558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006DB4F-134F-03E2-D929-7898C191B851}"/>
              </a:ext>
            </a:extLst>
          </p:cNvPr>
          <p:cNvSpPr>
            <a:spLocks noGrp="1"/>
          </p:cNvSpPr>
          <p:nvPr>
            <p:ph type="dt" sz="half" idx="10"/>
          </p:nvPr>
        </p:nvSpPr>
        <p:spPr/>
        <p:txBody>
          <a:bodyPr/>
          <a:lstStyle/>
          <a:p>
            <a:fld id="{F0BB3E3E-C64F-4D25-9B7A-FC78F2347D4E}" type="datetimeFigureOut">
              <a:rPr lang="zh-CN" altLang="en-US" smtClean="0"/>
              <a:t>2025/10/20</a:t>
            </a:fld>
            <a:endParaRPr lang="zh-CN" altLang="en-US"/>
          </a:p>
        </p:txBody>
      </p:sp>
      <p:sp>
        <p:nvSpPr>
          <p:cNvPr id="6" name="页脚占位符 5">
            <a:extLst>
              <a:ext uri="{FF2B5EF4-FFF2-40B4-BE49-F238E27FC236}">
                <a16:creationId xmlns:a16="http://schemas.microsoft.com/office/drawing/2014/main" id="{465BEBE2-2969-72E3-1058-2378562B30E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587E53C-6CC4-46D4-57CA-5432B2DB4585}"/>
              </a:ext>
            </a:extLst>
          </p:cNvPr>
          <p:cNvSpPr>
            <a:spLocks noGrp="1"/>
          </p:cNvSpPr>
          <p:nvPr>
            <p:ph type="sldNum" sz="quarter" idx="12"/>
          </p:nvPr>
        </p:nvSpPr>
        <p:spPr/>
        <p:txBody>
          <a:bodyPr/>
          <a:lstStyle/>
          <a:p>
            <a:fld id="{DB07F143-B53F-489F-A454-3EAF00AE5A48}" type="slidenum">
              <a:rPr lang="zh-CN" altLang="en-US" smtClean="0"/>
              <a:t>‹#›</a:t>
            </a:fld>
            <a:endParaRPr lang="zh-CN" altLang="en-US"/>
          </a:p>
        </p:txBody>
      </p:sp>
    </p:spTree>
    <p:extLst>
      <p:ext uri="{BB962C8B-B14F-4D97-AF65-F5344CB8AC3E}">
        <p14:creationId xmlns:p14="http://schemas.microsoft.com/office/powerpoint/2010/main" val="24359445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1444C3-FC71-D666-C64C-9080EA334F5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54B59F3-78A2-9BF8-1A08-44C46A74B26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07B3851-CF59-29BC-0158-B10E0C69FE2C}"/>
              </a:ext>
            </a:extLst>
          </p:cNvPr>
          <p:cNvSpPr>
            <a:spLocks noGrp="1"/>
          </p:cNvSpPr>
          <p:nvPr>
            <p:ph type="dt" sz="half" idx="10"/>
          </p:nvPr>
        </p:nvSpPr>
        <p:spPr/>
        <p:txBody>
          <a:bodyPr/>
          <a:lstStyle/>
          <a:p>
            <a:fld id="{F0BB3E3E-C64F-4D25-9B7A-FC78F2347D4E}" type="datetimeFigureOut">
              <a:rPr lang="zh-CN" altLang="en-US" smtClean="0"/>
              <a:t>2025/10/20</a:t>
            </a:fld>
            <a:endParaRPr lang="zh-CN" altLang="en-US"/>
          </a:p>
        </p:txBody>
      </p:sp>
      <p:sp>
        <p:nvSpPr>
          <p:cNvPr id="5" name="页脚占位符 4">
            <a:extLst>
              <a:ext uri="{FF2B5EF4-FFF2-40B4-BE49-F238E27FC236}">
                <a16:creationId xmlns:a16="http://schemas.microsoft.com/office/drawing/2014/main" id="{D6BECA0E-355A-EBA9-B8AA-A77534278EE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229266B-55E7-49D2-43B5-B872D56DDAAB}"/>
              </a:ext>
            </a:extLst>
          </p:cNvPr>
          <p:cNvSpPr>
            <a:spLocks noGrp="1"/>
          </p:cNvSpPr>
          <p:nvPr>
            <p:ph type="sldNum" sz="quarter" idx="12"/>
          </p:nvPr>
        </p:nvSpPr>
        <p:spPr/>
        <p:txBody>
          <a:bodyPr/>
          <a:lstStyle/>
          <a:p>
            <a:fld id="{DB07F143-B53F-489F-A454-3EAF00AE5A48}" type="slidenum">
              <a:rPr lang="zh-CN" altLang="en-US" smtClean="0"/>
              <a:t>‹#›</a:t>
            </a:fld>
            <a:endParaRPr lang="zh-CN" altLang="en-US"/>
          </a:p>
        </p:txBody>
      </p:sp>
    </p:spTree>
    <p:extLst>
      <p:ext uri="{BB962C8B-B14F-4D97-AF65-F5344CB8AC3E}">
        <p14:creationId xmlns:p14="http://schemas.microsoft.com/office/powerpoint/2010/main" val="27744198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8F7D22C-4D96-1B95-6CF7-3C44FD42D7F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420BE8A-74AB-E1A2-D93D-4D77DAC7990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9FB1AEA-D575-7D53-A21F-BDF65B59078A}"/>
              </a:ext>
            </a:extLst>
          </p:cNvPr>
          <p:cNvSpPr>
            <a:spLocks noGrp="1"/>
          </p:cNvSpPr>
          <p:nvPr>
            <p:ph type="dt" sz="half" idx="10"/>
          </p:nvPr>
        </p:nvSpPr>
        <p:spPr/>
        <p:txBody>
          <a:bodyPr/>
          <a:lstStyle/>
          <a:p>
            <a:fld id="{F0BB3E3E-C64F-4D25-9B7A-FC78F2347D4E}" type="datetimeFigureOut">
              <a:rPr lang="zh-CN" altLang="en-US" smtClean="0"/>
              <a:t>2025/10/20</a:t>
            </a:fld>
            <a:endParaRPr lang="zh-CN" altLang="en-US"/>
          </a:p>
        </p:txBody>
      </p:sp>
      <p:sp>
        <p:nvSpPr>
          <p:cNvPr id="5" name="页脚占位符 4">
            <a:extLst>
              <a:ext uri="{FF2B5EF4-FFF2-40B4-BE49-F238E27FC236}">
                <a16:creationId xmlns:a16="http://schemas.microsoft.com/office/drawing/2014/main" id="{87FDBA12-D5EA-5329-3D0E-10999FCE425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D7DE790-289D-18C2-3B1C-E6C9D449ED7F}"/>
              </a:ext>
            </a:extLst>
          </p:cNvPr>
          <p:cNvSpPr>
            <a:spLocks noGrp="1"/>
          </p:cNvSpPr>
          <p:nvPr>
            <p:ph type="sldNum" sz="quarter" idx="12"/>
          </p:nvPr>
        </p:nvSpPr>
        <p:spPr/>
        <p:txBody>
          <a:bodyPr/>
          <a:lstStyle/>
          <a:p>
            <a:fld id="{DB07F143-B53F-489F-A454-3EAF00AE5A48}" type="slidenum">
              <a:rPr lang="zh-CN" altLang="en-US" smtClean="0"/>
              <a:t>‹#›</a:t>
            </a:fld>
            <a:endParaRPr lang="zh-CN" altLang="en-US"/>
          </a:p>
        </p:txBody>
      </p:sp>
    </p:spTree>
    <p:extLst>
      <p:ext uri="{BB962C8B-B14F-4D97-AF65-F5344CB8AC3E}">
        <p14:creationId xmlns:p14="http://schemas.microsoft.com/office/powerpoint/2010/main" val="34925363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bg>
      <p:bgPr>
        <a:blipFill dpi="0" rotWithShape="1">
          <a:blip r:embed="rId2">
            <a:alphaModFix amt="20000"/>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11942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2_标题和内容">
    <p:bg>
      <p:bgPr>
        <a:blipFill dpi="0" rotWithShape="1">
          <a:blip r:embed="rId2">
            <a:alphaModFix amt="20000"/>
            <a:lum/>
          </a:blip>
          <a:srcRect/>
          <a:stretch>
            <a:fillRect/>
          </a:stretch>
        </a:blipFill>
        <a:effectLst/>
      </p:bgPr>
    </p:bg>
    <p:spTree>
      <p:nvGrpSpPr>
        <p:cNvPr id="1" name=""/>
        <p:cNvGrpSpPr/>
        <p:nvPr/>
      </p:nvGrpSpPr>
      <p:grpSpPr>
        <a:xfrm>
          <a:off x="0" y="0"/>
          <a:ext cx="0" cy="0"/>
          <a:chOff x="0" y="0"/>
          <a:chExt cx="0" cy="0"/>
        </a:xfrm>
      </p:grpSpPr>
      <p:sp>
        <p:nvSpPr>
          <p:cNvPr id="4" name="矩形 3"/>
          <p:cNvSpPr/>
          <p:nvPr userDrawn="1"/>
        </p:nvSpPr>
        <p:spPr>
          <a:xfrm>
            <a:off x="0" y="5125376"/>
            <a:ext cx="12192000" cy="17326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5" name="矩形 4"/>
          <p:cNvSpPr/>
          <p:nvPr userDrawn="1"/>
        </p:nvSpPr>
        <p:spPr>
          <a:xfrm>
            <a:off x="304800" y="971549"/>
            <a:ext cx="11582400" cy="5469467"/>
          </a:xfrm>
          <a:prstGeom prst="rect">
            <a:avLst/>
          </a:prstGeom>
          <a:solidFill>
            <a:schemeClr val="bg1"/>
          </a:solidFill>
          <a:ln>
            <a:solidFill>
              <a:schemeClr val="accent1">
                <a:lumMod val="20000"/>
                <a:lumOff val="80000"/>
              </a:schemeClr>
            </a:solidFill>
          </a:ln>
          <a:effectLst>
            <a:outerShdw blurRad="254000" dist="127000" dir="5400000" sx="96000" sy="96000" algn="t" rotWithShape="0">
              <a:schemeClr val="accent1">
                <a:lumMod val="50000"/>
                <a:alpha val="1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图片占位符 3"/>
          <p:cNvSpPr>
            <a:spLocks noGrp="1"/>
          </p:cNvSpPr>
          <p:nvPr>
            <p:ph type="pic" sz="quarter" idx="11"/>
          </p:nvPr>
        </p:nvSpPr>
        <p:spPr>
          <a:xfrm>
            <a:off x="874469" y="1875903"/>
            <a:ext cx="4925611" cy="2101292"/>
          </a:xfrm>
          <a:prstGeom prst="roundRect">
            <a:avLst>
              <a:gd name="adj" fmla="val 8469"/>
            </a:avLst>
          </a:prstGeom>
        </p:spPr>
        <p:txBody>
          <a:bodyPr/>
          <a:lstStyle/>
          <a:p>
            <a:r>
              <a:rPr lang="zh-CN" altLang="en-US"/>
              <a:t>单击图标添加图片</a:t>
            </a:r>
          </a:p>
        </p:txBody>
      </p:sp>
      <p:sp>
        <p:nvSpPr>
          <p:cNvPr id="7" name="图片占位符 3"/>
          <p:cNvSpPr>
            <a:spLocks noGrp="1"/>
          </p:cNvSpPr>
          <p:nvPr>
            <p:ph type="pic" sz="quarter" idx="12"/>
          </p:nvPr>
        </p:nvSpPr>
        <p:spPr>
          <a:xfrm>
            <a:off x="6331277" y="1875903"/>
            <a:ext cx="4925611" cy="2101292"/>
          </a:xfrm>
          <a:prstGeom prst="roundRect">
            <a:avLst>
              <a:gd name="adj" fmla="val 8469"/>
            </a:avLst>
          </a:prstGeom>
        </p:spPr>
        <p:txBody>
          <a:bodyPr/>
          <a:lstStyle/>
          <a:p>
            <a:r>
              <a:rPr lang="zh-CN" altLang="en-US"/>
              <a:t>单击图标添加图片</a:t>
            </a:r>
          </a:p>
        </p:txBody>
      </p:sp>
    </p:spTree>
    <p:extLst>
      <p:ext uri="{BB962C8B-B14F-4D97-AF65-F5344CB8AC3E}">
        <p14:creationId xmlns:p14="http://schemas.microsoft.com/office/powerpoint/2010/main" val="9134011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5A57515-E468-ABED-3C7E-15E00B4E0A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17A530C-14E7-168B-5DCE-3ABE9C2425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0C63C9A-A33D-0B47-7115-9685F4C619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BB3E3E-C64F-4D25-9B7A-FC78F2347D4E}" type="datetimeFigureOut">
              <a:rPr lang="zh-CN" altLang="en-US" smtClean="0"/>
              <a:t>2025/10/20</a:t>
            </a:fld>
            <a:endParaRPr lang="zh-CN" altLang="en-US"/>
          </a:p>
        </p:txBody>
      </p:sp>
      <p:sp>
        <p:nvSpPr>
          <p:cNvPr id="5" name="页脚占位符 4">
            <a:extLst>
              <a:ext uri="{FF2B5EF4-FFF2-40B4-BE49-F238E27FC236}">
                <a16:creationId xmlns:a16="http://schemas.microsoft.com/office/drawing/2014/main" id="{8771CEBA-436A-CC20-80CF-744F87550D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C560BDF-3DFB-5BF1-EF79-03AFEB4208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07F143-B53F-489F-A454-3EAF00AE5A48}" type="slidenum">
              <a:rPr lang="zh-CN" altLang="en-US" smtClean="0"/>
              <a:t>‹#›</a:t>
            </a:fld>
            <a:endParaRPr lang="zh-CN" altLang="en-US"/>
          </a:p>
        </p:txBody>
      </p:sp>
    </p:spTree>
    <p:extLst>
      <p:ext uri="{BB962C8B-B14F-4D97-AF65-F5344CB8AC3E}">
        <p14:creationId xmlns:p14="http://schemas.microsoft.com/office/powerpoint/2010/main" val="32489046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5.png"/><Relationship Id="rId9"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7.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1.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8.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microsoft.com/office/2007/relationships/hdphoto" Target="../media/hdphoto1.wdp"/><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4.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3.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microsoft.com/office/2007/relationships/hdphoto" Target="../media/hdphoto1.wdp"/><Relationship Id="rId9"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png"/><Relationship Id="rId7"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microsoft.com/office/2007/relationships/hdphoto" Target="../media/hdphoto1.wdp"/><Relationship Id="rId9" Type="http://schemas.openxmlformats.org/officeDocument/2006/relationships/image" Target="../media/image4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45.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9D4A5FB-954F-1DCA-1322-159BD2ED36D8}"/>
              </a:ext>
            </a:extLst>
          </p:cNvPr>
          <p:cNvPicPr>
            <a:picLocks noChangeAspect="1"/>
          </p:cNvPicPr>
          <p:nvPr/>
        </p:nvPicPr>
        <p:blipFill>
          <a:blip r:embed="rId3"/>
          <a:stretch>
            <a:fillRect/>
          </a:stretch>
        </p:blipFill>
        <p:spPr>
          <a:xfrm>
            <a:off x="505411" y="193727"/>
            <a:ext cx="5010003" cy="6470546"/>
          </a:xfrm>
          <a:prstGeom prst="rect">
            <a:avLst/>
          </a:prstGeom>
          <a:ln>
            <a:noFill/>
          </a:ln>
          <a:effectLst>
            <a:outerShdw blurRad="190500" algn="tl" rotWithShape="0">
              <a:srgbClr val="000000">
                <a:alpha val="70000"/>
              </a:srgbClr>
            </a:outerShdw>
          </a:effectLst>
        </p:spPr>
      </p:pic>
      <p:grpSp>
        <p:nvGrpSpPr>
          <p:cNvPr id="5" name="组合 4">
            <a:extLst>
              <a:ext uri="{FF2B5EF4-FFF2-40B4-BE49-F238E27FC236}">
                <a16:creationId xmlns:a16="http://schemas.microsoft.com/office/drawing/2014/main" id="{7A2F0F88-60C8-9EBE-A1D2-96EB3801716C}"/>
              </a:ext>
            </a:extLst>
          </p:cNvPr>
          <p:cNvGrpSpPr/>
          <p:nvPr/>
        </p:nvGrpSpPr>
        <p:grpSpPr>
          <a:xfrm>
            <a:off x="6400908" y="1951399"/>
            <a:ext cx="4819096" cy="3289066"/>
            <a:chOff x="6251895" y="1484039"/>
            <a:chExt cx="4819096" cy="3289066"/>
          </a:xfrm>
        </p:grpSpPr>
        <p:grpSp>
          <p:nvGrpSpPr>
            <p:cNvPr id="9" name="组合 8">
              <a:extLst>
                <a:ext uri="{FF2B5EF4-FFF2-40B4-BE49-F238E27FC236}">
                  <a16:creationId xmlns:a16="http://schemas.microsoft.com/office/drawing/2014/main" id="{CFC4374A-5256-642A-C468-2B2D18D2E331}"/>
                </a:ext>
              </a:extLst>
            </p:cNvPr>
            <p:cNvGrpSpPr/>
            <p:nvPr/>
          </p:nvGrpSpPr>
          <p:grpSpPr>
            <a:xfrm>
              <a:off x="6251895" y="1484039"/>
              <a:ext cx="4732751" cy="3289066"/>
              <a:chOff x="3729625" y="4496844"/>
              <a:chExt cx="4732751" cy="3289066"/>
            </a:xfrm>
          </p:grpSpPr>
          <p:sp>
            <p:nvSpPr>
              <p:cNvPr id="6" name="文本框 5">
                <a:extLst>
                  <a:ext uri="{FF2B5EF4-FFF2-40B4-BE49-F238E27FC236}">
                    <a16:creationId xmlns:a16="http://schemas.microsoft.com/office/drawing/2014/main" id="{1548BD7D-C4D9-1C19-4D56-C1ABE9F4D606}"/>
                  </a:ext>
                </a:extLst>
              </p:cNvPr>
              <p:cNvSpPr txBox="1"/>
              <p:nvPr/>
            </p:nvSpPr>
            <p:spPr>
              <a:xfrm>
                <a:off x="3729625" y="4496844"/>
                <a:ext cx="4732751" cy="769441"/>
              </a:xfrm>
              <a:prstGeom prst="rect">
                <a:avLst/>
              </a:prstGeom>
              <a:noFill/>
            </p:spPr>
            <p:txBody>
              <a:bodyPr wrap="square" rtlCol="0">
                <a:spAutoFit/>
              </a:bodyPr>
              <a:lstStyle/>
              <a:p>
                <a:r>
                  <a:rPr lang="zh-CN" altLang="en-US" sz="4400">
                    <a:latin typeface="方正小标宋简体" panose="02010601030101010101" pitchFamily="2" charset="-122"/>
                    <a:ea typeface="方正小标宋简体" panose="02010601030101010101" pitchFamily="2" charset="-122"/>
                  </a:rPr>
                  <a:t>论文研究课堂报告</a:t>
                </a:r>
              </a:p>
            </p:txBody>
          </p:sp>
          <p:sp>
            <p:nvSpPr>
              <p:cNvPr id="7" name="文本框 6">
                <a:extLst>
                  <a:ext uri="{FF2B5EF4-FFF2-40B4-BE49-F238E27FC236}">
                    <a16:creationId xmlns:a16="http://schemas.microsoft.com/office/drawing/2014/main" id="{3E21E268-2E05-9DD5-8967-E3643F1470E1}"/>
                  </a:ext>
                </a:extLst>
              </p:cNvPr>
              <p:cNvSpPr txBox="1"/>
              <p:nvPr/>
            </p:nvSpPr>
            <p:spPr>
              <a:xfrm>
                <a:off x="5178468" y="6807255"/>
                <a:ext cx="1835063" cy="369332"/>
              </a:xfrm>
              <a:prstGeom prst="rect">
                <a:avLst/>
              </a:prstGeom>
              <a:noFill/>
            </p:spPr>
            <p:txBody>
              <a:bodyPr wrap="square" rtlCol="0">
                <a:spAutoFit/>
              </a:bodyPr>
              <a:lstStyle/>
              <a:p>
                <a:r>
                  <a:rPr lang="zh-CN" altLang="en-US">
                    <a:latin typeface="方正小标宋简体" panose="02010601030101010101" pitchFamily="2" charset="-122"/>
                    <a:ea typeface="方正小标宋简体" panose="02010601030101010101" pitchFamily="2" charset="-122"/>
                  </a:rPr>
                  <a:t>研究人：栾智健</a:t>
                </a:r>
              </a:p>
            </p:txBody>
          </p:sp>
          <p:sp>
            <p:nvSpPr>
              <p:cNvPr id="8" name="文本框 7">
                <a:extLst>
                  <a:ext uri="{FF2B5EF4-FFF2-40B4-BE49-F238E27FC236}">
                    <a16:creationId xmlns:a16="http://schemas.microsoft.com/office/drawing/2014/main" id="{85B4DEFC-8524-3DAE-588D-E6C1ED66C848}"/>
                  </a:ext>
                </a:extLst>
              </p:cNvPr>
              <p:cNvSpPr txBox="1"/>
              <p:nvPr/>
            </p:nvSpPr>
            <p:spPr>
              <a:xfrm>
                <a:off x="4956583" y="7416578"/>
                <a:ext cx="2592888" cy="369332"/>
              </a:xfrm>
              <a:prstGeom prst="rect">
                <a:avLst/>
              </a:prstGeom>
              <a:noFill/>
            </p:spPr>
            <p:txBody>
              <a:bodyPr wrap="square" rtlCol="0">
                <a:spAutoFit/>
              </a:bodyPr>
              <a:lstStyle/>
              <a:p>
                <a:r>
                  <a:rPr lang="zh-CN" altLang="en-US">
                    <a:latin typeface="方正小标宋简体" panose="02010601030101010101" pitchFamily="2" charset="-122"/>
                    <a:ea typeface="方正小标宋简体" panose="02010601030101010101" pitchFamily="2" charset="-122"/>
                  </a:rPr>
                  <a:t>研究时间：</a:t>
                </a:r>
                <a:r>
                  <a:rPr lang="en-US" altLang="zh-CN">
                    <a:latin typeface="方正小标宋简体" panose="02010601030101010101" pitchFamily="2" charset="-122"/>
                    <a:ea typeface="方正小标宋简体" panose="02010601030101010101" pitchFamily="2" charset="-122"/>
                  </a:rPr>
                  <a:t>2025.10.18</a:t>
                </a:r>
                <a:endParaRPr lang="zh-CN" altLang="en-US">
                  <a:latin typeface="方正小标宋简体" panose="02010601030101010101" pitchFamily="2" charset="-122"/>
                  <a:ea typeface="方正小标宋简体" panose="02010601030101010101" pitchFamily="2" charset="-122"/>
                </a:endParaRPr>
              </a:p>
            </p:txBody>
          </p:sp>
        </p:grpSp>
        <p:sp>
          <p:nvSpPr>
            <p:cNvPr id="4" name="文本框 3">
              <a:extLst>
                <a:ext uri="{FF2B5EF4-FFF2-40B4-BE49-F238E27FC236}">
                  <a16:creationId xmlns:a16="http://schemas.microsoft.com/office/drawing/2014/main" id="{5F5BF4EC-8759-A972-3AD3-2762ABCDBF83}"/>
                </a:ext>
              </a:extLst>
            </p:cNvPr>
            <p:cNvSpPr txBox="1"/>
            <p:nvPr/>
          </p:nvSpPr>
          <p:spPr>
            <a:xfrm>
              <a:off x="6488784" y="2762355"/>
              <a:ext cx="4582207" cy="523220"/>
            </a:xfrm>
            <a:prstGeom prst="rect">
              <a:avLst/>
            </a:prstGeom>
            <a:noFill/>
          </p:spPr>
          <p:txBody>
            <a:bodyPr wrap="square" rtlCol="0">
              <a:spAutoFit/>
            </a:bodyPr>
            <a:lstStyle/>
            <a:p>
              <a:r>
                <a:rPr lang="en-US" altLang="zh-CN" sz="2800">
                  <a:latin typeface="汉仪大宋简" panose="02010600000101010101" pitchFamily="2" charset="-122"/>
                  <a:ea typeface="汉仪大宋简" panose="02010600000101010101" pitchFamily="2" charset="-122"/>
                </a:rPr>
                <a:t>——</a:t>
              </a:r>
              <a:r>
                <a:rPr lang="zh-CN" altLang="en-US" sz="2800">
                  <a:latin typeface="汉仪大宋简" panose="02010600000101010101" pitchFamily="2" charset="-122"/>
                  <a:ea typeface="汉仪大宋简" panose="02010600000101010101" pitchFamily="2" charset="-122"/>
                </a:rPr>
                <a:t>港口管理优化决策</a:t>
              </a:r>
              <a:r>
                <a:rPr lang="en-US" altLang="zh-CN" sz="2800">
                  <a:latin typeface="汉仪大宋简" panose="02010600000101010101" pitchFamily="2" charset="-122"/>
                  <a:ea typeface="汉仪大宋简" panose="02010600000101010101" pitchFamily="2" charset="-122"/>
                </a:rPr>
                <a:t>——</a:t>
              </a:r>
              <a:endParaRPr lang="zh-CN" altLang="en-US" sz="2800">
                <a:latin typeface="汉仪大宋简" panose="02010600000101010101" pitchFamily="2" charset="-122"/>
                <a:ea typeface="汉仪大宋简" panose="02010600000101010101" pitchFamily="2" charset="-122"/>
              </a:endParaRPr>
            </a:p>
          </p:txBody>
        </p:sp>
      </p:grpSp>
      <p:pic>
        <p:nvPicPr>
          <p:cNvPr id="2" name="图片 1">
            <a:extLst>
              <a:ext uri="{FF2B5EF4-FFF2-40B4-BE49-F238E27FC236}">
                <a16:creationId xmlns:a16="http://schemas.microsoft.com/office/drawing/2014/main" id="{7EEB9BDA-F0C0-947C-AAB9-06E033231AFC}"/>
              </a:ext>
            </a:extLst>
          </p:cNvPr>
          <p:cNvPicPr>
            <a:picLocks noChangeAspect="1"/>
          </p:cNvPicPr>
          <p:nvPr/>
        </p:nvPicPr>
        <p:blipFill>
          <a:blip r:embed="rId4">
            <a:duotone>
              <a:prstClr val="black"/>
              <a:schemeClr val="accent1">
                <a:tint val="45000"/>
                <a:satMod val="400000"/>
              </a:schemeClr>
            </a:duotone>
            <a:extLst>
              <a:ext uri="{BEBA8EAE-BF5A-486C-A8C5-ECC9F3942E4B}">
                <a14:imgProps xmlns:a14="http://schemas.microsoft.com/office/drawing/2010/main">
                  <a14:imgLayer r:embed="rId5">
                    <a14:imgEffect>
                      <a14:colorTemperature colorTemp="1500"/>
                    </a14:imgEffect>
                    <a14:imgEffect>
                      <a14:saturation sat="0"/>
                    </a14:imgEffect>
                  </a14:imgLayer>
                </a14:imgProps>
              </a:ext>
              <a:ext uri="{28A0092B-C50C-407E-A947-70E740481C1C}">
                <a14:useLocalDpi xmlns:a14="http://schemas.microsoft.com/office/drawing/2010/main" val="0"/>
              </a:ext>
            </a:extLst>
          </a:blip>
          <a:stretch>
            <a:fillRect/>
          </a:stretch>
        </p:blipFill>
        <p:spPr>
          <a:xfrm>
            <a:off x="9045810" y="106138"/>
            <a:ext cx="3070066" cy="596957"/>
          </a:xfrm>
          <a:prstGeom prst="rect">
            <a:avLst/>
          </a:prstGeom>
        </p:spPr>
      </p:pic>
      <p:grpSp>
        <p:nvGrpSpPr>
          <p:cNvPr id="17" name="组合 16">
            <a:extLst>
              <a:ext uri="{FF2B5EF4-FFF2-40B4-BE49-F238E27FC236}">
                <a16:creationId xmlns:a16="http://schemas.microsoft.com/office/drawing/2014/main" id="{A3BFD110-D1C4-057D-1B68-156D5818D68E}"/>
              </a:ext>
            </a:extLst>
          </p:cNvPr>
          <p:cNvGrpSpPr/>
          <p:nvPr/>
        </p:nvGrpSpPr>
        <p:grpSpPr>
          <a:xfrm>
            <a:off x="-12329839" y="3277836"/>
            <a:ext cx="12192000" cy="810567"/>
            <a:chOff x="0" y="3277836"/>
            <a:chExt cx="12192000" cy="810567"/>
          </a:xfrm>
        </p:grpSpPr>
        <p:sp>
          <p:nvSpPr>
            <p:cNvPr id="18" name="矩形: 圆角 17">
              <a:extLst>
                <a:ext uri="{FF2B5EF4-FFF2-40B4-BE49-F238E27FC236}">
                  <a16:creationId xmlns:a16="http://schemas.microsoft.com/office/drawing/2014/main" id="{29AB62D0-4092-66A3-5629-F83A626CA9E8}"/>
                </a:ext>
              </a:extLst>
            </p:cNvPr>
            <p:cNvSpPr/>
            <p:nvPr/>
          </p:nvSpPr>
          <p:spPr>
            <a:xfrm>
              <a:off x="1484890" y="3308703"/>
              <a:ext cx="2197161" cy="779700"/>
            </a:xfrm>
            <a:prstGeom prst="roundRect">
              <a:avLst>
                <a:gd name="adj" fmla="val 50000"/>
              </a:avLst>
            </a:prstGeom>
            <a:gradFill flip="none" rotWithShape="1">
              <a:gsLst>
                <a:gs pos="97345">
                  <a:schemeClr val="accent1"/>
                </a:gs>
                <a:gs pos="0">
                  <a:schemeClr val="accent1">
                    <a:lumMod val="60000"/>
                    <a:lumOff val="40000"/>
                  </a:schemeClr>
                </a:gs>
              </a:gsLst>
              <a:lin ang="2700000" scaled="1"/>
              <a:tileRect/>
            </a:gradFill>
            <a:ln>
              <a:noFill/>
            </a:ln>
            <a:effectLst>
              <a:outerShdw blurRad="279400" dist="1016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latin typeface="方正小标宋简体" panose="02010601030101010101" pitchFamily="2" charset="-122"/>
                  <a:ea typeface="方正小标宋简体" panose="02010601030101010101" pitchFamily="2" charset="-122"/>
                </a:rPr>
                <a:t>第一步</a:t>
              </a:r>
              <a:endParaRPr lang="zh-CN" altLang="en-US" sz="2400" b="1" dirty="0">
                <a:latin typeface="方正小标宋简体" panose="02010601030101010101" pitchFamily="2" charset="-122"/>
                <a:ea typeface="方正小标宋简体" panose="02010601030101010101" pitchFamily="2" charset="-122"/>
              </a:endParaRPr>
            </a:p>
          </p:txBody>
        </p:sp>
        <p:sp>
          <p:nvSpPr>
            <p:cNvPr id="19" name="矩形: 圆角 18">
              <a:extLst>
                <a:ext uri="{FF2B5EF4-FFF2-40B4-BE49-F238E27FC236}">
                  <a16:creationId xmlns:a16="http://schemas.microsoft.com/office/drawing/2014/main" id="{AB8A3921-430E-840C-2C4D-9397B9ED1441}"/>
                </a:ext>
              </a:extLst>
            </p:cNvPr>
            <p:cNvSpPr/>
            <p:nvPr/>
          </p:nvSpPr>
          <p:spPr>
            <a:xfrm>
              <a:off x="3857584" y="3308703"/>
              <a:ext cx="2197161" cy="779700"/>
            </a:xfrm>
            <a:prstGeom prst="roundRect">
              <a:avLst>
                <a:gd name="adj" fmla="val 50000"/>
              </a:avLst>
            </a:prstGeom>
            <a:gradFill flip="none" rotWithShape="1">
              <a:gsLst>
                <a:gs pos="97345">
                  <a:schemeClr val="accent1"/>
                </a:gs>
                <a:gs pos="0">
                  <a:schemeClr val="accent1">
                    <a:lumMod val="60000"/>
                    <a:lumOff val="40000"/>
                  </a:schemeClr>
                </a:gs>
              </a:gsLst>
              <a:lin ang="2700000" scaled="1"/>
              <a:tileRect/>
            </a:gradFill>
            <a:ln>
              <a:noFill/>
            </a:ln>
            <a:effectLst>
              <a:outerShdw blurRad="279400" dist="1016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latin typeface="方正小标宋简体" panose="02010601030101010101" pitchFamily="2" charset="-122"/>
                  <a:ea typeface="方正小标宋简体" panose="02010601030101010101" pitchFamily="2" charset="-122"/>
                </a:rPr>
                <a:t>第二步</a:t>
              </a:r>
              <a:endParaRPr lang="en-US" altLang="zh-CN" sz="2400" b="1" dirty="0">
                <a:latin typeface="方正小标宋简体" panose="02010601030101010101" pitchFamily="2" charset="-122"/>
                <a:ea typeface="方正小标宋简体" panose="02010601030101010101" pitchFamily="2" charset="-122"/>
              </a:endParaRPr>
            </a:p>
          </p:txBody>
        </p:sp>
        <p:sp>
          <p:nvSpPr>
            <p:cNvPr id="20" name="矩形: 圆角 19">
              <a:extLst>
                <a:ext uri="{FF2B5EF4-FFF2-40B4-BE49-F238E27FC236}">
                  <a16:creationId xmlns:a16="http://schemas.microsoft.com/office/drawing/2014/main" id="{AB7541C6-A50A-27E4-B323-DC6C0BE5784A}"/>
                </a:ext>
              </a:extLst>
            </p:cNvPr>
            <p:cNvSpPr/>
            <p:nvPr/>
          </p:nvSpPr>
          <p:spPr>
            <a:xfrm>
              <a:off x="6195978" y="3308703"/>
              <a:ext cx="2197161" cy="779700"/>
            </a:xfrm>
            <a:prstGeom prst="roundRect">
              <a:avLst>
                <a:gd name="adj" fmla="val 50000"/>
              </a:avLst>
            </a:prstGeom>
            <a:gradFill flip="none" rotWithShape="1">
              <a:gsLst>
                <a:gs pos="97345">
                  <a:schemeClr val="accent1"/>
                </a:gs>
                <a:gs pos="0">
                  <a:schemeClr val="accent1">
                    <a:lumMod val="60000"/>
                    <a:lumOff val="40000"/>
                  </a:schemeClr>
                </a:gs>
              </a:gsLst>
              <a:lin ang="2700000" scaled="1"/>
              <a:tileRect/>
            </a:gradFill>
            <a:ln>
              <a:noFill/>
            </a:ln>
            <a:effectLst>
              <a:outerShdw blurRad="279400" dist="1016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latin typeface="方正小标宋简体" panose="02010601030101010101" pitchFamily="2" charset="-122"/>
                  <a:ea typeface="方正小标宋简体" panose="02010601030101010101" pitchFamily="2" charset="-122"/>
                </a:rPr>
                <a:t>第三步</a:t>
              </a:r>
              <a:endParaRPr lang="en-US" altLang="zh-CN" sz="2400" b="1" dirty="0">
                <a:latin typeface="方正小标宋简体" panose="02010601030101010101" pitchFamily="2" charset="-122"/>
                <a:ea typeface="方正小标宋简体" panose="02010601030101010101" pitchFamily="2" charset="-122"/>
              </a:endParaRPr>
            </a:p>
          </p:txBody>
        </p:sp>
        <p:sp>
          <p:nvSpPr>
            <p:cNvPr id="21" name="矩形: 圆角 20">
              <a:extLst>
                <a:ext uri="{FF2B5EF4-FFF2-40B4-BE49-F238E27FC236}">
                  <a16:creationId xmlns:a16="http://schemas.microsoft.com/office/drawing/2014/main" id="{CE220CF4-91B5-9F85-086A-104BBEDAB9E9}"/>
                </a:ext>
              </a:extLst>
            </p:cNvPr>
            <p:cNvSpPr/>
            <p:nvPr/>
          </p:nvSpPr>
          <p:spPr>
            <a:xfrm>
              <a:off x="8534373" y="3308703"/>
              <a:ext cx="2197161" cy="779700"/>
            </a:xfrm>
            <a:prstGeom prst="roundRect">
              <a:avLst>
                <a:gd name="adj" fmla="val 50000"/>
              </a:avLst>
            </a:prstGeom>
            <a:gradFill flip="none" rotWithShape="1">
              <a:gsLst>
                <a:gs pos="97345">
                  <a:schemeClr val="accent1"/>
                </a:gs>
                <a:gs pos="0">
                  <a:schemeClr val="accent1">
                    <a:lumMod val="60000"/>
                    <a:lumOff val="40000"/>
                  </a:schemeClr>
                </a:gs>
              </a:gsLst>
              <a:lin ang="2700000" scaled="1"/>
              <a:tileRect/>
            </a:gradFill>
            <a:ln>
              <a:noFill/>
            </a:ln>
            <a:effectLst>
              <a:outerShdw blurRad="279400" dist="1016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latin typeface="方正小标宋简体" panose="02010601030101010101" pitchFamily="2" charset="-122"/>
                  <a:ea typeface="方正小标宋简体" panose="02010601030101010101" pitchFamily="2" charset="-122"/>
                </a:rPr>
                <a:t>第四步</a:t>
              </a:r>
              <a:endParaRPr lang="en-US" altLang="zh-CN" sz="2000" b="1" dirty="0">
                <a:latin typeface="方正小标宋简体" panose="02010601030101010101" pitchFamily="2" charset="-122"/>
                <a:ea typeface="方正小标宋简体" panose="02010601030101010101" pitchFamily="2" charset="-122"/>
              </a:endParaRPr>
            </a:p>
          </p:txBody>
        </p:sp>
        <p:sp>
          <p:nvSpPr>
            <p:cNvPr id="22" name="任意多边形: 形状 21">
              <a:extLst>
                <a:ext uri="{FF2B5EF4-FFF2-40B4-BE49-F238E27FC236}">
                  <a16:creationId xmlns:a16="http://schemas.microsoft.com/office/drawing/2014/main" id="{4706227B-607E-B10D-ED6C-75DCD5F9C8A5}"/>
                </a:ext>
              </a:extLst>
            </p:cNvPr>
            <p:cNvSpPr/>
            <p:nvPr/>
          </p:nvSpPr>
          <p:spPr>
            <a:xfrm>
              <a:off x="10873384" y="3277836"/>
              <a:ext cx="1318616" cy="779701"/>
            </a:xfrm>
            <a:custGeom>
              <a:avLst/>
              <a:gdLst>
                <a:gd name="connsiteX0" fmla="*/ 0 w 988962"/>
                <a:gd name="connsiteY0" fmla="*/ 292387 h 584776"/>
                <a:gd name="connsiteX1" fmla="*/ 0 w 988962"/>
                <a:gd name="connsiteY1" fmla="*/ 292388 h 584776"/>
                <a:gd name="connsiteX2" fmla="*/ 0 w 988962"/>
                <a:gd name="connsiteY2" fmla="*/ 292388 h 584776"/>
                <a:gd name="connsiteX3" fmla="*/ 292388 w 988962"/>
                <a:gd name="connsiteY3" fmla="*/ 0 h 584776"/>
                <a:gd name="connsiteX4" fmla="*/ 988962 w 988962"/>
                <a:gd name="connsiteY4" fmla="*/ 0 h 584776"/>
                <a:gd name="connsiteX5" fmla="*/ 988962 w 988962"/>
                <a:gd name="connsiteY5" fmla="*/ 584776 h 584776"/>
                <a:gd name="connsiteX6" fmla="*/ 292388 w 988962"/>
                <a:gd name="connsiteY6" fmla="*/ 584775 h 584776"/>
                <a:gd name="connsiteX7" fmla="*/ 5941 w 988962"/>
                <a:gd name="connsiteY7" fmla="*/ 351313 h 584776"/>
                <a:gd name="connsiteX8" fmla="*/ 0 w 988962"/>
                <a:gd name="connsiteY8" fmla="*/ 292388 h 584776"/>
                <a:gd name="connsiteX9" fmla="*/ 5941 w 988962"/>
                <a:gd name="connsiteY9" fmla="*/ 233462 h 584776"/>
                <a:gd name="connsiteX10" fmla="*/ 292388 w 988962"/>
                <a:gd name="connsiteY10" fmla="*/ 0 h 584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8962" h="584776">
                  <a:moveTo>
                    <a:pt x="0" y="292387"/>
                  </a:moveTo>
                  <a:lnTo>
                    <a:pt x="0" y="292388"/>
                  </a:lnTo>
                  <a:lnTo>
                    <a:pt x="0" y="292388"/>
                  </a:lnTo>
                  <a:close/>
                  <a:moveTo>
                    <a:pt x="292388" y="0"/>
                  </a:moveTo>
                  <a:lnTo>
                    <a:pt x="988962" y="0"/>
                  </a:lnTo>
                  <a:lnTo>
                    <a:pt x="988962" y="584776"/>
                  </a:lnTo>
                  <a:lnTo>
                    <a:pt x="292388" y="584775"/>
                  </a:lnTo>
                  <a:cubicBezTo>
                    <a:pt x="151092" y="584775"/>
                    <a:pt x="33205" y="484549"/>
                    <a:pt x="5941" y="351313"/>
                  </a:cubicBezTo>
                  <a:lnTo>
                    <a:pt x="0" y="292388"/>
                  </a:lnTo>
                  <a:lnTo>
                    <a:pt x="5941" y="233462"/>
                  </a:lnTo>
                  <a:cubicBezTo>
                    <a:pt x="33205" y="100226"/>
                    <a:pt x="151092" y="0"/>
                    <a:pt x="292388" y="0"/>
                  </a:cubicBezTo>
                  <a:close/>
                </a:path>
              </a:pathLst>
            </a:custGeom>
            <a:gradFill flip="none" rotWithShape="1">
              <a:gsLst>
                <a:gs pos="97345">
                  <a:schemeClr val="accent1">
                    <a:alpha val="33000"/>
                  </a:schemeClr>
                </a:gs>
                <a:gs pos="0">
                  <a:schemeClr val="accent1">
                    <a:lumMod val="60000"/>
                    <a:lumOff val="40000"/>
                    <a:alpha val="20000"/>
                  </a:schemeClr>
                </a:gs>
              </a:gsLst>
              <a:lin ang="2700000" scaled="1"/>
              <a:tileRect/>
            </a:gradFill>
            <a:ln>
              <a:noFill/>
            </a:ln>
            <a:effectLst>
              <a:outerShdw blurRad="279400" dist="1016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b="1">
                <a:latin typeface="+mj-ea"/>
                <a:ea typeface="+mj-ea"/>
              </a:endParaRPr>
            </a:p>
          </p:txBody>
        </p:sp>
        <p:sp>
          <p:nvSpPr>
            <p:cNvPr id="23" name="任意多边形: 形状 22">
              <a:extLst>
                <a:ext uri="{FF2B5EF4-FFF2-40B4-BE49-F238E27FC236}">
                  <a16:creationId xmlns:a16="http://schemas.microsoft.com/office/drawing/2014/main" id="{D0E9BE4A-124C-8FC8-A740-C590D1011E07}"/>
                </a:ext>
              </a:extLst>
            </p:cNvPr>
            <p:cNvSpPr/>
            <p:nvPr/>
          </p:nvSpPr>
          <p:spPr>
            <a:xfrm>
              <a:off x="0" y="3308702"/>
              <a:ext cx="1318616" cy="779701"/>
            </a:xfrm>
            <a:custGeom>
              <a:avLst/>
              <a:gdLst>
                <a:gd name="connsiteX0" fmla="*/ 0 w 988962"/>
                <a:gd name="connsiteY0" fmla="*/ 0 h 584776"/>
                <a:gd name="connsiteX1" fmla="*/ 696574 w 988962"/>
                <a:gd name="connsiteY1" fmla="*/ 0 h 584776"/>
                <a:gd name="connsiteX2" fmla="*/ 988962 w 988962"/>
                <a:gd name="connsiteY2" fmla="*/ 292388 h 584776"/>
                <a:gd name="connsiteX3" fmla="*/ 988961 w 988962"/>
                <a:gd name="connsiteY3" fmla="*/ 292388 h 584776"/>
                <a:gd name="connsiteX4" fmla="*/ 696573 w 988962"/>
                <a:gd name="connsiteY4" fmla="*/ 584776 h 584776"/>
                <a:gd name="connsiteX5" fmla="*/ 0 w 988962"/>
                <a:gd name="connsiteY5" fmla="*/ 584775 h 584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8962" h="584776">
                  <a:moveTo>
                    <a:pt x="0" y="0"/>
                  </a:moveTo>
                  <a:lnTo>
                    <a:pt x="696574" y="0"/>
                  </a:lnTo>
                  <a:cubicBezTo>
                    <a:pt x="858055" y="0"/>
                    <a:pt x="988962" y="130907"/>
                    <a:pt x="988962" y="292388"/>
                  </a:cubicBezTo>
                  <a:lnTo>
                    <a:pt x="988961" y="292388"/>
                  </a:lnTo>
                  <a:cubicBezTo>
                    <a:pt x="988961" y="453869"/>
                    <a:pt x="858054" y="584776"/>
                    <a:pt x="696573" y="584776"/>
                  </a:cubicBezTo>
                  <a:lnTo>
                    <a:pt x="0" y="584775"/>
                  </a:lnTo>
                  <a:close/>
                </a:path>
              </a:pathLst>
            </a:custGeom>
            <a:gradFill flip="none" rotWithShape="1">
              <a:gsLst>
                <a:gs pos="97345">
                  <a:schemeClr val="accent1">
                    <a:alpha val="33000"/>
                  </a:schemeClr>
                </a:gs>
                <a:gs pos="0">
                  <a:schemeClr val="accent1">
                    <a:lumMod val="60000"/>
                    <a:lumOff val="40000"/>
                    <a:alpha val="20000"/>
                  </a:schemeClr>
                </a:gs>
              </a:gsLst>
              <a:lin ang="2700000" scaled="1"/>
              <a:tileRect/>
            </a:gradFill>
            <a:ln>
              <a:noFill/>
            </a:ln>
            <a:effectLst>
              <a:outerShdw blurRad="279400" dist="1016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b="1">
                <a:latin typeface="+mj-ea"/>
                <a:ea typeface="+mj-ea"/>
              </a:endParaRPr>
            </a:p>
          </p:txBody>
        </p:sp>
      </p:grpSp>
      <p:grpSp>
        <p:nvGrpSpPr>
          <p:cNvPr id="89" name="组合 88">
            <a:extLst>
              <a:ext uri="{FF2B5EF4-FFF2-40B4-BE49-F238E27FC236}">
                <a16:creationId xmlns:a16="http://schemas.microsoft.com/office/drawing/2014/main" id="{1284C31F-C876-1B35-D376-6053E65F374B}"/>
              </a:ext>
            </a:extLst>
          </p:cNvPr>
          <p:cNvGrpSpPr/>
          <p:nvPr/>
        </p:nvGrpSpPr>
        <p:grpSpPr>
          <a:xfrm>
            <a:off x="-14530193" y="-1"/>
            <a:ext cx="12115875" cy="858612"/>
            <a:chOff x="1" y="-1"/>
            <a:chExt cx="12115875" cy="858612"/>
          </a:xfrm>
        </p:grpSpPr>
        <p:grpSp>
          <p:nvGrpSpPr>
            <p:cNvPr id="90" name="组合 89">
              <a:extLst>
                <a:ext uri="{FF2B5EF4-FFF2-40B4-BE49-F238E27FC236}">
                  <a16:creationId xmlns:a16="http://schemas.microsoft.com/office/drawing/2014/main" id="{1E666151-6006-8975-8F35-832A32CA9009}"/>
                </a:ext>
              </a:extLst>
            </p:cNvPr>
            <p:cNvGrpSpPr/>
            <p:nvPr/>
          </p:nvGrpSpPr>
          <p:grpSpPr>
            <a:xfrm>
              <a:off x="1" y="-1"/>
              <a:ext cx="9144001" cy="858612"/>
              <a:chOff x="1" y="-1"/>
              <a:chExt cx="9144001" cy="858612"/>
            </a:xfrm>
          </p:grpSpPr>
          <p:sp>
            <p:nvSpPr>
              <p:cNvPr id="92" name="矩形 91">
                <a:extLst>
                  <a:ext uri="{FF2B5EF4-FFF2-40B4-BE49-F238E27FC236}">
                    <a16:creationId xmlns:a16="http://schemas.microsoft.com/office/drawing/2014/main" id="{F593477A-AA2E-B20E-7F79-CDF6A031D9C7}"/>
                  </a:ext>
                </a:extLst>
              </p:cNvPr>
              <p:cNvSpPr/>
              <p:nvPr/>
            </p:nvSpPr>
            <p:spPr>
              <a:xfrm rot="16200000">
                <a:off x="4142696" y="-4142696"/>
                <a:ext cx="858612" cy="9144001"/>
              </a:xfrm>
              <a:prstGeom prst="rect">
                <a:avLst/>
              </a:prstGeom>
              <a:gradFill flip="none" rotWithShape="1">
                <a:gsLst>
                  <a:gs pos="20000">
                    <a:schemeClr val="accent1"/>
                  </a:gs>
                  <a:gs pos="95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3" name="文本框 92">
                <a:extLst>
                  <a:ext uri="{FF2B5EF4-FFF2-40B4-BE49-F238E27FC236}">
                    <a16:creationId xmlns:a16="http://schemas.microsoft.com/office/drawing/2014/main" id="{CD961612-71BE-6861-BD79-66C539B968CA}"/>
                  </a:ext>
                </a:extLst>
              </p:cNvPr>
              <p:cNvSpPr txBox="1"/>
              <p:nvPr/>
            </p:nvSpPr>
            <p:spPr>
              <a:xfrm>
                <a:off x="187890" y="106138"/>
                <a:ext cx="3563655" cy="646331"/>
              </a:xfrm>
              <a:prstGeom prst="rect">
                <a:avLst/>
              </a:prstGeom>
              <a:noFill/>
            </p:spPr>
            <p:txBody>
              <a:bodyPr wrap="square" rtlCol="0">
                <a:spAutoFit/>
              </a:bodyPr>
              <a:lstStyle/>
              <a:p>
                <a:r>
                  <a:rPr lang="zh-CN" altLang="en-US" sz="3600">
                    <a:solidFill>
                      <a:schemeClr val="bg1"/>
                    </a:solidFill>
                    <a:latin typeface="方正小标宋简体" panose="02010601030101010101" pitchFamily="2" charset="-122"/>
                    <a:ea typeface="方正小标宋简体" panose="02010601030101010101" pitchFamily="2" charset="-122"/>
                  </a:rPr>
                  <a:t>核心研究问题</a:t>
                </a:r>
              </a:p>
            </p:txBody>
          </p:sp>
        </p:grpSp>
        <p:pic>
          <p:nvPicPr>
            <p:cNvPr id="91" name="图片 90">
              <a:extLst>
                <a:ext uri="{FF2B5EF4-FFF2-40B4-BE49-F238E27FC236}">
                  <a16:creationId xmlns:a16="http://schemas.microsoft.com/office/drawing/2014/main" id="{65729EB0-11E7-36AD-B09C-D188A6ABEFDE}"/>
                </a:ext>
              </a:extLst>
            </p:cNvPr>
            <p:cNvPicPr>
              <a:picLocks noChangeAspect="1"/>
            </p:cNvPicPr>
            <p:nvPr/>
          </p:nvPicPr>
          <p:blipFill>
            <a:blip r:embed="rId4">
              <a:duotone>
                <a:prstClr val="black"/>
                <a:schemeClr val="accent1">
                  <a:tint val="45000"/>
                  <a:satMod val="400000"/>
                </a:schemeClr>
              </a:duotone>
              <a:extLst>
                <a:ext uri="{BEBA8EAE-BF5A-486C-A8C5-ECC9F3942E4B}">
                  <a14:imgProps xmlns:a14="http://schemas.microsoft.com/office/drawing/2010/main">
                    <a14:imgLayer r:embed="rId5">
                      <a14:imgEffect>
                        <a14:colorTemperature colorTemp="1500"/>
                      </a14:imgEffect>
                      <a14:imgEffect>
                        <a14:saturation sat="0"/>
                      </a14:imgEffect>
                    </a14:imgLayer>
                  </a14:imgProps>
                </a:ext>
                <a:ext uri="{28A0092B-C50C-407E-A947-70E740481C1C}">
                  <a14:useLocalDpi xmlns:a14="http://schemas.microsoft.com/office/drawing/2010/main" val="0"/>
                </a:ext>
              </a:extLst>
            </a:blip>
            <a:stretch>
              <a:fillRect/>
            </a:stretch>
          </p:blipFill>
          <p:spPr>
            <a:xfrm>
              <a:off x="9045810" y="106138"/>
              <a:ext cx="3070066" cy="596957"/>
            </a:xfrm>
            <a:prstGeom prst="rect">
              <a:avLst/>
            </a:prstGeom>
          </p:spPr>
        </p:pic>
      </p:grpSp>
      <p:grpSp>
        <p:nvGrpSpPr>
          <p:cNvPr id="10" name="组合 9">
            <a:extLst>
              <a:ext uri="{FF2B5EF4-FFF2-40B4-BE49-F238E27FC236}">
                <a16:creationId xmlns:a16="http://schemas.microsoft.com/office/drawing/2014/main" id="{0782C776-170F-D36D-169D-6A6727EED68A}"/>
              </a:ext>
            </a:extLst>
          </p:cNvPr>
          <p:cNvGrpSpPr/>
          <p:nvPr/>
        </p:nvGrpSpPr>
        <p:grpSpPr>
          <a:xfrm>
            <a:off x="232969" y="-3555634"/>
            <a:ext cx="11726062" cy="2654078"/>
            <a:chOff x="232969" y="4171336"/>
            <a:chExt cx="11726062" cy="2654078"/>
          </a:xfrm>
        </p:grpSpPr>
        <p:grpSp>
          <p:nvGrpSpPr>
            <p:cNvPr id="11" name="组合 10">
              <a:extLst>
                <a:ext uri="{FF2B5EF4-FFF2-40B4-BE49-F238E27FC236}">
                  <a16:creationId xmlns:a16="http://schemas.microsoft.com/office/drawing/2014/main" id="{AA3FDFB1-1018-978F-C1D3-9C45EFCB57D0}"/>
                </a:ext>
              </a:extLst>
            </p:cNvPr>
            <p:cNvGrpSpPr/>
            <p:nvPr/>
          </p:nvGrpSpPr>
          <p:grpSpPr>
            <a:xfrm>
              <a:off x="232969" y="4333627"/>
              <a:ext cx="3205312" cy="2134401"/>
              <a:chOff x="232969" y="4333627"/>
              <a:chExt cx="3205312" cy="2134401"/>
            </a:xfrm>
          </p:grpSpPr>
          <p:pic>
            <p:nvPicPr>
              <p:cNvPr id="29" name="图片 28">
                <a:extLst>
                  <a:ext uri="{FF2B5EF4-FFF2-40B4-BE49-F238E27FC236}">
                    <a16:creationId xmlns:a16="http://schemas.microsoft.com/office/drawing/2014/main" id="{CBC932AE-F0C5-ECEB-EBCA-309112CA36BE}"/>
                  </a:ext>
                </a:extLst>
              </p:cNvPr>
              <p:cNvPicPr>
                <a:picLocks noChangeAspect="1"/>
              </p:cNvPicPr>
              <p:nvPr/>
            </p:nvPicPr>
            <p:blipFill>
              <a:blip r:embed="rId6"/>
              <a:stretch>
                <a:fillRect/>
              </a:stretch>
            </p:blipFill>
            <p:spPr>
              <a:xfrm>
                <a:off x="232969" y="4333627"/>
                <a:ext cx="3205312" cy="1424583"/>
              </a:xfrm>
              <a:prstGeom prst="rect">
                <a:avLst/>
              </a:prstGeom>
            </p:spPr>
          </p:pic>
          <p:cxnSp>
            <p:nvCxnSpPr>
              <p:cNvPr id="30" name="直接连接符 29">
                <a:extLst>
                  <a:ext uri="{FF2B5EF4-FFF2-40B4-BE49-F238E27FC236}">
                    <a16:creationId xmlns:a16="http://schemas.microsoft.com/office/drawing/2014/main" id="{A759EB17-FA37-ACB9-A062-986BD65206F5}"/>
                  </a:ext>
                </a:extLst>
              </p:cNvPr>
              <p:cNvCxnSpPr>
                <a:cxnSpLocks/>
              </p:cNvCxnSpPr>
              <p:nvPr/>
            </p:nvCxnSpPr>
            <p:spPr>
              <a:xfrm>
                <a:off x="1677797" y="4521385"/>
                <a:ext cx="1370200" cy="0"/>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pic>
            <p:nvPicPr>
              <p:cNvPr id="31" name="图片 30">
                <a:extLst>
                  <a:ext uri="{FF2B5EF4-FFF2-40B4-BE49-F238E27FC236}">
                    <a16:creationId xmlns:a16="http://schemas.microsoft.com/office/drawing/2014/main" id="{75EF9818-95FF-3D6F-98DE-1BEC972E56B9}"/>
                  </a:ext>
                </a:extLst>
              </p:cNvPr>
              <p:cNvPicPr>
                <a:picLocks noChangeAspect="1"/>
              </p:cNvPicPr>
              <p:nvPr/>
            </p:nvPicPr>
            <p:blipFill>
              <a:blip r:embed="rId7"/>
              <a:stretch>
                <a:fillRect/>
              </a:stretch>
            </p:blipFill>
            <p:spPr>
              <a:xfrm>
                <a:off x="313519" y="5369773"/>
                <a:ext cx="2871538" cy="1098255"/>
              </a:xfrm>
              <a:prstGeom prst="rect">
                <a:avLst/>
              </a:prstGeom>
            </p:spPr>
          </p:pic>
          <p:cxnSp>
            <p:nvCxnSpPr>
              <p:cNvPr id="32" name="直接连接符 31">
                <a:extLst>
                  <a:ext uri="{FF2B5EF4-FFF2-40B4-BE49-F238E27FC236}">
                    <a16:creationId xmlns:a16="http://schemas.microsoft.com/office/drawing/2014/main" id="{1B2DF284-06C1-B512-6504-5876BB604A32}"/>
                  </a:ext>
                </a:extLst>
              </p:cNvPr>
              <p:cNvCxnSpPr>
                <a:cxnSpLocks/>
              </p:cNvCxnSpPr>
              <p:nvPr/>
            </p:nvCxnSpPr>
            <p:spPr>
              <a:xfrm>
                <a:off x="379088" y="4631850"/>
                <a:ext cx="1772405" cy="0"/>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33" name="直接连接符 32">
                <a:extLst>
                  <a:ext uri="{FF2B5EF4-FFF2-40B4-BE49-F238E27FC236}">
                    <a16:creationId xmlns:a16="http://schemas.microsoft.com/office/drawing/2014/main" id="{8F605A84-5703-5272-7E17-B0D4AEB5FF4B}"/>
                  </a:ext>
                </a:extLst>
              </p:cNvPr>
              <p:cNvCxnSpPr>
                <a:cxnSpLocks/>
              </p:cNvCxnSpPr>
              <p:nvPr/>
            </p:nvCxnSpPr>
            <p:spPr>
              <a:xfrm>
                <a:off x="649800" y="5583071"/>
                <a:ext cx="2535257" cy="0"/>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34" name="直接连接符 33">
                <a:extLst>
                  <a:ext uri="{FF2B5EF4-FFF2-40B4-BE49-F238E27FC236}">
                    <a16:creationId xmlns:a16="http://schemas.microsoft.com/office/drawing/2014/main" id="{EB992084-24D6-0BBB-22B9-0082773FF9E6}"/>
                  </a:ext>
                </a:extLst>
              </p:cNvPr>
              <p:cNvCxnSpPr>
                <a:cxnSpLocks/>
              </p:cNvCxnSpPr>
              <p:nvPr/>
            </p:nvCxnSpPr>
            <p:spPr>
              <a:xfrm>
                <a:off x="410168" y="5758210"/>
                <a:ext cx="2535257" cy="0"/>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grpSp>
        <p:grpSp>
          <p:nvGrpSpPr>
            <p:cNvPr id="12" name="组合 11">
              <a:extLst>
                <a:ext uri="{FF2B5EF4-FFF2-40B4-BE49-F238E27FC236}">
                  <a16:creationId xmlns:a16="http://schemas.microsoft.com/office/drawing/2014/main" id="{BFD51CF4-62FF-A3D1-2115-8B510E808E54}"/>
                </a:ext>
              </a:extLst>
            </p:cNvPr>
            <p:cNvGrpSpPr/>
            <p:nvPr/>
          </p:nvGrpSpPr>
          <p:grpSpPr>
            <a:xfrm>
              <a:off x="4161025" y="4171336"/>
              <a:ext cx="7798006" cy="2654078"/>
              <a:chOff x="4161025" y="4171336"/>
              <a:chExt cx="7798006" cy="2654078"/>
            </a:xfrm>
          </p:grpSpPr>
          <p:cxnSp>
            <p:nvCxnSpPr>
              <p:cNvPr id="13" name="直接箭头连接符 12" descr="e7d195523061f1c09e9d68d7cf438b91ef959ecb14fc25d26BBA7F7DBC18E55DFF4014AF651F0BF2569D4B6C1DA7F1A4683A481403BD872FC687266AD13265C1DE7C373772FD8728ABDD69ADD03BFF5BE2862BC891DBB79E57CCFE4ACE90158B4872951911316DF8C8DEFCB342ADB590D86A301CE6A2D557D912C1D2AEE293F166C43EF8C6AA00082E52638B79E789C8">
                <a:extLst>
                  <a:ext uri="{FF2B5EF4-FFF2-40B4-BE49-F238E27FC236}">
                    <a16:creationId xmlns:a16="http://schemas.microsoft.com/office/drawing/2014/main" id="{7E3D605B-77D7-5CE0-B729-8D66E0FCA3AA}"/>
                  </a:ext>
                </a:extLst>
              </p:cNvPr>
              <p:cNvCxnSpPr>
                <a:cxnSpLocks/>
              </p:cNvCxnSpPr>
              <p:nvPr/>
            </p:nvCxnSpPr>
            <p:spPr>
              <a:xfrm>
                <a:off x="4161025" y="4258849"/>
                <a:ext cx="13273" cy="2279646"/>
              </a:xfrm>
              <a:prstGeom prst="straightConnector1">
                <a:avLst/>
              </a:prstGeom>
              <a:ln w="28575">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descr="e7d195523061f1c09e9d68d7cf438b91ef959ecb14fc25d26BBA7F7DBC18E55DFF4014AF651F0BF2569D4B6C1DA7F1A4683A481403BD872FC687266AD13265C1DE7C373772FD8728ABDD69ADD03BFF5BE2862BC891DBB79E57CCFE4ACE90158B4872951911316DF8C8DEFCB342ADB590D86A301CE6A2D557D912C1D2AEE293F166C43EF8C6AA00082E52638B79E789C8">
                <a:extLst>
                  <a:ext uri="{FF2B5EF4-FFF2-40B4-BE49-F238E27FC236}">
                    <a16:creationId xmlns:a16="http://schemas.microsoft.com/office/drawing/2014/main" id="{1B8F2141-08F8-D8C9-E721-5010EDDEB141}"/>
                  </a:ext>
                </a:extLst>
              </p:cNvPr>
              <p:cNvCxnSpPr>
                <a:cxnSpLocks/>
              </p:cNvCxnSpPr>
              <p:nvPr/>
            </p:nvCxnSpPr>
            <p:spPr>
              <a:xfrm>
                <a:off x="8534373" y="4258849"/>
                <a:ext cx="0" cy="1597069"/>
              </a:xfrm>
              <a:prstGeom prst="straightConnector1">
                <a:avLst/>
              </a:prstGeom>
              <a:ln w="28575">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grpSp>
            <p:nvGrpSpPr>
              <p:cNvPr id="15" name="组合 14">
                <a:extLst>
                  <a:ext uri="{FF2B5EF4-FFF2-40B4-BE49-F238E27FC236}">
                    <a16:creationId xmlns:a16="http://schemas.microsoft.com/office/drawing/2014/main" id="{06B0E15E-D760-1118-A03E-4A8F858E25BF}"/>
                  </a:ext>
                </a:extLst>
              </p:cNvPr>
              <p:cNvGrpSpPr/>
              <p:nvPr/>
            </p:nvGrpSpPr>
            <p:grpSpPr>
              <a:xfrm>
                <a:off x="4257377" y="4205108"/>
                <a:ext cx="4152365" cy="2620306"/>
                <a:chOff x="4257377" y="4205108"/>
                <a:chExt cx="4152365" cy="2620306"/>
              </a:xfrm>
            </p:grpSpPr>
            <p:sp>
              <p:nvSpPr>
                <p:cNvPr id="27" name="文本框 26">
                  <a:extLst>
                    <a:ext uri="{FF2B5EF4-FFF2-40B4-BE49-F238E27FC236}">
                      <a16:creationId xmlns:a16="http://schemas.microsoft.com/office/drawing/2014/main" id="{FE22C429-26DB-8D5A-3B0B-7D7E556F9C75}"/>
                    </a:ext>
                  </a:extLst>
                </p:cNvPr>
                <p:cNvSpPr txBox="1"/>
                <p:nvPr/>
              </p:nvSpPr>
              <p:spPr>
                <a:xfrm>
                  <a:off x="4257378" y="4205108"/>
                  <a:ext cx="2697429" cy="379656"/>
                </a:xfrm>
                <a:prstGeom prst="rect">
                  <a:avLst/>
                </a:prstGeom>
                <a:noFill/>
              </p:spPr>
              <p:txBody>
                <a:bodyPr wrap="square">
                  <a:spAutoFit/>
                </a:bodyPr>
                <a:lstStyle>
                  <a:defPPr>
                    <a:defRPr lang="zh-CN"/>
                  </a:defPPr>
                  <a:lvl1pPr defTabSz="609585">
                    <a:defRPr sz="1867" b="1">
                      <a:solidFill>
                        <a:schemeClr val="tx1">
                          <a:lumMod val="75000"/>
                          <a:lumOff val="25000"/>
                        </a:schemeClr>
                      </a:solidFill>
                      <a:latin typeface="方正小标宋简体" panose="02010601030101010101" pitchFamily="2" charset="-122"/>
                      <a:ea typeface="方正小标宋简体" panose="02010601030101010101" pitchFamily="2" charset="-122"/>
                    </a:defRPr>
                  </a:lvl1pPr>
                </a:lstStyle>
                <a:p>
                  <a:r>
                    <a:rPr lang="zh-CN" altLang="en-US"/>
                    <a:t>文献解决方案</a:t>
                  </a:r>
                </a:p>
              </p:txBody>
            </p:sp>
            <p:sp>
              <p:nvSpPr>
                <p:cNvPr id="28" name="文本框 27">
                  <a:extLst>
                    <a:ext uri="{FF2B5EF4-FFF2-40B4-BE49-F238E27FC236}">
                      <a16:creationId xmlns:a16="http://schemas.microsoft.com/office/drawing/2014/main" id="{D07DA8DB-A99D-213B-D5C0-0947E147EBFF}"/>
                    </a:ext>
                  </a:extLst>
                </p:cNvPr>
                <p:cNvSpPr txBox="1"/>
                <p:nvPr/>
              </p:nvSpPr>
              <p:spPr>
                <a:xfrm>
                  <a:off x="4257377" y="4521385"/>
                  <a:ext cx="4152365" cy="2304029"/>
                </a:xfrm>
                <a:prstGeom prst="rect">
                  <a:avLst/>
                </a:prstGeom>
                <a:noFill/>
              </p:spPr>
              <p:txBody>
                <a:bodyPr wrap="square">
                  <a:spAutoFit/>
                </a:bodyPr>
                <a:lstStyle>
                  <a:defPPr>
                    <a:defRPr lang="zh-CN"/>
                  </a:defPPr>
                  <a:lvl1pPr>
                    <a:lnSpc>
                      <a:spcPct val="150000"/>
                    </a:lnSpc>
                    <a:defRPr sz="1400" b="0">
                      <a:latin typeface="宋体" panose="02010600030101010101" pitchFamily="2" charset="-122"/>
                      <a:ea typeface="宋体" panose="02010600030101010101" pitchFamily="2" charset="-122"/>
                    </a:defRPr>
                  </a:lvl1pPr>
                </a:lstStyle>
                <a:p>
                  <a:r>
                    <a:rPr lang="zh-CN" altLang="en-US"/>
                    <a:t>关于</a:t>
                  </a:r>
                  <a:r>
                    <a:rPr lang="en-US" altLang="zh-CN"/>
                    <a:t>ScheLoc</a:t>
                  </a:r>
                  <a:r>
                    <a:rPr lang="zh-CN" altLang="en-US"/>
                    <a:t>问题的文献相对稀少，尤其是在并行机场景下。早期的研究主要集中在单机问题上，包括平面选址和离散选址。</a:t>
                  </a:r>
                  <a:endParaRPr lang="en-US" altLang="zh-CN"/>
                </a:p>
                <a:p>
                  <a:r>
                    <a:rPr lang="zh-CN" altLang="en-US"/>
                    <a:t>针对本文所研究的并行</a:t>
                  </a:r>
                  <a:r>
                    <a:rPr lang="en-US" altLang="zh-CN"/>
                    <a:t>D-ScheLoc</a:t>
                  </a:r>
                  <a:r>
                    <a:rPr lang="zh-CN" altLang="en-US"/>
                    <a:t>问题，先前的主要研究成果包括：</a:t>
                  </a:r>
                  <a:endParaRPr lang="en-US" altLang="zh-CN"/>
                </a:p>
                <a:p>
                  <a:pPr marL="285750" indent="-285750">
                    <a:buFont typeface="Arial" panose="020B0604020202020204" pitchFamily="34" charset="0"/>
                    <a:buChar char="•"/>
                  </a:pPr>
                  <a:r>
                    <a:rPr lang="en-US" altLang="zh-CN" b="1"/>
                    <a:t>Heßler and Deghdak (2017)</a:t>
                  </a:r>
                </a:p>
                <a:p>
                  <a:pPr marL="285750" indent="-285750">
                    <a:buFont typeface="Arial" panose="020B0604020202020204" pitchFamily="34" charset="0"/>
                    <a:buChar char="•"/>
                  </a:pPr>
                  <a:r>
                    <a:rPr lang="en-US" altLang="zh-CN" b="1"/>
                    <a:t>Wang et al. (2020)</a:t>
                  </a:r>
                  <a:endParaRPr lang="en-US" altLang="zh-CN"/>
                </a:p>
              </p:txBody>
            </p:sp>
          </p:grpSp>
          <p:grpSp>
            <p:nvGrpSpPr>
              <p:cNvPr id="16" name="组合 15">
                <a:extLst>
                  <a:ext uri="{FF2B5EF4-FFF2-40B4-BE49-F238E27FC236}">
                    <a16:creationId xmlns:a16="http://schemas.microsoft.com/office/drawing/2014/main" id="{C1E88E80-27AF-867B-B86F-1833444FCFC7}"/>
                  </a:ext>
                </a:extLst>
              </p:cNvPr>
              <p:cNvGrpSpPr/>
              <p:nvPr/>
            </p:nvGrpSpPr>
            <p:grpSpPr>
              <a:xfrm>
                <a:off x="8659000" y="4171336"/>
                <a:ext cx="3300031" cy="1755836"/>
                <a:chOff x="8659000" y="4171336"/>
                <a:chExt cx="3300031" cy="1755836"/>
              </a:xfrm>
            </p:grpSpPr>
            <p:sp>
              <p:nvSpPr>
                <p:cNvPr id="24" name="文本框 23">
                  <a:extLst>
                    <a:ext uri="{FF2B5EF4-FFF2-40B4-BE49-F238E27FC236}">
                      <a16:creationId xmlns:a16="http://schemas.microsoft.com/office/drawing/2014/main" id="{7E3E0576-F15F-33EE-7D2C-D9813F9C9CDD}"/>
                    </a:ext>
                  </a:extLst>
                </p:cNvPr>
                <p:cNvSpPr txBox="1"/>
                <p:nvPr/>
              </p:nvSpPr>
              <p:spPr>
                <a:xfrm>
                  <a:off x="8659000" y="4171336"/>
                  <a:ext cx="2697429" cy="379656"/>
                </a:xfrm>
                <a:prstGeom prst="rect">
                  <a:avLst/>
                </a:prstGeom>
                <a:noFill/>
              </p:spPr>
              <p:txBody>
                <a:bodyPr wrap="square">
                  <a:spAutoFit/>
                </a:bodyPr>
                <a:lstStyle>
                  <a:defPPr>
                    <a:defRPr lang="zh-CN"/>
                  </a:defPPr>
                  <a:lvl1pPr defTabSz="609585">
                    <a:defRPr sz="1867" b="1">
                      <a:solidFill>
                        <a:schemeClr val="tx1">
                          <a:lumMod val="75000"/>
                          <a:lumOff val="25000"/>
                        </a:schemeClr>
                      </a:solidFill>
                      <a:latin typeface="方正小标宋简体" panose="02010601030101010101" pitchFamily="2" charset="-122"/>
                      <a:ea typeface="方正小标宋简体" panose="02010601030101010101" pitchFamily="2" charset="-122"/>
                    </a:defRPr>
                  </a:lvl1pPr>
                </a:lstStyle>
                <a:p>
                  <a:r>
                    <a:rPr lang="zh-CN" altLang="en-US"/>
                    <a:t>本文的解决方案</a:t>
                  </a:r>
                </a:p>
              </p:txBody>
            </p:sp>
            <p:sp>
              <p:nvSpPr>
                <p:cNvPr id="25" name="文本框 24">
                  <a:extLst>
                    <a:ext uri="{FF2B5EF4-FFF2-40B4-BE49-F238E27FC236}">
                      <a16:creationId xmlns:a16="http://schemas.microsoft.com/office/drawing/2014/main" id="{1CC63095-563E-1D3F-8D07-311781C72B84}"/>
                    </a:ext>
                  </a:extLst>
                </p:cNvPr>
                <p:cNvSpPr txBox="1"/>
                <p:nvPr/>
              </p:nvSpPr>
              <p:spPr>
                <a:xfrm>
                  <a:off x="8659000" y="4521385"/>
                  <a:ext cx="3300031" cy="688202"/>
                </a:xfrm>
                <a:prstGeom prst="rect">
                  <a:avLst/>
                </a:prstGeom>
                <a:noFill/>
              </p:spPr>
              <p:txBody>
                <a:bodyPr wrap="square">
                  <a:spAutoFit/>
                </a:bodyPr>
                <a:lstStyle>
                  <a:defPPr>
                    <a:defRPr lang="zh-CN"/>
                  </a:defPPr>
                  <a:lvl1pPr>
                    <a:lnSpc>
                      <a:spcPct val="150000"/>
                    </a:lnSpc>
                    <a:defRPr sz="1400" b="0">
                      <a:latin typeface="宋体" panose="02010600030101010101" pitchFamily="2" charset="-122"/>
                      <a:ea typeface="宋体" panose="02010600030101010101" pitchFamily="2" charset="-122"/>
                    </a:defRPr>
                  </a:lvl1pPr>
                </a:lstStyle>
                <a:p>
                  <a:r>
                    <a:rPr lang="zh-CN" altLang="en-US"/>
                    <a:t>为应对上述挑战，本文作者采用了一种双管齐下的战略：</a:t>
                  </a:r>
                  <a:endParaRPr lang="en-US" altLang="zh-CN"/>
                </a:p>
              </p:txBody>
            </p:sp>
            <p:sp>
              <p:nvSpPr>
                <p:cNvPr id="26" name="文本框 25">
                  <a:extLst>
                    <a:ext uri="{FF2B5EF4-FFF2-40B4-BE49-F238E27FC236}">
                      <a16:creationId xmlns:a16="http://schemas.microsoft.com/office/drawing/2014/main" id="{0229D63E-C55C-DD35-6A60-435BDD18AB8E}"/>
                    </a:ext>
                  </a:extLst>
                </p:cNvPr>
                <p:cNvSpPr txBox="1"/>
                <p:nvPr/>
              </p:nvSpPr>
              <p:spPr>
                <a:xfrm>
                  <a:off x="8659000" y="5238970"/>
                  <a:ext cx="3300031" cy="688202"/>
                </a:xfrm>
                <a:prstGeom prst="rect">
                  <a:avLst/>
                </a:prstGeom>
                <a:noFill/>
              </p:spPr>
              <p:txBody>
                <a:bodyPr wrap="square">
                  <a:spAutoFit/>
                </a:bodyPr>
                <a:lstStyle>
                  <a:defPPr>
                    <a:defRPr lang="zh-CN"/>
                  </a:defPPr>
                  <a:lvl1pPr>
                    <a:lnSpc>
                      <a:spcPct val="150000"/>
                    </a:lnSpc>
                    <a:defRPr sz="1400" b="0">
                      <a:latin typeface="宋体" panose="02010600030101010101" pitchFamily="2" charset="-122"/>
                      <a:ea typeface="宋体" panose="02010600030101010101" pitchFamily="2" charset="-122"/>
                    </a:defRPr>
                  </a:lvl1pPr>
                </a:lstStyle>
                <a:p>
                  <a:pPr marL="342900" indent="-342900">
                    <a:buFont typeface="+mj-lt"/>
                    <a:buAutoNum type="arabicPeriod"/>
                  </a:pPr>
                  <a:r>
                    <a:rPr lang="zh-CN" altLang="en-US" b="1"/>
                    <a:t>开发更优的数学模型</a:t>
                  </a:r>
                  <a:endParaRPr lang="en-US" altLang="zh-CN" b="1"/>
                </a:p>
                <a:p>
                  <a:pPr marL="342900" indent="-342900">
                    <a:buFont typeface="+mj-lt"/>
                    <a:buAutoNum type="arabicPeriod"/>
                  </a:pPr>
                  <a:r>
                    <a:rPr lang="zh-CN" altLang="en-US" b="1"/>
                    <a:t>设计精确分解算法</a:t>
                  </a:r>
                  <a:endParaRPr lang="en-US" altLang="zh-CN"/>
                </a:p>
              </p:txBody>
            </p:sp>
          </p:grpSp>
        </p:grpSp>
      </p:grpSp>
      <p:grpSp>
        <p:nvGrpSpPr>
          <p:cNvPr id="35" name="组合 34">
            <a:extLst>
              <a:ext uri="{FF2B5EF4-FFF2-40B4-BE49-F238E27FC236}">
                <a16:creationId xmlns:a16="http://schemas.microsoft.com/office/drawing/2014/main" id="{FBEC698F-42B5-4B1A-8887-37B396B18019}"/>
              </a:ext>
            </a:extLst>
          </p:cNvPr>
          <p:cNvGrpSpPr/>
          <p:nvPr/>
        </p:nvGrpSpPr>
        <p:grpSpPr>
          <a:xfrm>
            <a:off x="1677797" y="7714034"/>
            <a:ext cx="10715533" cy="2528870"/>
            <a:chOff x="1677797" y="819283"/>
            <a:chExt cx="10715533" cy="2528870"/>
          </a:xfrm>
        </p:grpSpPr>
        <p:cxnSp>
          <p:nvCxnSpPr>
            <p:cNvPr id="48" name="直接箭头连接符 47" descr="e7d195523061f1c09e9d68d7cf438b91ef959ecb14fc25d26BBA7F7DBC18E55DFF4014AF651F0BF2569D4B6C1DA7F1A4683A481403BD872FC687266AD13265C1DE7C373772FD8728ABDD69ADD03BFF5BE2862BC891DBB79E57CCFE4ACE90158B4872951911316DF8C8DEFCB342ADB590D86A301CE6A2D557D912C1D2AEE293F166C43EF8C6AA00082E52638B79E789C8">
              <a:extLst>
                <a:ext uri="{FF2B5EF4-FFF2-40B4-BE49-F238E27FC236}">
                  <a16:creationId xmlns:a16="http://schemas.microsoft.com/office/drawing/2014/main" id="{83A7BA9C-E55E-39E3-A4AE-BFA41FA450E4}"/>
                </a:ext>
              </a:extLst>
            </p:cNvPr>
            <p:cNvCxnSpPr>
              <a:cxnSpLocks/>
            </p:cNvCxnSpPr>
            <p:nvPr/>
          </p:nvCxnSpPr>
          <p:spPr>
            <a:xfrm flipV="1">
              <a:off x="1677797" y="1002082"/>
              <a:ext cx="0" cy="2259073"/>
            </a:xfrm>
            <a:prstGeom prst="straightConnector1">
              <a:avLst/>
            </a:prstGeom>
            <a:ln w="28575">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descr="e7d195523061f1c09e9d68d7cf438b91ef959ecb14fc25d26BBA7F7DBC18E55DFF4014AF651F0BF2569D4B6C1DA7F1A4683A481403BD872FC687266AD13265C1DE7C373772FD8728ABDD69ADD03BFF5BE2862BC891DBB79E57CCFE4ACE90158B4872951911316DF8C8DEFCB342ADB590D86A301CE6A2D557D912C1D2AEE293F166C43EF8C6AA00082E52638B79E789C8">
              <a:extLst>
                <a:ext uri="{FF2B5EF4-FFF2-40B4-BE49-F238E27FC236}">
                  <a16:creationId xmlns:a16="http://schemas.microsoft.com/office/drawing/2014/main" id="{A74093AF-428F-F93C-5348-41313D3B7674}"/>
                </a:ext>
              </a:extLst>
            </p:cNvPr>
            <p:cNvCxnSpPr>
              <a:cxnSpLocks/>
            </p:cNvCxnSpPr>
            <p:nvPr/>
          </p:nvCxnSpPr>
          <p:spPr>
            <a:xfrm flipV="1">
              <a:off x="6353969" y="1386942"/>
              <a:ext cx="0" cy="1858780"/>
            </a:xfrm>
            <a:prstGeom prst="straightConnector1">
              <a:avLst/>
            </a:prstGeom>
            <a:ln w="28575">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grpSp>
          <p:nvGrpSpPr>
            <p:cNvPr id="50" name="组合 49">
              <a:extLst>
                <a:ext uri="{FF2B5EF4-FFF2-40B4-BE49-F238E27FC236}">
                  <a16:creationId xmlns:a16="http://schemas.microsoft.com/office/drawing/2014/main" id="{1288B359-BB72-3CDB-71D8-01C3B6CFC8B6}"/>
                </a:ext>
              </a:extLst>
            </p:cNvPr>
            <p:cNvGrpSpPr/>
            <p:nvPr/>
          </p:nvGrpSpPr>
          <p:grpSpPr>
            <a:xfrm>
              <a:off x="1914650" y="819283"/>
              <a:ext cx="4269209" cy="2528870"/>
              <a:chOff x="1914650" y="819283"/>
              <a:chExt cx="4269209" cy="2528870"/>
            </a:xfrm>
          </p:grpSpPr>
          <p:grpSp>
            <p:nvGrpSpPr>
              <p:cNvPr id="55" name="组合 54">
                <a:extLst>
                  <a:ext uri="{FF2B5EF4-FFF2-40B4-BE49-F238E27FC236}">
                    <a16:creationId xmlns:a16="http://schemas.microsoft.com/office/drawing/2014/main" id="{7D7086A1-169D-11B8-85A6-695636CEDEF5}"/>
                  </a:ext>
                </a:extLst>
              </p:cNvPr>
              <p:cNvGrpSpPr/>
              <p:nvPr/>
            </p:nvGrpSpPr>
            <p:grpSpPr>
              <a:xfrm>
                <a:off x="1922581" y="819283"/>
                <a:ext cx="4261278" cy="1938200"/>
                <a:chOff x="1922581" y="819283"/>
                <a:chExt cx="4261278" cy="1938200"/>
              </a:xfrm>
            </p:grpSpPr>
            <p:sp>
              <p:nvSpPr>
                <p:cNvPr id="57" name="文本框 56">
                  <a:extLst>
                    <a:ext uri="{FF2B5EF4-FFF2-40B4-BE49-F238E27FC236}">
                      <a16:creationId xmlns:a16="http://schemas.microsoft.com/office/drawing/2014/main" id="{D2660E38-E0A5-FE61-8141-BE897D83D4F4}"/>
                    </a:ext>
                  </a:extLst>
                </p:cNvPr>
                <p:cNvSpPr txBox="1"/>
                <p:nvPr/>
              </p:nvSpPr>
              <p:spPr>
                <a:xfrm>
                  <a:off x="1934697" y="819283"/>
                  <a:ext cx="2697429" cy="379656"/>
                </a:xfrm>
                <a:prstGeom prst="rect">
                  <a:avLst/>
                </a:prstGeom>
                <a:noFill/>
              </p:spPr>
              <p:txBody>
                <a:bodyPr wrap="square">
                  <a:spAutoFit/>
                </a:bodyPr>
                <a:lstStyle/>
                <a:p>
                  <a:pPr defTabSz="609585">
                    <a:defRPr/>
                  </a:pPr>
                  <a:r>
                    <a:rPr lang="zh-CN" altLang="en-US" sz="1867" b="1">
                      <a:solidFill>
                        <a:schemeClr val="tx1">
                          <a:lumMod val="75000"/>
                          <a:lumOff val="25000"/>
                        </a:schemeClr>
                      </a:solidFill>
                      <a:latin typeface="方正小标宋简体" panose="02010601030101010101" pitchFamily="2" charset="-122"/>
                      <a:ea typeface="方正小标宋简体" panose="02010601030101010101" pitchFamily="2" charset="-122"/>
                    </a:rPr>
                    <a:t>研究历史问题</a:t>
                  </a:r>
                </a:p>
              </p:txBody>
            </p:sp>
            <p:sp>
              <p:nvSpPr>
                <p:cNvPr id="58" name="文本框 57">
                  <a:extLst>
                    <a:ext uri="{FF2B5EF4-FFF2-40B4-BE49-F238E27FC236}">
                      <a16:creationId xmlns:a16="http://schemas.microsoft.com/office/drawing/2014/main" id="{4BE73FE9-68B0-9C6D-4417-B5E825FEEB70}"/>
                    </a:ext>
                  </a:extLst>
                </p:cNvPr>
                <p:cNvSpPr txBox="1"/>
                <p:nvPr/>
              </p:nvSpPr>
              <p:spPr>
                <a:xfrm>
                  <a:off x="1922581" y="1099785"/>
                  <a:ext cx="4261278" cy="1657698"/>
                </a:xfrm>
                <a:prstGeom prst="rect">
                  <a:avLst/>
                </a:prstGeom>
                <a:noFill/>
              </p:spPr>
              <p:txBody>
                <a:bodyPr wrap="square">
                  <a:spAutoFit/>
                </a:bodyPr>
                <a:lstStyle>
                  <a:defPPr>
                    <a:defRPr lang="en-US"/>
                  </a:defPPr>
                  <a:lvl1pPr algn="ctr">
                    <a:defRPr sz="3200" b="1"/>
                  </a:lvl1pPr>
                </a:lstStyle>
                <a:p>
                  <a:pPr algn="l">
                    <a:lnSpc>
                      <a:spcPct val="150000"/>
                    </a:lnSpc>
                  </a:pPr>
                  <a:r>
                    <a:rPr lang="zh-CN" altLang="en-US" sz="1400" b="0">
                      <a:latin typeface="宋体" panose="02010600030101010101" pitchFamily="2" charset="-122"/>
                      <a:ea typeface="宋体" panose="02010600030101010101" pitchFamily="2" charset="-122"/>
                    </a:rPr>
                    <a:t>并行离散机器调度与选址问题是一个集成了两个在运筹学领域被广泛研究的</a:t>
                  </a:r>
                  <a:r>
                    <a:rPr lang="en-US" altLang="zh-CN" sz="1400" b="0">
                      <a:latin typeface="宋体" panose="02010600030101010101" pitchFamily="2" charset="-122"/>
                      <a:ea typeface="宋体" panose="02010600030101010101" pitchFamily="2" charset="-122"/>
                    </a:rPr>
                    <a:t>NP-hard</a:t>
                  </a:r>
                  <a:r>
                    <a:rPr lang="zh-CN" altLang="en-US" sz="1400" b="0">
                      <a:latin typeface="宋体" panose="02010600030101010101" pitchFamily="2" charset="-122"/>
                      <a:ea typeface="宋体" panose="02010600030101010101" pitchFamily="2" charset="-122"/>
                    </a:rPr>
                    <a:t>组合优化难题：设施选址问题与并行机调度问题。传统上，解决此类集成问题的方法通常采用序贯决策模式，即先确定选址，再进行调度。</a:t>
                  </a:r>
                  <a:endParaRPr lang="en-US" altLang="zh-CN" sz="1400" b="0">
                    <a:latin typeface="宋体" panose="02010600030101010101" pitchFamily="2" charset="-122"/>
                    <a:ea typeface="宋体" panose="02010600030101010101" pitchFamily="2" charset="-122"/>
                  </a:endParaRPr>
                </a:p>
              </p:txBody>
            </p:sp>
          </p:grpSp>
          <p:sp>
            <p:nvSpPr>
              <p:cNvPr id="56" name="文本框 55">
                <a:extLst>
                  <a:ext uri="{FF2B5EF4-FFF2-40B4-BE49-F238E27FC236}">
                    <a16:creationId xmlns:a16="http://schemas.microsoft.com/office/drawing/2014/main" id="{217CE7A0-21D2-399E-0C97-95F39619304A}"/>
                  </a:ext>
                </a:extLst>
              </p:cNvPr>
              <p:cNvSpPr txBox="1"/>
              <p:nvPr/>
            </p:nvSpPr>
            <p:spPr>
              <a:xfrm>
                <a:off x="1914650" y="2659951"/>
                <a:ext cx="4261278" cy="688202"/>
              </a:xfrm>
              <a:prstGeom prst="rect">
                <a:avLst/>
              </a:prstGeom>
              <a:noFill/>
            </p:spPr>
            <p:txBody>
              <a:bodyPr wrap="square">
                <a:spAutoFit/>
              </a:bodyPr>
              <a:lstStyle>
                <a:defPPr>
                  <a:defRPr lang="en-US"/>
                </a:defPPr>
                <a:lvl1pPr algn="ctr">
                  <a:defRPr sz="3200" b="1"/>
                </a:lvl1pPr>
              </a:lstStyle>
              <a:p>
                <a:pPr algn="l">
                  <a:lnSpc>
                    <a:spcPct val="150000"/>
                  </a:lnSpc>
                </a:pPr>
                <a:r>
                  <a:rPr lang="zh-CN" altLang="en-US" sz="1400" b="0">
                    <a:latin typeface="宋体" panose="02010600030101010101" pitchFamily="2" charset="-122"/>
                    <a:ea typeface="宋体" panose="02010600030101010101" pitchFamily="2" charset="-122"/>
                  </a:rPr>
                  <a:t>然而，大量研究已证明，</a:t>
                </a:r>
                <a:r>
                  <a:rPr lang="zh-CN" altLang="en-US" sz="1400" b="0">
                    <a:solidFill>
                      <a:srgbClr val="C00000"/>
                    </a:solidFill>
                    <a:latin typeface="宋体" panose="02010600030101010101" pitchFamily="2" charset="-122"/>
                    <a:ea typeface="宋体" panose="02010600030101010101" pitchFamily="2" charset="-122"/>
                  </a:rPr>
                  <a:t>选址决策与调度决策之间存在着强烈的相互依赖关系 。 </a:t>
                </a:r>
                <a:endParaRPr lang="en-US" altLang="zh-CN" sz="1400" b="0">
                  <a:solidFill>
                    <a:srgbClr val="C00000"/>
                  </a:solidFill>
                  <a:latin typeface="宋体" panose="02010600030101010101" pitchFamily="2" charset="-122"/>
                  <a:ea typeface="宋体" panose="02010600030101010101" pitchFamily="2" charset="-122"/>
                </a:endParaRPr>
              </a:p>
            </p:txBody>
          </p:sp>
        </p:grpSp>
        <p:grpSp>
          <p:nvGrpSpPr>
            <p:cNvPr id="51" name="组合 50">
              <a:extLst>
                <a:ext uri="{FF2B5EF4-FFF2-40B4-BE49-F238E27FC236}">
                  <a16:creationId xmlns:a16="http://schemas.microsoft.com/office/drawing/2014/main" id="{FD399809-8372-1B6B-B166-FD17C79ED9AC}"/>
                </a:ext>
              </a:extLst>
            </p:cNvPr>
            <p:cNvGrpSpPr/>
            <p:nvPr/>
          </p:nvGrpSpPr>
          <p:grpSpPr>
            <a:xfrm>
              <a:off x="6610869" y="1255799"/>
              <a:ext cx="5782461" cy="1702930"/>
              <a:chOff x="6610869" y="1255799"/>
              <a:chExt cx="5782461" cy="1702930"/>
            </a:xfrm>
          </p:grpSpPr>
          <p:sp>
            <p:nvSpPr>
              <p:cNvPr id="52" name="文本框 51">
                <a:extLst>
                  <a:ext uri="{FF2B5EF4-FFF2-40B4-BE49-F238E27FC236}">
                    <a16:creationId xmlns:a16="http://schemas.microsoft.com/office/drawing/2014/main" id="{F1BD736F-B750-F968-9855-241DA5646A89}"/>
                  </a:ext>
                </a:extLst>
              </p:cNvPr>
              <p:cNvSpPr txBox="1"/>
              <p:nvPr/>
            </p:nvSpPr>
            <p:spPr>
              <a:xfrm>
                <a:off x="6610869" y="1255799"/>
                <a:ext cx="3171370" cy="379656"/>
              </a:xfrm>
              <a:prstGeom prst="rect">
                <a:avLst/>
              </a:prstGeom>
              <a:noFill/>
            </p:spPr>
            <p:txBody>
              <a:bodyPr wrap="square">
                <a:spAutoFit/>
              </a:bodyPr>
              <a:lstStyle>
                <a:defPPr>
                  <a:defRPr lang="zh-CN"/>
                </a:defPPr>
                <a:lvl1pPr defTabSz="609585">
                  <a:defRPr sz="1867" b="1">
                    <a:solidFill>
                      <a:schemeClr val="tx1">
                        <a:lumMod val="75000"/>
                        <a:lumOff val="25000"/>
                      </a:schemeClr>
                    </a:solidFill>
                    <a:latin typeface="方正小标宋简体" panose="02010601030101010101" pitchFamily="2" charset="-122"/>
                    <a:ea typeface="方正小标宋简体" panose="02010601030101010101" pitchFamily="2" charset="-122"/>
                  </a:defRPr>
                </a:lvl1pPr>
              </a:lstStyle>
              <a:p>
                <a:r>
                  <a:rPr lang="zh-CN" altLang="en-US"/>
                  <a:t>领域内存在的未解决挑战</a:t>
                </a:r>
              </a:p>
            </p:txBody>
          </p:sp>
          <p:sp>
            <p:nvSpPr>
              <p:cNvPr id="53" name="文本框 52">
                <a:extLst>
                  <a:ext uri="{FF2B5EF4-FFF2-40B4-BE49-F238E27FC236}">
                    <a16:creationId xmlns:a16="http://schemas.microsoft.com/office/drawing/2014/main" id="{21382290-1999-469C-ED30-4E4977B01CAE}"/>
                  </a:ext>
                </a:extLst>
              </p:cNvPr>
              <p:cNvSpPr txBox="1"/>
              <p:nvPr/>
            </p:nvSpPr>
            <p:spPr>
              <a:xfrm>
                <a:off x="6610869" y="1599422"/>
                <a:ext cx="5438523" cy="365036"/>
              </a:xfrm>
              <a:prstGeom prst="rect">
                <a:avLst/>
              </a:prstGeom>
              <a:noFill/>
            </p:spPr>
            <p:txBody>
              <a:bodyPr wrap="square">
                <a:spAutoFit/>
              </a:bodyPr>
              <a:lstStyle>
                <a:defPPr>
                  <a:defRPr lang="zh-CN"/>
                </a:defPPr>
                <a:lvl1pPr>
                  <a:lnSpc>
                    <a:spcPct val="150000"/>
                  </a:lnSpc>
                  <a:defRPr sz="1400" b="0">
                    <a:latin typeface="宋体" panose="02010600030101010101" pitchFamily="2" charset="-122"/>
                    <a:ea typeface="宋体" panose="02010600030101010101" pitchFamily="2" charset="-122"/>
                  </a:defRPr>
                </a:lvl1pPr>
              </a:lstStyle>
              <a:p>
                <a:r>
                  <a:rPr lang="zh-CN" altLang="en-US"/>
                  <a:t>在本文发表之前，</a:t>
                </a:r>
                <a:r>
                  <a:rPr lang="en-US" altLang="zh-CN"/>
                  <a:t>D-ScheLoc</a:t>
                </a:r>
                <a:r>
                  <a:rPr lang="zh-CN" altLang="en-US"/>
                  <a:t>领域面临着几个核心挑战：</a:t>
                </a:r>
                <a:endParaRPr lang="en-US" altLang="zh-CN"/>
              </a:p>
            </p:txBody>
          </p:sp>
          <p:sp>
            <p:nvSpPr>
              <p:cNvPr id="54" name="文本框 53">
                <a:extLst>
                  <a:ext uri="{FF2B5EF4-FFF2-40B4-BE49-F238E27FC236}">
                    <a16:creationId xmlns:a16="http://schemas.microsoft.com/office/drawing/2014/main" id="{E66A5322-D125-29A5-4942-7786BA5427FB}"/>
                  </a:ext>
                </a:extLst>
              </p:cNvPr>
              <p:cNvSpPr txBox="1"/>
              <p:nvPr/>
            </p:nvSpPr>
            <p:spPr>
              <a:xfrm>
                <a:off x="6954807" y="1947362"/>
                <a:ext cx="5438523" cy="1011367"/>
              </a:xfrm>
              <a:prstGeom prst="rect">
                <a:avLst/>
              </a:prstGeom>
              <a:noFill/>
            </p:spPr>
            <p:txBody>
              <a:bodyPr wrap="square">
                <a:spAutoFit/>
              </a:bodyPr>
              <a:lstStyle>
                <a:defPPr>
                  <a:defRPr lang="zh-CN"/>
                </a:defPPr>
                <a:lvl1pPr>
                  <a:lnSpc>
                    <a:spcPct val="150000"/>
                  </a:lnSpc>
                  <a:defRPr sz="1400" b="0">
                    <a:latin typeface="宋体" panose="02010600030101010101" pitchFamily="2" charset="-122"/>
                    <a:ea typeface="宋体" panose="02010600030101010101" pitchFamily="2" charset="-122"/>
                  </a:defRPr>
                </a:lvl1pPr>
              </a:lstStyle>
              <a:p>
                <a:pPr marL="285750" indent="-285750">
                  <a:buFont typeface="Arial" panose="020B0604020202020204" pitchFamily="34" charset="0"/>
                  <a:buChar char="•"/>
                </a:pPr>
                <a:r>
                  <a:rPr lang="zh-CN" altLang="en-US"/>
                  <a:t>最优性差距</a:t>
                </a:r>
              </a:p>
              <a:p>
                <a:pPr marL="285750" indent="-285750">
                  <a:buFont typeface="Arial" panose="020B0604020202020204" pitchFamily="34" charset="0"/>
                  <a:buChar char="•"/>
                </a:pPr>
                <a:r>
                  <a:rPr lang="zh-CN" altLang="en-US"/>
                  <a:t>可扩展性与复杂性</a:t>
                </a:r>
              </a:p>
              <a:p>
                <a:pPr marL="285750" indent="-285750">
                  <a:buFont typeface="Arial" panose="020B0604020202020204" pitchFamily="34" charset="0"/>
                  <a:buChar char="•"/>
                </a:pPr>
                <a:r>
                  <a:rPr lang="zh-CN" altLang="en-US"/>
                  <a:t>弱模型构建</a:t>
                </a:r>
              </a:p>
            </p:txBody>
          </p:sp>
        </p:grpSp>
      </p:grpSp>
    </p:spTree>
    <p:extLst>
      <p:ext uri="{BB962C8B-B14F-4D97-AF65-F5344CB8AC3E}">
        <p14:creationId xmlns:p14="http://schemas.microsoft.com/office/powerpoint/2010/main" val="6286608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447461BB-F8C4-A8B8-028D-3DE7E48762B3}"/>
              </a:ext>
            </a:extLst>
          </p:cNvPr>
          <p:cNvGrpSpPr/>
          <p:nvPr/>
        </p:nvGrpSpPr>
        <p:grpSpPr>
          <a:xfrm>
            <a:off x="0" y="3277836"/>
            <a:ext cx="12192000" cy="810567"/>
            <a:chOff x="0" y="3277836"/>
            <a:chExt cx="12192000" cy="810567"/>
          </a:xfrm>
        </p:grpSpPr>
        <p:sp>
          <p:nvSpPr>
            <p:cNvPr id="16" name="矩形: 圆角 15"/>
            <p:cNvSpPr/>
            <p:nvPr/>
          </p:nvSpPr>
          <p:spPr>
            <a:xfrm>
              <a:off x="1484890" y="3308703"/>
              <a:ext cx="2197161" cy="779700"/>
            </a:xfrm>
            <a:prstGeom prst="roundRect">
              <a:avLst>
                <a:gd name="adj" fmla="val 50000"/>
              </a:avLst>
            </a:prstGeom>
            <a:gradFill flip="none" rotWithShape="1">
              <a:gsLst>
                <a:gs pos="97345">
                  <a:schemeClr val="accent1"/>
                </a:gs>
                <a:gs pos="0">
                  <a:schemeClr val="accent1">
                    <a:lumMod val="60000"/>
                    <a:lumOff val="40000"/>
                  </a:schemeClr>
                </a:gs>
              </a:gsLst>
              <a:lin ang="2700000" scaled="1"/>
              <a:tileRect/>
            </a:gradFill>
            <a:ln>
              <a:noFill/>
            </a:ln>
            <a:effectLst>
              <a:outerShdw blurRad="279400" dist="1016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latin typeface="方正小标宋简体" panose="02010601030101010101" pitchFamily="2" charset="-122"/>
                  <a:ea typeface="方正小标宋简体" panose="02010601030101010101" pitchFamily="2" charset="-122"/>
                </a:rPr>
                <a:t>第一步</a:t>
              </a:r>
              <a:endParaRPr lang="zh-CN" altLang="en-US" sz="2400" b="1" dirty="0">
                <a:latin typeface="方正小标宋简体" panose="02010601030101010101" pitchFamily="2" charset="-122"/>
                <a:ea typeface="方正小标宋简体" panose="02010601030101010101" pitchFamily="2" charset="-122"/>
              </a:endParaRPr>
            </a:p>
          </p:txBody>
        </p:sp>
        <p:sp>
          <p:nvSpPr>
            <p:cNvPr id="17" name="矩形: 圆角 16"/>
            <p:cNvSpPr/>
            <p:nvPr/>
          </p:nvSpPr>
          <p:spPr>
            <a:xfrm>
              <a:off x="3857584" y="3308703"/>
              <a:ext cx="2197161" cy="779700"/>
            </a:xfrm>
            <a:prstGeom prst="roundRect">
              <a:avLst>
                <a:gd name="adj" fmla="val 50000"/>
              </a:avLst>
            </a:prstGeom>
            <a:gradFill flip="none" rotWithShape="1">
              <a:gsLst>
                <a:gs pos="97345">
                  <a:schemeClr val="accent1"/>
                </a:gs>
                <a:gs pos="0">
                  <a:schemeClr val="accent1">
                    <a:lumMod val="60000"/>
                    <a:lumOff val="40000"/>
                  </a:schemeClr>
                </a:gs>
              </a:gsLst>
              <a:lin ang="2700000" scaled="1"/>
              <a:tileRect/>
            </a:gradFill>
            <a:ln>
              <a:noFill/>
            </a:ln>
            <a:effectLst>
              <a:outerShdw blurRad="279400" dist="1016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latin typeface="方正小标宋简体" panose="02010601030101010101" pitchFamily="2" charset="-122"/>
                  <a:ea typeface="方正小标宋简体" panose="02010601030101010101" pitchFamily="2" charset="-122"/>
                </a:rPr>
                <a:t>第二步</a:t>
              </a:r>
              <a:endParaRPr lang="en-US" altLang="zh-CN" sz="2400" b="1" dirty="0">
                <a:latin typeface="方正小标宋简体" panose="02010601030101010101" pitchFamily="2" charset="-122"/>
                <a:ea typeface="方正小标宋简体" panose="02010601030101010101" pitchFamily="2" charset="-122"/>
              </a:endParaRPr>
            </a:p>
          </p:txBody>
        </p:sp>
        <p:sp>
          <p:nvSpPr>
            <p:cNvPr id="19" name="矩形: 圆角 18"/>
            <p:cNvSpPr/>
            <p:nvPr/>
          </p:nvSpPr>
          <p:spPr>
            <a:xfrm>
              <a:off x="6195978" y="3308703"/>
              <a:ext cx="2197161" cy="779700"/>
            </a:xfrm>
            <a:prstGeom prst="roundRect">
              <a:avLst>
                <a:gd name="adj" fmla="val 50000"/>
              </a:avLst>
            </a:prstGeom>
            <a:gradFill flip="none" rotWithShape="1">
              <a:gsLst>
                <a:gs pos="97345">
                  <a:schemeClr val="accent1"/>
                </a:gs>
                <a:gs pos="0">
                  <a:schemeClr val="accent1">
                    <a:lumMod val="60000"/>
                    <a:lumOff val="40000"/>
                  </a:schemeClr>
                </a:gs>
              </a:gsLst>
              <a:lin ang="2700000" scaled="1"/>
              <a:tileRect/>
            </a:gradFill>
            <a:ln>
              <a:noFill/>
            </a:ln>
            <a:effectLst>
              <a:outerShdw blurRad="279400" dist="1016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latin typeface="方正小标宋简体" panose="02010601030101010101" pitchFamily="2" charset="-122"/>
                  <a:ea typeface="方正小标宋简体" panose="02010601030101010101" pitchFamily="2" charset="-122"/>
                </a:rPr>
                <a:t>第三步</a:t>
              </a:r>
              <a:endParaRPr lang="en-US" altLang="zh-CN" sz="2400" b="1" dirty="0">
                <a:latin typeface="方正小标宋简体" panose="02010601030101010101" pitchFamily="2" charset="-122"/>
                <a:ea typeface="方正小标宋简体" panose="02010601030101010101" pitchFamily="2" charset="-122"/>
              </a:endParaRPr>
            </a:p>
          </p:txBody>
        </p:sp>
        <p:sp>
          <p:nvSpPr>
            <p:cNvPr id="22" name="矩形: 圆角 21"/>
            <p:cNvSpPr/>
            <p:nvPr/>
          </p:nvSpPr>
          <p:spPr>
            <a:xfrm>
              <a:off x="8534373" y="3308703"/>
              <a:ext cx="2197161" cy="779700"/>
            </a:xfrm>
            <a:prstGeom prst="roundRect">
              <a:avLst>
                <a:gd name="adj" fmla="val 50000"/>
              </a:avLst>
            </a:prstGeom>
            <a:gradFill flip="none" rotWithShape="1">
              <a:gsLst>
                <a:gs pos="97345">
                  <a:schemeClr val="accent1"/>
                </a:gs>
                <a:gs pos="0">
                  <a:schemeClr val="accent1">
                    <a:lumMod val="60000"/>
                    <a:lumOff val="40000"/>
                  </a:schemeClr>
                </a:gs>
              </a:gsLst>
              <a:lin ang="2700000" scaled="1"/>
              <a:tileRect/>
            </a:gradFill>
            <a:ln>
              <a:noFill/>
            </a:ln>
            <a:effectLst>
              <a:outerShdw blurRad="279400" dist="1016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latin typeface="方正小标宋简体" panose="02010601030101010101" pitchFamily="2" charset="-122"/>
                  <a:ea typeface="方正小标宋简体" panose="02010601030101010101" pitchFamily="2" charset="-122"/>
                </a:rPr>
                <a:t>第四步</a:t>
              </a:r>
              <a:endParaRPr lang="en-US" altLang="zh-CN" sz="2000" b="1" dirty="0">
                <a:latin typeface="方正小标宋简体" panose="02010601030101010101" pitchFamily="2" charset="-122"/>
                <a:ea typeface="方正小标宋简体" panose="02010601030101010101" pitchFamily="2" charset="-122"/>
              </a:endParaRPr>
            </a:p>
          </p:txBody>
        </p:sp>
        <p:sp>
          <p:nvSpPr>
            <p:cNvPr id="10" name="任意多边形: 形状 9"/>
            <p:cNvSpPr/>
            <p:nvPr/>
          </p:nvSpPr>
          <p:spPr>
            <a:xfrm>
              <a:off x="10873384" y="3277836"/>
              <a:ext cx="1318616" cy="779701"/>
            </a:xfrm>
            <a:custGeom>
              <a:avLst/>
              <a:gdLst>
                <a:gd name="connsiteX0" fmla="*/ 0 w 988962"/>
                <a:gd name="connsiteY0" fmla="*/ 292387 h 584776"/>
                <a:gd name="connsiteX1" fmla="*/ 0 w 988962"/>
                <a:gd name="connsiteY1" fmla="*/ 292388 h 584776"/>
                <a:gd name="connsiteX2" fmla="*/ 0 w 988962"/>
                <a:gd name="connsiteY2" fmla="*/ 292388 h 584776"/>
                <a:gd name="connsiteX3" fmla="*/ 292388 w 988962"/>
                <a:gd name="connsiteY3" fmla="*/ 0 h 584776"/>
                <a:gd name="connsiteX4" fmla="*/ 988962 w 988962"/>
                <a:gd name="connsiteY4" fmla="*/ 0 h 584776"/>
                <a:gd name="connsiteX5" fmla="*/ 988962 w 988962"/>
                <a:gd name="connsiteY5" fmla="*/ 584776 h 584776"/>
                <a:gd name="connsiteX6" fmla="*/ 292388 w 988962"/>
                <a:gd name="connsiteY6" fmla="*/ 584775 h 584776"/>
                <a:gd name="connsiteX7" fmla="*/ 5941 w 988962"/>
                <a:gd name="connsiteY7" fmla="*/ 351313 h 584776"/>
                <a:gd name="connsiteX8" fmla="*/ 0 w 988962"/>
                <a:gd name="connsiteY8" fmla="*/ 292388 h 584776"/>
                <a:gd name="connsiteX9" fmla="*/ 5941 w 988962"/>
                <a:gd name="connsiteY9" fmla="*/ 233462 h 584776"/>
                <a:gd name="connsiteX10" fmla="*/ 292388 w 988962"/>
                <a:gd name="connsiteY10" fmla="*/ 0 h 584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8962" h="584776">
                  <a:moveTo>
                    <a:pt x="0" y="292387"/>
                  </a:moveTo>
                  <a:lnTo>
                    <a:pt x="0" y="292388"/>
                  </a:lnTo>
                  <a:lnTo>
                    <a:pt x="0" y="292388"/>
                  </a:lnTo>
                  <a:close/>
                  <a:moveTo>
                    <a:pt x="292388" y="0"/>
                  </a:moveTo>
                  <a:lnTo>
                    <a:pt x="988962" y="0"/>
                  </a:lnTo>
                  <a:lnTo>
                    <a:pt x="988962" y="584776"/>
                  </a:lnTo>
                  <a:lnTo>
                    <a:pt x="292388" y="584775"/>
                  </a:lnTo>
                  <a:cubicBezTo>
                    <a:pt x="151092" y="584775"/>
                    <a:pt x="33205" y="484549"/>
                    <a:pt x="5941" y="351313"/>
                  </a:cubicBezTo>
                  <a:lnTo>
                    <a:pt x="0" y="292388"/>
                  </a:lnTo>
                  <a:lnTo>
                    <a:pt x="5941" y="233462"/>
                  </a:lnTo>
                  <a:cubicBezTo>
                    <a:pt x="33205" y="100226"/>
                    <a:pt x="151092" y="0"/>
                    <a:pt x="292388" y="0"/>
                  </a:cubicBezTo>
                  <a:close/>
                </a:path>
              </a:pathLst>
            </a:custGeom>
            <a:gradFill flip="none" rotWithShape="1">
              <a:gsLst>
                <a:gs pos="97345">
                  <a:schemeClr val="accent1">
                    <a:alpha val="33000"/>
                  </a:schemeClr>
                </a:gs>
                <a:gs pos="0">
                  <a:schemeClr val="accent1">
                    <a:lumMod val="60000"/>
                    <a:lumOff val="40000"/>
                    <a:alpha val="20000"/>
                  </a:schemeClr>
                </a:gs>
              </a:gsLst>
              <a:lin ang="2700000" scaled="1"/>
              <a:tileRect/>
            </a:gradFill>
            <a:ln>
              <a:noFill/>
            </a:ln>
            <a:effectLst>
              <a:outerShdw blurRad="279400" dist="1016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b="1">
                <a:latin typeface="+mj-ea"/>
                <a:ea typeface="+mj-ea"/>
              </a:endParaRPr>
            </a:p>
          </p:txBody>
        </p:sp>
        <p:sp>
          <p:nvSpPr>
            <p:cNvPr id="8" name="任意多边形: 形状 7"/>
            <p:cNvSpPr/>
            <p:nvPr/>
          </p:nvSpPr>
          <p:spPr>
            <a:xfrm>
              <a:off x="0" y="3308702"/>
              <a:ext cx="1318616" cy="779701"/>
            </a:xfrm>
            <a:custGeom>
              <a:avLst/>
              <a:gdLst>
                <a:gd name="connsiteX0" fmla="*/ 0 w 988962"/>
                <a:gd name="connsiteY0" fmla="*/ 0 h 584776"/>
                <a:gd name="connsiteX1" fmla="*/ 696574 w 988962"/>
                <a:gd name="connsiteY1" fmla="*/ 0 h 584776"/>
                <a:gd name="connsiteX2" fmla="*/ 988962 w 988962"/>
                <a:gd name="connsiteY2" fmla="*/ 292388 h 584776"/>
                <a:gd name="connsiteX3" fmla="*/ 988961 w 988962"/>
                <a:gd name="connsiteY3" fmla="*/ 292388 h 584776"/>
                <a:gd name="connsiteX4" fmla="*/ 696573 w 988962"/>
                <a:gd name="connsiteY4" fmla="*/ 584776 h 584776"/>
                <a:gd name="connsiteX5" fmla="*/ 0 w 988962"/>
                <a:gd name="connsiteY5" fmla="*/ 584775 h 584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8962" h="584776">
                  <a:moveTo>
                    <a:pt x="0" y="0"/>
                  </a:moveTo>
                  <a:lnTo>
                    <a:pt x="696574" y="0"/>
                  </a:lnTo>
                  <a:cubicBezTo>
                    <a:pt x="858055" y="0"/>
                    <a:pt x="988962" y="130907"/>
                    <a:pt x="988962" y="292388"/>
                  </a:cubicBezTo>
                  <a:lnTo>
                    <a:pt x="988961" y="292388"/>
                  </a:lnTo>
                  <a:cubicBezTo>
                    <a:pt x="988961" y="453869"/>
                    <a:pt x="858054" y="584776"/>
                    <a:pt x="696573" y="584776"/>
                  </a:cubicBezTo>
                  <a:lnTo>
                    <a:pt x="0" y="584775"/>
                  </a:lnTo>
                  <a:close/>
                </a:path>
              </a:pathLst>
            </a:custGeom>
            <a:gradFill flip="none" rotWithShape="1">
              <a:gsLst>
                <a:gs pos="97345">
                  <a:schemeClr val="accent1">
                    <a:alpha val="33000"/>
                  </a:schemeClr>
                </a:gs>
                <a:gs pos="0">
                  <a:schemeClr val="accent1">
                    <a:lumMod val="60000"/>
                    <a:lumOff val="40000"/>
                    <a:alpha val="20000"/>
                  </a:schemeClr>
                </a:gs>
              </a:gsLst>
              <a:lin ang="2700000" scaled="1"/>
              <a:tileRect/>
            </a:gradFill>
            <a:ln>
              <a:noFill/>
            </a:ln>
            <a:effectLst>
              <a:outerShdw blurRad="279400" dist="1016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b="1">
                <a:latin typeface="+mj-ea"/>
                <a:ea typeface="+mj-ea"/>
              </a:endParaRPr>
            </a:p>
          </p:txBody>
        </p:sp>
      </p:grpSp>
      <p:sp>
        <p:nvSpPr>
          <p:cNvPr id="5" name="文本框 4" descr="e7d195523061f1c09e9d68d7cf438b91ef959ecb14fc25d26BBA7F7DBC18E55DFF4014AF651F0BF2569D4B6C1DA7F1A4683A481403BD872FC687266AD13265C1DE7C373772FD8728ABDD69ADD03BFF5BE2862BC891DBB79EB73C15828F0DF1DC2F0B1C670C38CB84D872D3C6C609B3C2C95C34232EA5F7BBA4BF190274E430E03C02613D2AC7931007E66AA5AE319EC6"/>
          <p:cNvSpPr txBox="1"/>
          <p:nvPr/>
        </p:nvSpPr>
        <p:spPr>
          <a:xfrm>
            <a:off x="249767" y="121408"/>
            <a:ext cx="4007611" cy="584775"/>
          </a:xfrm>
          <a:prstGeom prst="rect">
            <a:avLst/>
          </a:prstGeom>
          <a:noFill/>
        </p:spPr>
        <p:txBody>
          <a:bodyPr wrap="square" rtlCol="0">
            <a:spAutoFit/>
          </a:bodyPr>
          <a:lstStyle/>
          <a:p>
            <a:r>
              <a:rPr lang="zh-CN" altLang="en-US" sz="3200" b="1">
                <a:solidFill>
                  <a:schemeClr val="bg1"/>
                </a:solidFill>
                <a:latin typeface="+mj-ea"/>
                <a:ea typeface="+mj-ea"/>
              </a:rPr>
              <a:t>研究的方法和过程</a:t>
            </a:r>
          </a:p>
        </p:txBody>
      </p:sp>
      <p:sp>
        <p:nvSpPr>
          <p:cNvPr id="11" name="矩形 10" descr="e7d195523061f1c09e9d68d7cf438b91ef959ecb14fc25d26BBA7F7DBC18E55DFF4014AF651F0BF2569D4B6C1DA7F1A4683A481403BD872FC687266AD13265C1DE7C373772FD8728ABDD69ADD03BFF5BE2862BC891DBB79EB73C15828F0DF1DC2F0B1C670C38CB84D872D3C6C609B3C2C95C34232EA5F7BBA4BF190274E430E03C02613D2AC7931007E66AA5AE319EC6"/>
          <p:cNvSpPr/>
          <p:nvPr/>
        </p:nvSpPr>
        <p:spPr>
          <a:xfrm>
            <a:off x="249767" y="648628"/>
            <a:ext cx="3803453" cy="307777"/>
          </a:xfrm>
          <a:prstGeom prst="rect">
            <a:avLst/>
          </a:prstGeom>
        </p:spPr>
        <p:txBody>
          <a:bodyPr wrap="square">
            <a:spAutoFit/>
          </a:bodyPr>
          <a:lstStyle/>
          <a:p>
            <a:pPr defTabSz="609585">
              <a:defRPr/>
            </a:pPr>
            <a:r>
              <a:rPr lang="zh-CN" altLang="en-US" sz="1400">
                <a:solidFill>
                  <a:schemeClr val="bg1"/>
                </a:solidFill>
                <a:latin typeface="MiSans Light" charset="-122"/>
                <a:ea typeface="MiSans Light" charset="-122"/>
              </a:rPr>
              <a:t>单击此处输入你的正文，文字是您思想的提炼</a:t>
            </a:r>
            <a:endParaRPr lang="en-US" altLang="zh-CN" sz="1400">
              <a:solidFill>
                <a:schemeClr val="bg1"/>
              </a:solidFill>
              <a:latin typeface="MiSans Light" charset="-122"/>
              <a:ea typeface="MiSans Light" charset="-122"/>
              <a:cs typeface="Arial" panose="020B0604020202020204" pitchFamily="34" charset="0"/>
              <a:sym typeface="MiSans Light" charset="-122"/>
            </a:endParaRPr>
          </a:p>
        </p:txBody>
      </p:sp>
      <p:grpSp>
        <p:nvGrpSpPr>
          <p:cNvPr id="32" name="组合 31">
            <a:extLst>
              <a:ext uri="{FF2B5EF4-FFF2-40B4-BE49-F238E27FC236}">
                <a16:creationId xmlns:a16="http://schemas.microsoft.com/office/drawing/2014/main" id="{540939FA-F43B-8FCA-B711-9081C5E07C0C}"/>
              </a:ext>
            </a:extLst>
          </p:cNvPr>
          <p:cNvGrpSpPr/>
          <p:nvPr/>
        </p:nvGrpSpPr>
        <p:grpSpPr>
          <a:xfrm>
            <a:off x="1677797" y="819283"/>
            <a:ext cx="10715533" cy="2528870"/>
            <a:chOff x="1677797" y="819283"/>
            <a:chExt cx="10715533" cy="2528870"/>
          </a:xfrm>
        </p:grpSpPr>
        <p:cxnSp>
          <p:nvCxnSpPr>
            <p:cNvPr id="29" name="直接箭头连接符 28" descr="e7d195523061f1c09e9d68d7cf438b91ef959ecb14fc25d26BBA7F7DBC18E55DFF4014AF651F0BF2569D4B6C1DA7F1A4683A481403BD872FC687266AD13265C1DE7C373772FD8728ABDD69ADD03BFF5BE2862BC891DBB79E57CCFE4ACE90158B4872951911316DF8C8DEFCB342ADB590D86A301CE6A2D557D912C1D2AEE293F166C43EF8C6AA00082E52638B79E789C8"/>
            <p:cNvCxnSpPr>
              <a:cxnSpLocks/>
            </p:cNvCxnSpPr>
            <p:nvPr/>
          </p:nvCxnSpPr>
          <p:spPr>
            <a:xfrm flipV="1">
              <a:off x="1677797" y="1002082"/>
              <a:ext cx="0" cy="2259073"/>
            </a:xfrm>
            <a:prstGeom prst="straightConnector1">
              <a:avLst/>
            </a:prstGeom>
            <a:ln w="28575">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descr="e7d195523061f1c09e9d68d7cf438b91ef959ecb14fc25d26BBA7F7DBC18E55DFF4014AF651F0BF2569D4B6C1DA7F1A4683A481403BD872FC687266AD13265C1DE7C373772FD8728ABDD69ADD03BFF5BE2862BC891DBB79E57CCFE4ACE90158B4872951911316DF8C8DEFCB342ADB590D86A301CE6A2D557D912C1D2AEE293F166C43EF8C6AA00082E52638B79E789C8"/>
            <p:cNvCxnSpPr>
              <a:cxnSpLocks/>
            </p:cNvCxnSpPr>
            <p:nvPr/>
          </p:nvCxnSpPr>
          <p:spPr>
            <a:xfrm flipV="1">
              <a:off x="6353969" y="1386942"/>
              <a:ext cx="0" cy="1858780"/>
            </a:xfrm>
            <a:prstGeom prst="straightConnector1">
              <a:avLst/>
            </a:prstGeom>
            <a:ln w="28575">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grpSp>
          <p:nvGrpSpPr>
            <p:cNvPr id="25" name="组合 24">
              <a:extLst>
                <a:ext uri="{FF2B5EF4-FFF2-40B4-BE49-F238E27FC236}">
                  <a16:creationId xmlns:a16="http://schemas.microsoft.com/office/drawing/2014/main" id="{DDF77101-022F-C16D-3CAD-7C8642799D05}"/>
                </a:ext>
              </a:extLst>
            </p:cNvPr>
            <p:cNvGrpSpPr/>
            <p:nvPr/>
          </p:nvGrpSpPr>
          <p:grpSpPr>
            <a:xfrm>
              <a:off x="1914650" y="819283"/>
              <a:ext cx="4269209" cy="2528870"/>
              <a:chOff x="1914650" y="819283"/>
              <a:chExt cx="4269209" cy="2528870"/>
            </a:xfrm>
          </p:grpSpPr>
          <p:grpSp>
            <p:nvGrpSpPr>
              <p:cNvPr id="9" name="组合 8">
                <a:extLst>
                  <a:ext uri="{FF2B5EF4-FFF2-40B4-BE49-F238E27FC236}">
                    <a16:creationId xmlns:a16="http://schemas.microsoft.com/office/drawing/2014/main" id="{971B98F6-3FAB-3FB9-D070-C1D7AF56AF82}"/>
                  </a:ext>
                </a:extLst>
              </p:cNvPr>
              <p:cNvGrpSpPr/>
              <p:nvPr/>
            </p:nvGrpSpPr>
            <p:grpSpPr>
              <a:xfrm>
                <a:off x="1922581" y="819283"/>
                <a:ext cx="4261278" cy="1938200"/>
                <a:chOff x="1922581" y="819283"/>
                <a:chExt cx="4261278" cy="1938200"/>
              </a:xfrm>
            </p:grpSpPr>
            <p:sp>
              <p:nvSpPr>
                <p:cNvPr id="12" name="文本框 11"/>
                <p:cNvSpPr txBox="1"/>
                <p:nvPr/>
              </p:nvSpPr>
              <p:spPr>
                <a:xfrm>
                  <a:off x="1934697" y="819283"/>
                  <a:ext cx="2697429" cy="379656"/>
                </a:xfrm>
                <a:prstGeom prst="rect">
                  <a:avLst/>
                </a:prstGeom>
                <a:noFill/>
              </p:spPr>
              <p:txBody>
                <a:bodyPr wrap="square">
                  <a:spAutoFit/>
                </a:bodyPr>
                <a:lstStyle/>
                <a:p>
                  <a:pPr defTabSz="609585">
                    <a:defRPr/>
                  </a:pPr>
                  <a:r>
                    <a:rPr lang="zh-CN" altLang="en-US" sz="1867" b="1">
                      <a:solidFill>
                        <a:schemeClr val="tx1">
                          <a:lumMod val="75000"/>
                          <a:lumOff val="25000"/>
                        </a:schemeClr>
                      </a:solidFill>
                      <a:latin typeface="方正小标宋简体" panose="02010601030101010101" pitchFamily="2" charset="-122"/>
                      <a:ea typeface="方正小标宋简体" panose="02010601030101010101" pitchFamily="2" charset="-122"/>
                    </a:rPr>
                    <a:t>研究历史问题</a:t>
                  </a:r>
                </a:p>
              </p:txBody>
            </p:sp>
            <p:sp>
              <p:nvSpPr>
                <p:cNvPr id="13" name="文本框 12"/>
                <p:cNvSpPr txBox="1"/>
                <p:nvPr/>
              </p:nvSpPr>
              <p:spPr>
                <a:xfrm>
                  <a:off x="1922581" y="1099785"/>
                  <a:ext cx="4261278" cy="1657698"/>
                </a:xfrm>
                <a:prstGeom prst="rect">
                  <a:avLst/>
                </a:prstGeom>
                <a:noFill/>
              </p:spPr>
              <p:txBody>
                <a:bodyPr wrap="square">
                  <a:spAutoFit/>
                </a:bodyPr>
                <a:lstStyle>
                  <a:defPPr>
                    <a:defRPr lang="en-US"/>
                  </a:defPPr>
                  <a:lvl1pPr algn="ctr">
                    <a:defRPr sz="3200" b="1"/>
                  </a:lvl1pPr>
                </a:lstStyle>
                <a:p>
                  <a:pPr algn="l">
                    <a:lnSpc>
                      <a:spcPct val="150000"/>
                    </a:lnSpc>
                  </a:pPr>
                  <a:r>
                    <a:rPr lang="zh-CN" altLang="en-US" sz="1400" b="0">
                      <a:latin typeface="宋体" panose="02010600030101010101" pitchFamily="2" charset="-122"/>
                      <a:ea typeface="宋体" panose="02010600030101010101" pitchFamily="2" charset="-122"/>
                    </a:rPr>
                    <a:t>并行离散机器调度与选址问题是一个集成了两个在运筹学领域被广泛研究的</a:t>
                  </a:r>
                  <a:r>
                    <a:rPr lang="en-US" altLang="zh-CN" sz="1400" b="0">
                      <a:latin typeface="宋体" panose="02010600030101010101" pitchFamily="2" charset="-122"/>
                      <a:ea typeface="宋体" panose="02010600030101010101" pitchFamily="2" charset="-122"/>
                    </a:rPr>
                    <a:t>NP-hard</a:t>
                  </a:r>
                  <a:r>
                    <a:rPr lang="zh-CN" altLang="en-US" sz="1400" b="0">
                      <a:latin typeface="宋体" panose="02010600030101010101" pitchFamily="2" charset="-122"/>
                      <a:ea typeface="宋体" panose="02010600030101010101" pitchFamily="2" charset="-122"/>
                    </a:rPr>
                    <a:t>组合优化难题：设施选址问题与并行机调度问题。传统上，解决此类集成问题的方法通常采用序贯决策模式，即先确定选址，再进行调度。</a:t>
                  </a:r>
                  <a:endParaRPr lang="en-US" altLang="zh-CN" sz="1400" b="0">
                    <a:latin typeface="宋体" panose="02010600030101010101" pitchFamily="2" charset="-122"/>
                    <a:ea typeface="宋体" panose="02010600030101010101" pitchFamily="2" charset="-122"/>
                  </a:endParaRPr>
                </a:p>
              </p:txBody>
            </p:sp>
          </p:grpSp>
          <p:sp>
            <p:nvSpPr>
              <p:cNvPr id="2" name="文本框 1">
                <a:extLst>
                  <a:ext uri="{FF2B5EF4-FFF2-40B4-BE49-F238E27FC236}">
                    <a16:creationId xmlns:a16="http://schemas.microsoft.com/office/drawing/2014/main" id="{68F25518-3FBB-1A59-E1F5-AFBF5E951FE6}"/>
                  </a:ext>
                </a:extLst>
              </p:cNvPr>
              <p:cNvSpPr txBox="1"/>
              <p:nvPr/>
            </p:nvSpPr>
            <p:spPr>
              <a:xfrm>
                <a:off x="1914650" y="2659951"/>
                <a:ext cx="4261278" cy="688202"/>
              </a:xfrm>
              <a:prstGeom prst="rect">
                <a:avLst/>
              </a:prstGeom>
              <a:noFill/>
            </p:spPr>
            <p:txBody>
              <a:bodyPr wrap="square">
                <a:spAutoFit/>
              </a:bodyPr>
              <a:lstStyle>
                <a:defPPr>
                  <a:defRPr lang="en-US"/>
                </a:defPPr>
                <a:lvl1pPr algn="ctr">
                  <a:defRPr sz="3200" b="1"/>
                </a:lvl1pPr>
              </a:lstStyle>
              <a:p>
                <a:pPr algn="l">
                  <a:lnSpc>
                    <a:spcPct val="150000"/>
                  </a:lnSpc>
                </a:pPr>
                <a:r>
                  <a:rPr lang="zh-CN" altLang="en-US" sz="1400" b="0">
                    <a:latin typeface="宋体" panose="02010600030101010101" pitchFamily="2" charset="-122"/>
                    <a:ea typeface="宋体" panose="02010600030101010101" pitchFamily="2" charset="-122"/>
                  </a:rPr>
                  <a:t>然而，大量研究已证明，</a:t>
                </a:r>
                <a:r>
                  <a:rPr lang="zh-CN" altLang="en-US" sz="1400" b="0">
                    <a:solidFill>
                      <a:srgbClr val="C00000"/>
                    </a:solidFill>
                    <a:latin typeface="宋体" panose="02010600030101010101" pitchFamily="2" charset="-122"/>
                    <a:ea typeface="宋体" panose="02010600030101010101" pitchFamily="2" charset="-122"/>
                  </a:rPr>
                  <a:t>选址决策与调度决策之间存在着强烈的相互依赖关系 。 </a:t>
                </a:r>
                <a:endParaRPr lang="en-US" altLang="zh-CN" sz="1400" b="0">
                  <a:solidFill>
                    <a:srgbClr val="C00000"/>
                  </a:solidFill>
                  <a:latin typeface="宋体" panose="02010600030101010101" pitchFamily="2" charset="-122"/>
                  <a:ea typeface="宋体" panose="02010600030101010101" pitchFamily="2" charset="-122"/>
                </a:endParaRPr>
              </a:p>
            </p:txBody>
          </p:sp>
        </p:grpSp>
        <p:grpSp>
          <p:nvGrpSpPr>
            <p:cNvPr id="26" name="组合 25">
              <a:extLst>
                <a:ext uri="{FF2B5EF4-FFF2-40B4-BE49-F238E27FC236}">
                  <a16:creationId xmlns:a16="http://schemas.microsoft.com/office/drawing/2014/main" id="{5A97DF86-F104-72D9-F668-55821A431C8C}"/>
                </a:ext>
              </a:extLst>
            </p:cNvPr>
            <p:cNvGrpSpPr/>
            <p:nvPr/>
          </p:nvGrpSpPr>
          <p:grpSpPr>
            <a:xfrm>
              <a:off x="6610869" y="1255799"/>
              <a:ext cx="5782461" cy="1702930"/>
              <a:chOff x="6610869" y="1255799"/>
              <a:chExt cx="5782461" cy="1702930"/>
            </a:xfrm>
          </p:grpSpPr>
          <p:sp>
            <p:nvSpPr>
              <p:cNvPr id="14" name="文本框 13"/>
              <p:cNvSpPr txBox="1"/>
              <p:nvPr/>
            </p:nvSpPr>
            <p:spPr>
              <a:xfrm>
                <a:off x="6610869" y="1255799"/>
                <a:ext cx="3171370" cy="379656"/>
              </a:xfrm>
              <a:prstGeom prst="rect">
                <a:avLst/>
              </a:prstGeom>
              <a:noFill/>
            </p:spPr>
            <p:txBody>
              <a:bodyPr wrap="square">
                <a:spAutoFit/>
              </a:bodyPr>
              <a:lstStyle>
                <a:defPPr>
                  <a:defRPr lang="zh-CN"/>
                </a:defPPr>
                <a:lvl1pPr defTabSz="609585">
                  <a:defRPr sz="1867" b="1">
                    <a:solidFill>
                      <a:schemeClr val="tx1">
                        <a:lumMod val="75000"/>
                        <a:lumOff val="25000"/>
                      </a:schemeClr>
                    </a:solidFill>
                    <a:latin typeface="方正小标宋简体" panose="02010601030101010101" pitchFamily="2" charset="-122"/>
                    <a:ea typeface="方正小标宋简体" panose="02010601030101010101" pitchFamily="2" charset="-122"/>
                  </a:defRPr>
                </a:lvl1pPr>
              </a:lstStyle>
              <a:p>
                <a:r>
                  <a:rPr lang="zh-CN" altLang="en-US"/>
                  <a:t>领域内存在的未解决挑战</a:t>
                </a:r>
              </a:p>
            </p:txBody>
          </p:sp>
          <p:sp>
            <p:nvSpPr>
              <p:cNvPr id="15" name="文本框 14"/>
              <p:cNvSpPr txBox="1"/>
              <p:nvPr/>
            </p:nvSpPr>
            <p:spPr>
              <a:xfrm>
                <a:off x="6610869" y="1599422"/>
                <a:ext cx="5438523" cy="365036"/>
              </a:xfrm>
              <a:prstGeom prst="rect">
                <a:avLst/>
              </a:prstGeom>
              <a:noFill/>
            </p:spPr>
            <p:txBody>
              <a:bodyPr wrap="square">
                <a:spAutoFit/>
              </a:bodyPr>
              <a:lstStyle>
                <a:defPPr>
                  <a:defRPr lang="zh-CN"/>
                </a:defPPr>
                <a:lvl1pPr>
                  <a:lnSpc>
                    <a:spcPct val="150000"/>
                  </a:lnSpc>
                  <a:defRPr sz="1400" b="0">
                    <a:latin typeface="宋体" panose="02010600030101010101" pitchFamily="2" charset="-122"/>
                    <a:ea typeface="宋体" panose="02010600030101010101" pitchFamily="2" charset="-122"/>
                  </a:defRPr>
                </a:lvl1pPr>
              </a:lstStyle>
              <a:p>
                <a:r>
                  <a:rPr lang="zh-CN" altLang="en-US"/>
                  <a:t>在本文发表之前，</a:t>
                </a:r>
                <a:r>
                  <a:rPr lang="en-US" altLang="zh-CN"/>
                  <a:t>D-ScheLoc</a:t>
                </a:r>
                <a:r>
                  <a:rPr lang="zh-CN" altLang="en-US"/>
                  <a:t>领域面临着几个核心挑战：</a:t>
                </a:r>
                <a:endParaRPr lang="en-US" altLang="zh-CN"/>
              </a:p>
            </p:txBody>
          </p:sp>
          <p:sp>
            <p:nvSpPr>
              <p:cNvPr id="41" name="文本框 40">
                <a:extLst>
                  <a:ext uri="{FF2B5EF4-FFF2-40B4-BE49-F238E27FC236}">
                    <a16:creationId xmlns:a16="http://schemas.microsoft.com/office/drawing/2014/main" id="{F2204680-500C-517F-F6E5-9B8E4AB98D13}"/>
                  </a:ext>
                </a:extLst>
              </p:cNvPr>
              <p:cNvSpPr txBox="1"/>
              <p:nvPr/>
            </p:nvSpPr>
            <p:spPr>
              <a:xfrm>
                <a:off x="6954807" y="1947362"/>
                <a:ext cx="5438523" cy="1011367"/>
              </a:xfrm>
              <a:prstGeom prst="rect">
                <a:avLst/>
              </a:prstGeom>
              <a:noFill/>
            </p:spPr>
            <p:txBody>
              <a:bodyPr wrap="square">
                <a:spAutoFit/>
              </a:bodyPr>
              <a:lstStyle>
                <a:defPPr>
                  <a:defRPr lang="zh-CN"/>
                </a:defPPr>
                <a:lvl1pPr>
                  <a:lnSpc>
                    <a:spcPct val="150000"/>
                  </a:lnSpc>
                  <a:defRPr sz="1400" b="0">
                    <a:latin typeface="宋体" panose="02010600030101010101" pitchFamily="2" charset="-122"/>
                    <a:ea typeface="宋体" panose="02010600030101010101" pitchFamily="2" charset="-122"/>
                  </a:defRPr>
                </a:lvl1pPr>
              </a:lstStyle>
              <a:p>
                <a:pPr marL="285750" indent="-285750">
                  <a:buFont typeface="Arial" panose="020B0604020202020204" pitchFamily="34" charset="0"/>
                  <a:buChar char="•"/>
                </a:pPr>
                <a:r>
                  <a:rPr lang="zh-CN" altLang="en-US"/>
                  <a:t>最优性差距</a:t>
                </a:r>
              </a:p>
              <a:p>
                <a:pPr marL="285750" indent="-285750">
                  <a:buFont typeface="Arial" panose="020B0604020202020204" pitchFamily="34" charset="0"/>
                  <a:buChar char="•"/>
                </a:pPr>
                <a:r>
                  <a:rPr lang="zh-CN" altLang="en-US"/>
                  <a:t>可扩展性与复杂性</a:t>
                </a:r>
              </a:p>
              <a:p>
                <a:pPr marL="285750" indent="-285750">
                  <a:buFont typeface="Arial" panose="020B0604020202020204" pitchFamily="34" charset="0"/>
                  <a:buChar char="•"/>
                </a:pPr>
                <a:r>
                  <a:rPr lang="zh-CN" altLang="en-US"/>
                  <a:t>弱模型构建</a:t>
                </a:r>
              </a:p>
            </p:txBody>
          </p:sp>
        </p:grpSp>
      </p:grpSp>
      <p:grpSp>
        <p:nvGrpSpPr>
          <p:cNvPr id="45" name="组合 44">
            <a:extLst>
              <a:ext uri="{FF2B5EF4-FFF2-40B4-BE49-F238E27FC236}">
                <a16:creationId xmlns:a16="http://schemas.microsoft.com/office/drawing/2014/main" id="{FA952860-4707-BC74-28ED-F1CDC492E7D7}"/>
              </a:ext>
            </a:extLst>
          </p:cNvPr>
          <p:cNvGrpSpPr/>
          <p:nvPr/>
        </p:nvGrpSpPr>
        <p:grpSpPr>
          <a:xfrm>
            <a:off x="232969" y="4171336"/>
            <a:ext cx="11726062" cy="2654078"/>
            <a:chOff x="232969" y="4171336"/>
            <a:chExt cx="11726062" cy="2654078"/>
          </a:xfrm>
        </p:grpSpPr>
        <p:grpSp>
          <p:nvGrpSpPr>
            <p:cNvPr id="42" name="组合 41">
              <a:extLst>
                <a:ext uri="{FF2B5EF4-FFF2-40B4-BE49-F238E27FC236}">
                  <a16:creationId xmlns:a16="http://schemas.microsoft.com/office/drawing/2014/main" id="{C0A1018A-133F-7796-57C3-629B8F5FC23F}"/>
                </a:ext>
              </a:extLst>
            </p:cNvPr>
            <p:cNvGrpSpPr/>
            <p:nvPr/>
          </p:nvGrpSpPr>
          <p:grpSpPr>
            <a:xfrm>
              <a:off x="232969" y="4333627"/>
              <a:ext cx="3205312" cy="2134401"/>
              <a:chOff x="232969" y="4333627"/>
              <a:chExt cx="3205312" cy="2134401"/>
            </a:xfrm>
          </p:grpSpPr>
          <p:pic>
            <p:nvPicPr>
              <p:cNvPr id="7" name="图片 6">
                <a:extLst>
                  <a:ext uri="{FF2B5EF4-FFF2-40B4-BE49-F238E27FC236}">
                    <a16:creationId xmlns:a16="http://schemas.microsoft.com/office/drawing/2014/main" id="{D1AA6394-A204-2B13-7EDE-8F741E84B5A3}"/>
                  </a:ext>
                </a:extLst>
              </p:cNvPr>
              <p:cNvPicPr>
                <a:picLocks noChangeAspect="1"/>
              </p:cNvPicPr>
              <p:nvPr/>
            </p:nvPicPr>
            <p:blipFill>
              <a:blip r:embed="rId3"/>
              <a:stretch>
                <a:fillRect/>
              </a:stretch>
            </p:blipFill>
            <p:spPr>
              <a:xfrm>
                <a:off x="232969" y="4333627"/>
                <a:ext cx="3205312" cy="1424583"/>
              </a:xfrm>
              <a:prstGeom prst="rect">
                <a:avLst/>
              </a:prstGeom>
            </p:spPr>
          </p:pic>
          <p:cxnSp>
            <p:nvCxnSpPr>
              <p:cNvPr id="30" name="直接连接符 29">
                <a:extLst>
                  <a:ext uri="{FF2B5EF4-FFF2-40B4-BE49-F238E27FC236}">
                    <a16:creationId xmlns:a16="http://schemas.microsoft.com/office/drawing/2014/main" id="{F3AE7CDD-A55F-AB52-501F-E25552D4A137}"/>
                  </a:ext>
                </a:extLst>
              </p:cNvPr>
              <p:cNvCxnSpPr>
                <a:cxnSpLocks/>
              </p:cNvCxnSpPr>
              <p:nvPr/>
            </p:nvCxnSpPr>
            <p:spPr>
              <a:xfrm>
                <a:off x="1677797" y="4521385"/>
                <a:ext cx="1370200" cy="0"/>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pic>
            <p:nvPicPr>
              <p:cNvPr id="28" name="图片 27">
                <a:extLst>
                  <a:ext uri="{FF2B5EF4-FFF2-40B4-BE49-F238E27FC236}">
                    <a16:creationId xmlns:a16="http://schemas.microsoft.com/office/drawing/2014/main" id="{5B8DA552-359A-8CAB-339E-07EA2C0336CD}"/>
                  </a:ext>
                </a:extLst>
              </p:cNvPr>
              <p:cNvPicPr>
                <a:picLocks noChangeAspect="1"/>
              </p:cNvPicPr>
              <p:nvPr/>
            </p:nvPicPr>
            <p:blipFill>
              <a:blip r:embed="rId4"/>
              <a:stretch>
                <a:fillRect/>
              </a:stretch>
            </p:blipFill>
            <p:spPr>
              <a:xfrm>
                <a:off x="313519" y="5369773"/>
                <a:ext cx="2871538" cy="1098255"/>
              </a:xfrm>
              <a:prstGeom prst="rect">
                <a:avLst/>
              </a:prstGeom>
            </p:spPr>
          </p:pic>
          <p:cxnSp>
            <p:nvCxnSpPr>
              <p:cNvPr id="36" name="直接连接符 35">
                <a:extLst>
                  <a:ext uri="{FF2B5EF4-FFF2-40B4-BE49-F238E27FC236}">
                    <a16:creationId xmlns:a16="http://schemas.microsoft.com/office/drawing/2014/main" id="{854024C0-9059-9D51-1BFD-322459D0860D}"/>
                  </a:ext>
                </a:extLst>
              </p:cNvPr>
              <p:cNvCxnSpPr>
                <a:cxnSpLocks/>
              </p:cNvCxnSpPr>
              <p:nvPr/>
            </p:nvCxnSpPr>
            <p:spPr>
              <a:xfrm>
                <a:off x="379088" y="4631850"/>
                <a:ext cx="1772405" cy="0"/>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38" name="直接连接符 37">
                <a:extLst>
                  <a:ext uri="{FF2B5EF4-FFF2-40B4-BE49-F238E27FC236}">
                    <a16:creationId xmlns:a16="http://schemas.microsoft.com/office/drawing/2014/main" id="{729617F6-3A19-DE2B-30FE-179B97962D0C}"/>
                  </a:ext>
                </a:extLst>
              </p:cNvPr>
              <p:cNvCxnSpPr>
                <a:cxnSpLocks/>
              </p:cNvCxnSpPr>
              <p:nvPr/>
            </p:nvCxnSpPr>
            <p:spPr>
              <a:xfrm>
                <a:off x="649800" y="5583071"/>
                <a:ext cx="2535257" cy="0"/>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40" name="直接连接符 39">
                <a:extLst>
                  <a:ext uri="{FF2B5EF4-FFF2-40B4-BE49-F238E27FC236}">
                    <a16:creationId xmlns:a16="http://schemas.microsoft.com/office/drawing/2014/main" id="{F299656E-D9EA-059E-C5B0-6FF56915F686}"/>
                  </a:ext>
                </a:extLst>
              </p:cNvPr>
              <p:cNvCxnSpPr>
                <a:cxnSpLocks/>
              </p:cNvCxnSpPr>
              <p:nvPr/>
            </p:nvCxnSpPr>
            <p:spPr>
              <a:xfrm>
                <a:off x="410168" y="5758210"/>
                <a:ext cx="2535257" cy="0"/>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grpSp>
        <p:grpSp>
          <p:nvGrpSpPr>
            <p:cNvPr id="39" name="组合 38">
              <a:extLst>
                <a:ext uri="{FF2B5EF4-FFF2-40B4-BE49-F238E27FC236}">
                  <a16:creationId xmlns:a16="http://schemas.microsoft.com/office/drawing/2014/main" id="{6AEBA174-AA5B-03B1-772B-111DE05112FB}"/>
                </a:ext>
              </a:extLst>
            </p:cNvPr>
            <p:cNvGrpSpPr/>
            <p:nvPr/>
          </p:nvGrpSpPr>
          <p:grpSpPr>
            <a:xfrm>
              <a:off x="4161025" y="4171336"/>
              <a:ext cx="7798006" cy="2654078"/>
              <a:chOff x="4161025" y="4171336"/>
              <a:chExt cx="7798006" cy="2654078"/>
            </a:xfrm>
          </p:grpSpPr>
          <p:cxnSp>
            <p:nvCxnSpPr>
              <p:cNvPr id="47" name="直接箭头连接符 46" descr="e7d195523061f1c09e9d68d7cf438b91ef959ecb14fc25d26BBA7F7DBC18E55DFF4014AF651F0BF2569D4B6C1DA7F1A4683A481403BD872FC687266AD13265C1DE7C373772FD8728ABDD69ADD03BFF5BE2862BC891DBB79E57CCFE4ACE90158B4872951911316DF8C8DEFCB342ADB590D86A301CE6A2D557D912C1D2AEE293F166C43EF8C6AA00082E52638B79E789C8"/>
              <p:cNvCxnSpPr>
                <a:cxnSpLocks/>
              </p:cNvCxnSpPr>
              <p:nvPr/>
            </p:nvCxnSpPr>
            <p:spPr>
              <a:xfrm>
                <a:off x="4161025" y="4258849"/>
                <a:ext cx="13273" cy="2279646"/>
              </a:xfrm>
              <a:prstGeom prst="straightConnector1">
                <a:avLst/>
              </a:prstGeom>
              <a:ln w="28575">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descr="e7d195523061f1c09e9d68d7cf438b91ef959ecb14fc25d26BBA7F7DBC18E55DFF4014AF651F0BF2569D4B6C1DA7F1A4683A481403BD872FC687266AD13265C1DE7C373772FD8728ABDD69ADD03BFF5BE2862BC891DBB79E57CCFE4ACE90158B4872951911316DF8C8DEFCB342ADB590D86A301CE6A2D557D912C1D2AEE293F166C43EF8C6AA00082E52638B79E789C8"/>
              <p:cNvCxnSpPr>
                <a:cxnSpLocks/>
              </p:cNvCxnSpPr>
              <p:nvPr/>
            </p:nvCxnSpPr>
            <p:spPr>
              <a:xfrm>
                <a:off x="8534373" y="4258849"/>
                <a:ext cx="0" cy="1597069"/>
              </a:xfrm>
              <a:prstGeom prst="straightConnector1">
                <a:avLst/>
              </a:prstGeom>
              <a:ln w="28575">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grpSp>
            <p:nvGrpSpPr>
              <p:cNvPr id="27" name="组合 26">
                <a:extLst>
                  <a:ext uri="{FF2B5EF4-FFF2-40B4-BE49-F238E27FC236}">
                    <a16:creationId xmlns:a16="http://schemas.microsoft.com/office/drawing/2014/main" id="{321678F4-EFFC-23A7-C678-63AE32602FAA}"/>
                  </a:ext>
                </a:extLst>
              </p:cNvPr>
              <p:cNvGrpSpPr/>
              <p:nvPr/>
            </p:nvGrpSpPr>
            <p:grpSpPr>
              <a:xfrm>
                <a:off x="4257377" y="4205108"/>
                <a:ext cx="4152365" cy="2620306"/>
                <a:chOff x="4257377" y="4205108"/>
                <a:chExt cx="4152365" cy="2620306"/>
              </a:xfrm>
            </p:grpSpPr>
            <p:sp>
              <p:nvSpPr>
                <p:cNvPr id="18" name="文本框 17"/>
                <p:cNvSpPr txBox="1"/>
                <p:nvPr/>
              </p:nvSpPr>
              <p:spPr>
                <a:xfrm>
                  <a:off x="4257378" y="4205108"/>
                  <a:ext cx="2697429" cy="379656"/>
                </a:xfrm>
                <a:prstGeom prst="rect">
                  <a:avLst/>
                </a:prstGeom>
                <a:noFill/>
              </p:spPr>
              <p:txBody>
                <a:bodyPr wrap="square">
                  <a:spAutoFit/>
                </a:bodyPr>
                <a:lstStyle>
                  <a:defPPr>
                    <a:defRPr lang="zh-CN"/>
                  </a:defPPr>
                  <a:lvl1pPr defTabSz="609585">
                    <a:defRPr sz="1867" b="1">
                      <a:solidFill>
                        <a:schemeClr val="tx1">
                          <a:lumMod val="75000"/>
                          <a:lumOff val="25000"/>
                        </a:schemeClr>
                      </a:solidFill>
                      <a:latin typeface="方正小标宋简体" panose="02010601030101010101" pitchFamily="2" charset="-122"/>
                      <a:ea typeface="方正小标宋简体" panose="02010601030101010101" pitchFamily="2" charset="-122"/>
                    </a:defRPr>
                  </a:lvl1pPr>
                </a:lstStyle>
                <a:p>
                  <a:r>
                    <a:rPr lang="zh-CN" altLang="en-US"/>
                    <a:t>文献解决方案</a:t>
                  </a:r>
                </a:p>
              </p:txBody>
            </p:sp>
            <p:sp>
              <p:nvSpPr>
                <p:cNvPr id="20" name="文本框 19"/>
                <p:cNvSpPr txBox="1"/>
                <p:nvPr/>
              </p:nvSpPr>
              <p:spPr>
                <a:xfrm>
                  <a:off x="4257377" y="4521385"/>
                  <a:ext cx="4152365" cy="2304029"/>
                </a:xfrm>
                <a:prstGeom prst="rect">
                  <a:avLst/>
                </a:prstGeom>
                <a:noFill/>
              </p:spPr>
              <p:txBody>
                <a:bodyPr wrap="square">
                  <a:spAutoFit/>
                </a:bodyPr>
                <a:lstStyle>
                  <a:defPPr>
                    <a:defRPr lang="zh-CN"/>
                  </a:defPPr>
                  <a:lvl1pPr>
                    <a:lnSpc>
                      <a:spcPct val="150000"/>
                    </a:lnSpc>
                    <a:defRPr sz="1400" b="0">
                      <a:latin typeface="宋体" panose="02010600030101010101" pitchFamily="2" charset="-122"/>
                      <a:ea typeface="宋体" panose="02010600030101010101" pitchFamily="2" charset="-122"/>
                    </a:defRPr>
                  </a:lvl1pPr>
                </a:lstStyle>
                <a:p>
                  <a:r>
                    <a:rPr lang="zh-CN" altLang="en-US"/>
                    <a:t>关于</a:t>
                  </a:r>
                  <a:r>
                    <a:rPr lang="en-US" altLang="zh-CN"/>
                    <a:t>ScheLoc</a:t>
                  </a:r>
                  <a:r>
                    <a:rPr lang="zh-CN" altLang="en-US"/>
                    <a:t>问题的文献相对稀少，尤其是在并行机场景下。早期的研究主要集中在单机问题上，包括平面选址和离散选址。</a:t>
                  </a:r>
                  <a:endParaRPr lang="en-US" altLang="zh-CN"/>
                </a:p>
                <a:p>
                  <a:r>
                    <a:rPr lang="zh-CN" altLang="en-US"/>
                    <a:t>针对本文所研究的并行</a:t>
                  </a:r>
                  <a:r>
                    <a:rPr lang="en-US" altLang="zh-CN"/>
                    <a:t>D-ScheLoc</a:t>
                  </a:r>
                  <a:r>
                    <a:rPr lang="zh-CN" altLang="en-US"/>
                    <a:t>问题，先前的主要研究成果包括：</a:t>
                  </a:r>
                  <a:endParaRPr lang="en-US" altLang="zh-CN"/>
                </a:p>
                <a:p>
                  <a:pPr marL="285750" indent="-285750">
                    <a:buFont typeface="Arial" panose="020B0604020202020204" pitchFamily="34" charset="0"/>
                    <a:buChar char="•"/>
                  </a:pPr>
                  <a:r>
                    <a:rPr lang="en-US" altLang="zh-CN" b="1"/>
                    <a:t>Heßler and Deghdak (2017)</a:t>
                  </a:r>
                </a:p>
                <a:p>
                  <a:pPr marL="285750" indent="-285750">
                    <a:buFont typeface="Arial" panose="020B0604020202020204" pitchFamily="34" charset="0"/>
                    <a:buChar char="•"/>
                  </a:pPr>
                  <a:r>
                    <a:rPr lang="en-US" altLang="zh-CN" b="1"/>
                    <a:t>Wang et al. (2020)</a:t>
                  </a:r>
                  <a:endParaRPr lang="en-US" altLang="zh-CN"/>
                </a:p>
              </p:txBody>
            </p:sp>
          </p:grpSp>
          <p:grpSp>
            <p:nvGrpSpPr>
              <p:cNvPr id="31" name="组合 30">
                <a:extLst>
                  <a:ext uri="{FF2B5EF4-FFF2-40B4-BE49-F238E27FC236}">
                    <a16:creationId xmlns:a16="http://schemas.microsoft.com/office/drawing/2014/main" id="{521E48D9-731B-FF86-4B41-29EC8EBD8D8D}"/>
                  </a:ext>
                </a:extLst>
              </p:cNvPr>
              <p:cNvGrpSpPr/>
              <p:nvPr/>
            </p:nvGrpSpPr>
            <p:grpSpPr>
              <a:xfrm>
                <a:off x="8659000" y="4171336"/>
                <a:ext cx="3300031" cy="1755836"/>
                <a:chOff x="8659000" y="4171336"/>
                <a:chExt cx="3300031" cy="1755836"/>
              </a:xfrm>
            </p:grpSpPr>
            <p:sp>
              <p:nvSpPr>
                <p:cNvPr id="21" name="文本框 20"/>
                <p:cNvSpPr txBox="1"/>
                <p:nvPr/>
              </p:nvSpPr>
              <p:spPr>
                <a:xfrm>
                  <a:off x="8659000" y="4171336"/>
                  <a:ext cx="2697429" cy="379656"/>
                </a:xfrm>
                <a:prstGeom prst="rect">
                  <a:avLst/>
                </a:prstGeom>
                <a:noFill/>
              </p:spPr>
              <p:txBody>
                <a:bodyPr wrap="square">
                  <a:spAutoFit/>
                </a:bodyPr>
                <a:lstStyle>
                  <a:defPPr>
                    <a:defRPr lang="zh-CN"/>
                  </a:defPPr>
                  <a:lvl1pPr defTabSz="609585">
                    <a:defRPr sz="1867" b="1">
                      <a:solidFill>
                        <a:schemeClr val="tx1">
                          <a:lumMod val="75000"/>
                          <a:lumOff val="25000"/>
                        </a:schemeClr>
                      </a:solidFill>
                      <a:latin typeface="方正小标宋简体" panose="02010601030101010101" pitchFamily="2" charset="-122"/>
                      <a:ea typeface="方正小标宋简体" panose="02010601030101010101" pitchFamily="2" charset="-122"/>
                    </a:defRPr>
                  </a:lvl1pPr>
                </a:lstStyle>
                <a:p>
                  <a:r>
                    <a:rPr lang="zh-CN" altLang="en-US"/>
                    <a:t>本文的解决方案</a:t>
                  </a:r>
                </a:p>
              </p:txBody>
            </p:sp>
            <p:sp>
              <p:nvSpPr>
                <p:cNvPr id="23" name="文本框 22"/>
                <p:cNvSpPr txBox="1"/>
                <p:nvPr/>
              </p:nvSpPr>
              <p:spPr>
                <a:xfrm>
                  <a:off x="8659000" y="4521385"/>
                  <a:ext cx="3300031" cy="688202"/>
                </a:xfrm>
                <a:prstGeom prst="rect">
                  <a:avLst/>
                </a:prstGeom>
                <a:noFill/>
              </p:spPr>
              <p:txBody>
                <a:bodyPr wrap="square">
                  <a:spAutoFit/>
                </a:bodyPr>
                <a:lstStyle>
                  <a:defPPr>
                    <a:defRPr lang="zh-CN"/>
                  </a:defPPr>
                  <a:lvl1pPr>
                    <a:lnSpc>
                      <a:spcPct val="150000"/>
                    </a:lnSpc>
                    <a:defRPr sz="1400" b="0">
                      <a:latin typeface="宋体" panose="02010600030101010101" pitchFamily="2" charset="-122"/>
                      <a:ea typeface="宋体" panose="02010600030101010101" pitchFamily="2" charset="-122"/>
                    </a:defRPr>
                  </a:lvl1pPr>
                </a:lstStyle>
                <a:p>
                  <a:r>
                    <a:rPr lang="zh-CN" altLang="en-US"/>
                    <a:t>为应对上述挑战，本文作者采用了一种双管齐下的战略：</a:t>
                  </a:r>
                  <a:endParaRPr lang="en-US" altLang="zh-CN"/>
                </a:p>
              </p:txBody>
            </p:sp>
            <p:sp>
              <p:nvSpPr>
                <p:cNvPr id="43" name="文本框 42">
                  <a:extLst>
                    <a:ext uri="{FF2B5EF4-FFF2-40B4-BE49-F238E27FC236}">
                      <a16:creationId xmlns:a16="http://schemas.microsoft.com/office/drawing/2014/main" id="{C81FC8AF-2E8E-0088-1169-FC7FA9F3D437}"/>
                    </a:ext>
                  </a:extLst>
                </p:cNvPr>
                <p:cNvSpPr txBox="1"/>
                <p:nvPr/>
              </p:nvSpPr>
              <p:spPr>
                <a:xfrm>
                  <a:off x="8659000" y="5238970"/>
                  <a:ext cx="3300031" cy="688202"/>
                </a:xfrm>
                <a:prstGeom prst="rect">
                  <a:avLst/>
                </a:prstGeom>
                <a:noFill/>
              </p:spPr>
              <p:txBody>
                <a:bodyPr wrap="square">
                  <a:spAutoFit/>
                </a:bodyPr>
                <a:lstStyle>
                  <a:defPPr>
                    <a:defRPr lang="zh-CN"/>
                  </a:defPPr>
                  <a:lvl1pPr>
                    <a:lnSpc>
                      <a:spcPct val="150000"/>
                    </a:lnSpc>
                    <a:defRPr sz="1400" b="0">
                      <a:latin typeface="宋体" panose="02010600030101010101" pitchFamily="2" charset="-122"/>
                      <a:ea typeface="宋体" panose="02010600030101010101" pitchFamily="2" charset="-122"/>
                    </a:defRPr>
                  </a:lvl1pPr>
                </a:lstStyle>
                <a:p>
                  <a:pPr marL="342900" indent="-342900">
                    <a:buFont typeface="+mj-lt"/>
                    <a:buAutoNum type="arabicPeriod"/>
                  </a:pPr>
                  <a:r>
                    <a:rPr lang="zh-CN" altLang="en-US" b="1"/>
                    <a:t>开发更优的数学模型</a:t>
                  </a:r>
                  <a:endParaRPr lang="en-US" altLang="zh-CN" b="1"/>
                </a:p>
                <a:p>
                  <a:pPr marL="342900" indent="-342900">
                    <a:buFont typeface="+mj-lt"/>
                    <a:buAutoNum type="arabicPeriod"/>
                  </a:pPr>
                  <a:r>
                    <a:rPr lang="zh-CN" altLang="en-US" b="1"/>
                    <a:t>设计精确分解算法</a:t>
                  </a:r>
                  <a:endParaRPr lang="en-US" altLang="zh-CN"/>
                </a:p>
              </p:txBody>
            </p:sp>
          </p:grpSp>
        </p:grpSp>
      </p:grpSp>
      <p:grpSp>
        <p:nvGrpSpPr>
          <p:cNvPr id="46" name="组合 45">
            <a:extLst>
              <a:ext uri="{FF2B5EF4-FFF2-40B4-BE49-F238E27FC236}">
                <a16:creationId xmlns:a16="http://schemas.microsoft.com/office/drawing/2014/main" id="{33AEC870-EA4B-61BA-2FAF-0938CDD57A1A}"/>
              </a:ext>
            </a:extLst>
          </p:cNvPr>
          <p:cNvGrpSpPr/>
          <p:nvPr/>
        </p:nvGrpSpPr>
        <p:grpSpPr>
          <a:xfrm>
            <a:off x="1" y="-1"/>
            <a:ext cx="12115875" cy="858612"/>
            <a:chOff x="1" y="-1"/>
            <a:chExt cx="12115875" cy="858612"/>
          </a:xfrm>
        </p:grpSpPr>
        <p:grpSp>
          <p:nvGrpSpPr>
            <p:cNvPr id="3" name="组合 2">
              <a:extLst>
                <a:ext uri="{FF2B5EF4-FFF2-40B4-BE49-F238E27FC236}">
                  <a16:creationId xmlns:a16="http://schemas.microsoft.com/office/drawing/2014/main" id="{9A2B2521-6902-41FA-098A-CF6D1D50D0C2}"/>
                </a:ext>
              </a:extLst>
            </p:cNvPr>
            <p:cNvGrpSpPr/>
            <p:nvPr/>
          </p:nvGrpSpPr>
          <p:grpSpPr>
            <a:xfrm>
              <a:off x="1" y="-1"/>
              <a:ext cx="9144001" cy="858612"/>
              <a:chOff x="1" y="-1"/>
              <a:chExt cx="9144001" cy="858612"/>
            </a:xfrm>
          </p:grpSpPr>
          <p:sp>
            <p:nvSpPr>
              <p:cNvPr id="4" name="矩形 3">
                <a:extLst>
                  <a:ext uri="{FF2B5EF4-FFF2-40B4-BE49-F238E27FC236}">
                    <a16:creationId xmlns:a16="http://schemas.microsoft.com/office/drawing/2014/main" id="{B9868FD6-0C6A-CE92-2B9E-F52453687C4F}"/>
                  </a:ext>
                </a:extLst>
              </p:cNvPr>
              <p:cNvSpPr/>
              <p:nvPr/>
            </p:nvSpPr>
            <p:spPr>
              <a:xfrm rot="16200000">
                <a:off x="4142696" y="-4142696"/>
                <a:ext cx="858612" cy="9144001"/>
              </a:xfrm>
              <a:prstGeom prst="rect">
                <a:avLst/>
              </a:prstGeom>
              <a:gradFill flip="none" rotWithShape="1">
                <a:gsLst>
                  <a:gs pos="20000">
                    <a:schemeClr val="accent1"/>
                  </a:gs>
                  <a:gs pos="95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4" name="文本框 23">
                <a:extLst>
                  <a:ext uri="{FF2B5EF4-FFF2-40B4-BE49-F238E27FC236}">
                    <a16:creationId xmlns:a16="http://schemas.microsoft.com/office/drawing/2014/main" id="{6234CB81-F3EB-71B9-3421-3CE4DD87B135}"/>
                  </a:ext>
                </a:extLst>
              </p:cNvPr>
              <p:cNvSpPr txBox="1"/>
              <p:nvPr/>
            </p:nvSpPr>
            <p:spPr>
              <a:xfrm>
                <a:off x="187890" y="106138"/>
                <a:ext cx="3563655" cy="646331"/>
              </a:xfrm>
              <a:prstGeom prst="rect">
                <a:avLst/>
              </a:prstGeom>
              <a:noFill/>
            </p:spPr>
            <p:txBody>
              <a:bodyPr wrap="square" rtlCol="0">
                <a:spAutoFit/>
              </a:bodyPr>
              <a:lstStyle/>
              <a:p>
                <a:r>
                  <a:rPr lang="zh-CN" altLang="en-US" sz="3600">
                    <a:solidFill>
                      <a:schemeClr val="bg1"/>
                    </a:solidFill>
                    <a:latin typeface="方正小标宋简体" panose="02010601030101010101" pitchFamily="2" charset="-122"/>
                    <a:ea typeface="方正小标宋简体" panose="02010601030101010101" pitchFamily="2" charset="-122"/>
                  </a:rPr>
                  <a:t>核心研究问题</a:t>
                </a:r>
              </a:p>
            </p:txBody>
          </p:sp>
        </p:grpSp>
        <p:pic>
          <p:nvPicPr>
            <p:cNvPr id="44" name="图片 43">
              <a:extLst>
                <a:ext uri="{FF2B5EF4-FFF2-40B4-BE49-F238E27FC236}">
                  <a16:creationId xmlns:a16="http://schemas.microsoft.com/office/drawing/2014/main" id="{AAC45150-D80C-08A3-A8C2-669DD0E4FCC6}"/>
                </a:ext>
              </a:extLst>
            </p:cNvPr>
            <p:cNvPicPr>
              <a:picLocks noChangeAspect="1"/>
            </p:cNvPicPr>
            <p:nvPr/>
          </p:nvPicPr>
          <p:blipFill>
            <a:blip r:embed="rId5">
              <a:duotone>
                <a:prstClr val="black"/>
                <a:schemeClr val="accent1">
                  <a:tint val="45000"/>
                  <a:satMod val="400000"/>
                </a:schemeClr>
              </a:duotone>
              <a:extLst>
                <a:ext uri="{BEBA8EAE-BF5A-486C-A8C5-ECC9F3942E4B}">
                  <a14:imgProps xmlns:a14="http://schemas.microsoft.com/office/drawing/2010/main">
                    <a14:imgLayer r:embed="rId6">
                      <a14:imgEffect>
                        <a14:colorTemperature colorTemp="1500"/>
                      </a14:imgEffect>
                      <a14:imgEffect>
                        <a14:saturation sat="0"/>
                      </a14:imgEffect>
                    </a14:imgLayer>
                  </a14:imgProps>
                </a:ext>
                <a:ext uri="{28A0092B-C50C-407E-A947-70E740481C1C}">
                  <a14:useLocalDpi xmlns:a14="http://schemas.microsoft.com/office/drawing/2010/main" val="0"/>
                </a:ext>
              </a:extLst>
            </a:blip>
            <a:stretch>
              <a:fillRect/>
            </a:stretch>
          </p:blipFill>
          <p:spPr>
            <a:xfrm>
              <a:off x="9045810" y="106138"/>
              <a:ext cx="3070066" cy="596957"/>
            </a:xfrm>
            <a:prstGeom prst="rect">
              <a:avLst/>
            </a:prstGeom>
          </p:spPr>
        </p:pic>
      </p:grpSp>
      <p:grpSp>
        <p:nvGrpSpPr>
          <p:cNvPr id="71" name="组合 70">
            <a:extLst>
              <a:ext uri="{FF2B5EF4-FFF2-40B4-BE49-F238E27FC236}">
                <a16:creationId xmlns:a16="http://schemas.microsoft.com/office/drawing/2014/main" id="{A3410D3D-0460-A7B8-C128-DF44A49F51EC}"/>
              </a:ext>
            </a:extLst>
          </p:cNvPr>
          <p:cNvGrpSpPr/>
          <p:nvPr/>
        </p:nvGrpSpPr>
        <p:grpSpPr>
          <a:xfrm>
            <a:off x="-11787865" y="1426107"/>
            <a:ext cx="6097022" cy="5137202"/>
            <a:chOff x="1083610" y="1426107"/>
            <a:chExt cx="6097022" cy="5137202"/>
          </a:xfrm>
        </p:grpSpPr>
        <p:sp>
          <p:nvSpPr>
            <p:cNvPr id="72" name="文本框 71">
              <a:extLst>
                <a:ext uri="{FF2B5EF4-FFF2-40B4-BE49-F238E27FC236}">
                  <a16:creationId xmlns:a16="http://schemas.microsoft.com/office/drawing/2014/main" id="{C1878021-5E68-0903-8A3D-F9B4DF7A93AE}"/>
                </a:ext>
              </a:extLst>
            </p:cNvPr>
            <p:cNvSpPr txBox="1"/>
            <p:nvPr/>
          </p:nvSpPr>
          <p:spPr>
            <a:xfrm>
              <a:off x="1083610" y="1426107"/>
              <a:ext cx="6097022" cy="369332"/>
            </a:xfrm>
            <a:prstGeom prst="rect">
              <a:avLst/>
            </a:prstGeom>
            <a:noFill/>
          </p:spPr>
          <p:txBody>
            <a:bodyPr wrap="square">
              <a:spAutoFit/>
            </a:bodyPr>
            <a:lstStyle/>
            <a:p>
              <a:r>
                <a:rPr lang="en-US" altLang="zh-CN" b="1" i="0">
                  <a:effectLst/>
                  <a:latin typeface="Google Sans Flex"/>
                </a:rPr>
                <a:t>Heßler and Deghdak (2017) </a:t>
              </a:r>
              <a:r>
                <a:rPr lang="zh-CN" altLang="en-US" b="1" i="0">
                  <a:effectLst/>
                  <a:latin typeface="Google Sans Flex"/>
                </a:rPr>
                <a:t>模型 </a:t>
              </a:r>
              <a:endParaRPr lang="zh-CN" altLang="en-US"/>
            </a:p>
          </p:txBody>
        </p:sp>
        <p:grpSp>
          <p:nvGrpSpPr>
            <p:cNvPr id="73" name="组合 72">
              <a:extLst>
                <a:ext uri="{FF2B5EF4-FFF2-40B4-BE49-F238E27FC236}">
                  <a16:creationId xmlns:a16="http://schemas.microsoft.com/office/drawing/2014/main" id="{B7146989-C5AC-3EDD-0BA5-3528DBAA6489}"/>
                </a:ext>
              </a:extLst>
            </p:cNvPr>
            <p:cNvGrpSpPr/>
            <p:nvPr/>
          </p:nvGrpSpPr>
          <p:grpSpPr>
            <a:xfrm>
              <a:off x="1083610" y="1903535"/>
              <a:ext cx="3372205" cy="4659774"/>
              <a:chOff x="1083610" y="1903535"/>
              <a:chExt cx="3372205" cy="4659774"/>
            </a:xfrm>
          </p:grpSpPr>
          <p:pic>
            <p:nvPicPr>
              <p:cNvPr id="74" name="图片 73">
                <a:extLst>
                  <a:ext uri="{FF2B5EF4-FFF2-40B4-BE49-F238E27FC236}">
                    <a16:creationId xmlns:a16="http://schemas.microsoft.com/office/drawing/2014/main" id="{44374EE4-9856-EB09-56A9-39E4C8482869}"/>
                  </a:ext>
                </a:extLst>
              </p:cNvPr>
              <p:cNvPicPr>
                <a:picLocks noChangeAspect="1"/>
              </p:cNvPicPr>
              <p:nvPr/>
            </p:nvPicPr>
            <p:blipFill>
              <a:blip r:embed="rId7"/>
              <a:stretch>
                <a:fillRect/>
              </a:stretch>
            </p:blipFill>
            <p:spPr>
              <a:xfrm>
                <a:off x="1083610" y="1903535"/>
                <a:ext cx="3372205" cy="4659774"/>
              </a:xfrm>
              <a:prstGeom prst="rect">
                <a:avLst/>
              </a:prstGeom>
              <a:ln>
                <a:noFill/>
              </a:ln>
              <a:effectLst>
                <a:outerShdw blurRad="190500" algn="tl" rotWithShape="0">
                  <a:srgbClr val="000000">
                    <a:alpha val="70000"/>
                  </a:srgbClr>
                </a:outerShdw>
              </a:effectLst>
            </p:spPr>
          </p:pic>
          <p:sp>
            <p:nvSpPr>
              <p:cNvPr id="75" name="椭圆 74">
                <a:extLst>
                  <a:ext uri="{FF2B5EF4-FFF2-40B4-BE49-F238E27FC236}">
                    <a16:creationId xmlns:a16="http://schemas.microsoft.com/office/drawing/2014/main" id="{A078B7D5-5D52-D3BF-DDF6-886078E986C9}"/>
                  </a:ext>
                </a:extLst>
              </p:cNvPr>
              <p:cNvSpPr/>
              <p:nvPr/>
            </p:nvSpPr>
            <p:spPr>
              <a:xfrm>
                <a:off x="1239520" y="3718560"/>
                <a:ext cx="707858" cy="724747"/>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76" name="组合 75">
            <a:extLst>
              <a:ext uri="{FF2B5EF4-FFF2-40B4-BE49-F238E27FC236}">
                <a16:creationId xmlns:a16="http://schemas.microsoft.com/office/drawing/2014/main" id="{32E48640-8458-A9A4-FF51-0D7D1E8ED06A}"/>
              </a:ext>
            </a:extLst>
          </p:cNvPr>
          <p:cNvGrpSpPr/>
          <p:nvPr/>
        </p:nvGrpSpPr>
        <p:grpSpPr>
          <a:xfrm>
            <a:off x="16871600" y="1481625"/>
            <a:ext cx="3641341" cy="4137004"/>
            <a:chOff x="6603281" y="1481625"/>
            <a:chExt cx="3641341" cy="4137004"/>
          </a:xfrm>
        </p:grpSpPr>
        <p:sp>
          <p:nvSpPr>
            <p:cNvPr id="77" name="文本框 76">
              <a:extLst>
                <a:ext uri="{FF2B5EF4-FFF2-40B4-BE49-F238E27FC236}">
                  <a16:creationId xmlns:a16="http://schemas.microsoft.com/office/drawing/2014/main" id="{9A234D8D-5532-D272-4862-109235AC2492}"/>
                </a:ext>
              </a:extLst>
            </p:cNvPr>
            <p:cNvSpPr txBox="1"/>
            <p:nvPr/>
          </p:nvSpPr>
          <p:spPr>
            <a:xfrm>
              <a:off x="7012957" y="1481625"/>
              <a:ext cx="2920183" cy="369332"/>
            </a:xfrm>
            <a:prstGeom prst="rect">
              <a:avLst/>
            </a:prstGeom>
            <a:noFill/>
          </p:spPr>
          <p:txBody>
            <a:bodyPr wrap="square">
              <a:spAutoFit/>
            </a:bodyPr>
            <a:lstStyle/>
            <a:p>
              <a:r>
                <a:rPr lang="da-DK" altLang="zh-CN" b="1" i="0">
                  <a:effectLst/>
                  <a:latin typeface="Google Sans Flex"/>
                </a:rPr>
                <a:t>Wang et al. (2020) </a:t>
              </a:r>
              <a:r>
                <a:rPr lang="zh-CN" altLang="da-DK" b="1" i="0">
                  <a:effectLst/>
                  <a:latin typeface="Google Sans Flex"/>
                </a:rPr>
                <a:t>模型 </a:t>
              </a:r>
              <a:endParaRPr lang="zh-CN" altLang="en-US"/>
            </a:p>
          </p:txBody>
        </p:sp>
        <p:pic>
          <p:nvPicPr>
            <p:cNvPr id="78" name="图片 77">
              <a:extLst>
                <a:ext uri="{FF2B5EF4-FFF2-40B4-BE49-F238E27FC236}">
                  <a16:creationId xmlns:a16="http://schemas.microsoft.com/office/drawing/2014/main" id="{4CC605F0-ABE9-FC08-0B8A-60520B5DBEDC}"/>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50000"/>
                      </a14:imgEffect>
                    </a14:imgLayer>
                  </a14:imgProps>
                </a:ext>
              </a:extLst>
            </a:blip>
            <a:stretch>
              <a:fillRect/>
            </a:stretch>
          </p:blipFill>
          <p:spPr>
            <a:xfrm>
              <a:off x="6603281" y="2011312"/>
              <a:ext cx="3641341" cy="3607317"/>
            </a:xfrm>
            <a:prstGeom prst="rect">
              <a:avLst/>
            </a:prstGeom>
            <a:ln>
              <a:noFill/>
            </a:ln>
            <a:effectLst>
              <a:outerShdw blurRad="190500" algn="tl" rotWithShape="0">
                <a:srgbClr val="000000">
                  <a:alpha val="70000"/>
                </a:srgbClr>
              </a:outerShdw>
            </a:effectLst>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855A2-5FCC-A72F-E958-E4DF0A2FBF03}"/>
            </a:ext>
          </a:extLst>
        </p:cNvPr>
        <p:cNvGrpSpPr/>
        <p:nvPr/>
      </p:nvGrpSpPr>
      <p:grpSpPr>
        <a:xfrm>
          <a:off x="0" y="0"/>
          <a:ext cx="0" cy="0"/>
          <a:chOff x="0" y="0"/>
          <a:chExt cx="0" cy="0"/>
        </a:xfrm>
      </p:grpSpPr>
      <p:sp>
        <p:nvSpPr>
          <p:cNvPr id="8" name="Rectangle 2">
            <a:extLst>
              <a:ext uri="{FF2B5EF4-FFF2-40B4-BE49-F238E27FC236}">
                <a16:creationId xmlns:a16="http://schemas.microsoft.com/office/drawing/2014/main" id="{A177EB75-422B-1544-FC7C-12B71AF8211F}"/>
              </a:ext>
            </a:extLst>
          </p:cNvPr>
          <p:cNvSpPr>
            <a:spLocks noChangeArrowheads="1"/>
          </p:cNvSpPr>
          <p:nvPr/>
        </p:nvSpPr>
        <p:spPr bwMode="auto">
          <a:xfrm>
            <a:off x="344466" y="1587767"/>
            <a:ext cx="5336087" cy="486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 name="文本框 4">
            <a:extLst>
              <a:ext uri="{FF2B5EF4-FFF2-40B4-BE49-F238E27FC236}">
                <a16:creationId xmlns:a16="http://schemas.microsoft.com/office/drawing/2014/main" id="{29801F08-8A1B-E82C-7B51-A059750094EE}"/>
              </a:ext>
            </a:extLst>
          </p:cNvPr>
          <p:cNvSpPr txBox="1"/>
          <p:nvPr/>
        </p:nvSpPr>
        <p:spPr>
          <a:xfrm>
            <a:off x="187890" y="967382"/>
            <a:ext cx="2301342" cy="461665"/>
          </a:xfrm>
          <a:prstGeom prst="rect">
            <a:avLst/>
          </a:prstGeom>
          <a:noFill/>
        </p:spPr>
        <p:txBody>
          <a:bodyPr wrap="square" rtlCol="0">
            <a:spAutoFit/>
          </a:bodyPr>
          <a:lstStyle/>
          <a:p>
            <a:r>
              <a:rPr lang="zh-CN" altLang="en-US" sz="2400">
                <a:latin typeface="方正小标宋简体" panose="02010601030101010101" pitchFamily="2" charset="-122"/>
                <a:ea typeface="方正小标宋简体" panose="02010601030101010101" pitchFamily="2" charset="-122"/>
              </a:rPr>
              <a:t>现有模型</a:t>
            </a:r>
          </a:p>
        </p:txBody>
      </p:sp>
      <p:grpSp>
        <p:nvGrpSpPr>
          <p:cNvPr id="10" name="组合 9">
            <a:extLst>
              <a:ext uri="{FF2B5EF4-FFF2-40B4-BE49-F238E27FC236}">
                <a16:creationId xmlns:a16="http://schemas.microsoft.com/office/drawing/2014/main" id="{64F514D8-23FC-16FE-D714-FB51E05A6D13}"/>
              </a:ext>
            </a:extLst>
          </p:cNvPr>
          <p:cNvGrpSpPr/>
          <p:nvPr/>
        </p:nvGrpSpPr>
        <p:grpSpPr>
          <a:xfrm>
            <a:off x="1" y="-1"/>
            <a:ext cx="12115875" cy="858612"/>
            <a:chOff x="1" y="-1"/>
            <a:chExt cx="12115875" cy="858612"/>
          </a:xfrm>
        </p:grpSpPr>
        <p:grpSp>
          <p:nvGrpSpPr>
            <p:cNvPr id="2" name="组合 1">
              <a:extLst>
                <a:ext uri="{FF2B5EF4-FFF2-40B4-BE49-F238E27FC236}">
                  <a16:creationId xmlns:a16="http://schemas.microsoft.com/office/drawing/2014/main" id="{54ECC179-41BD-8488-02D9-B6696AB48AF9}"/>
                </a:ext>
              </a:extLst>
            </p:cNvPr>
            <p:cNvGrpSpPr/>
            <p:nvPr/>
          </p:nvGrpSpPr>
          <p:grpSpPr>
            <a:xfrm>
              <a:off x="1" y="-1"/>
              <a:ext cx="9144001" cy="858612"/>
              <a:chOff x="1" y="-1"/>
              <a:chExt cx="9144001" cy="858612"/>
            </a:xfrm>
          </p:grpSpPr>
          <p:sp>
            <p:nvSpPr>
              <p:cNvPr id="3" name="矩形 2">
                <a:extLst>
                  <a:ext uri="{FF2B5EF4-FFF2-40B4-BE49-F238E27FC236}">
                    <a16:creationId xmlns:a16="http://schemas.microsoft.com/office/drawing/2014/main" id="{767ED6B0-F9F6-2691-19BE-D14BCCD156DF}"/>
                  </a:ext>
                </a:extLst>
              </p:cNvPr>
              <p:cNvSpPr/>
              <p:nvPr/>
            </p:nvSpPr>
            <p:spPr>
              <a:xfrm rot="16200000">
                <a:off x="4142696" y="-4142696"/>
                <a:ext cx="858612" cy="9144001"/>
              </a:xfrm>
              <a:prstGeom prst="rect">
                <a:avLst/>
              </a:prstGeom>
              <a:gradFill flip="none" rotWithShape="1">
                <a:gsLst>
                  <a:gs pos="20000">
                    <a:schemeClr val="accent1"/>
                  </a:gs>
                  <a:gs pos="95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文本框 3">
                <a:extLst>
                  <a:ext uri="{FF2B5EF4-FFF2-40B4-BE49-F238E27FC236}">
                    <a16:creationId xmlns:a16="http://schemas.microsoft.com/office/drawing/2014/main" id="{3AABA5A2-7DE5-519A-E607-C5FABE369092}"/>
                  </a:ext>
                </a:extLst>
              </p:cNvPr>
              <p:cNvSpPr txBox="1"/>
              <p:nvPr/>
            </p:nvSpPr>
            <p:spPr>
              <a:xfrm>
                <a:off x="187890" y="106138"/>
                <a:ext cx="4471792" cy="646331"/>
              </a:xfrm>
              <a:prstGeom prst="rect">
                <a:avLst/>
              </a:prstGeom>
              <a:noFill/>
            </p:spPr>
            <p:txBody>
              <a:bodyPr wrap="square" rtlCol="0">
                <a:spAutoFit/>
              </a:bodyPr>
              <a:lstStyle/>
              <a:p>
                <a:r>
                  <a:rPr lang="zh-CN" altLang="en-US" sz="3600">
                    <a:solidFill>
                      <a:schemeClr val="bg1"/>
                    </a:solidFill>
                    <a:latin typeface="方正小标宋简体" panose="02010601030101010101" pitchFamily="2" charset="-122"/>
                    <a:ea typeface="方正小标宋简体" panose="02010601030101010101" pitchFamily="2" charset="-122"/>
                  </a:rPr>
                  <a:t>方法框架</a:t>
                </a:r>
                <a:r>
                  <a:rPr lang="en-US" altLang="zh-CN" sz="3600">
                    <a:solidFill>
                      <a:schemeClr val="bg1"/>
                    </a:solidFill>
                    <a:latin typeface="方正小标宋简体" panose="02010601030101010101" pitchFamily="2" charset="-122"/>
                    <a:ea typeface="方正小标宋简体" panose="02010601030101010101" pitchFamily="2" charset="-122"/>
                  </a:rPr>
                  <a:t>—</a:t>
                </a:r>
                <a:r>
                  <a:rPr lang="zh-CN" altLang="en-US" sz="3600">
                    <a:solidFill>
                      <a:schemeClr val="bg1"/>
                    </a:solidFill>
                    <a:latin typeface="方正小标宋简体" panose="02010601030101010101" pitchFamily="2" charset="-122"/>
                    <a:ea typeface="方正小标宋简体" panose="02010601030101010101" pitchFamily="2" charset="-122"/>
                  </a:rPr>
                  <a:t>数学模型</a:t>
                </a:r>
              </a:p>
            </p:txBody>
          </p:sp>
        </p:grpSp>
        <p:pic>
          <p:nvPicPr>
            <p:cNvPr id="7" name="图片 6">
              <a:extLst>
                <a:ext uri="{FF2B5EF4-FFF2-40B4-BE49-F238E27FC236}">
                  <a16:creationId xmlns:a16="http://schemas.microsoft.com/office/drawing/2014/main" id="{0294BDF4-B66C-ACF7-A393-78362178E00F}"/>
                </a:ext>
              </a:extLst>
            </p:cNvPr>
            <p:cNvPicPr>
              <a:picLocks noChangeAspect="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r:embed="rId4">
                      <a14:imgEffect>
                        <a14:colorTemperature colorTemp="1500"/>
                      </a14:imgEffect>
                      <a14:imgEffect>
                        <a14:saturation sat="0"/>
                      </a14:imgEffect>
                    </a14:imgLayer>
                  </a14:imgProps>
                </a:ext>
                <a:ext uri="{28A0092B-C50C-407E-A947-70E740481C1C}">
                  <a14:useLocalDpi xmlns:a14="http://schemas.microsoft.com/office/drawing/2010/main" val="0"/>
                </a:ext>
              </a:extLst>
            </a:blip>
            <a:stretch>
              <a:fillRect/>
            </a:stretch>
          </p:blipFill>
          <p:spPr>
            <a:xfrm>
              <a:off x="9045810" y="106138"/>
              <a:ext cx="3070066" cy="596957"/>
            </a:xfrm>
            <a:prstGeom prst="rect">
              <a:avLst/>
            </a:prstGeom>
          </p:spPr>
        </p:pic>
      </p:grpSp>
      <p:grpSp>
        <p:nvGrpSpPr>
          <p:cNvPr id="22" name="组合 21">
            <a:extLst>
              <a:ext uri="{FF2B5EF4-FFF2-40B4-BE49-F238E27FC236}">
                <a16:creationId xmlns:a16="http://schemas.microsoft.com/office/drawing/2014/main" id="{833F2895-7240-2171-790D-55D15CF2D9DD}"/>
              </a:ext>
            </a:extLst>
          </p:cNvPr>
          <p:cNvGrpSpPr/>
          <p:nvPr/>
        </p:nvGrpSpPr>
        <p:grpSpPr>
          <a:xfrm>
            <a:off x="6603281" y="1481625"/>
            <a:ext cx="3641341" cy="4137004"/>
            <a:chOff x="6603281" y="1481625"/>
            <a:chExt cx="3641341" cy="4137004"/>
          </a:xfrm>
        </p:grpSpPr>
        <p:sp>
          <p:nvSpPr>
            <p:cNvPr id="19" name="文本框 18">
              <a:extLst>
                <a:ext uri="{FF2B5EF4-FFF2-40B4-BE49-F238E27FC236}">
                  <a16:creationId xmlns:a16="http://schemas.microsoft.com/office/drawing/2014/main" id="{B595F4CE-1842-901A-0265-7E8B681EF03B}"/>
                </a:ext>
              </a:extLst>
            </p:cNvPr>
            <p:cNvSpPr txBox="1"/>
            <p:nvPr/>
          </p:nvSpPr>
          <p:spPr>
            <a:xfrm>
              <a:off x="7012957" y="1481625"/>
              <a:ext cx="2920183" cy="369332"/>
            </a:xfrm>
            <a:prstGeom prst="rect">
              <a:avLst/>
            </a:prstGeom>
            <a:noFill/>
          </p:spPr>
          <p:txBody>
            <a:bodyPr wrap="square">
              <a:spAutoFit/>
            </a:bodyPr>
            <a:lstStyle/>
            <a:p>
              <a:r>
                <a:rPr lang="da-DK" altLang="zh-CN" b="1" i="0">
                  <a:effectLst/>
                  <a:latin typeface="Google Sans Flex"/>
                </a:rPr>
                <a:t>Wang et al. (2020) </a:t>
              </a:r>
              <a:r>
                <a:rPr lang="zh-CN" altLang="da-DK" b="1" i="0">
                  <a:effectLst/>
                  <a:latin typeface="Google Sans Flex"/>
                </a:rPr>
                <a:t>模型 </a:t>
              </a:r>
              <a:endParaRPr lang="zh-CN" altLang="en-US"/>
            </a:p>
          </p:txBody>
        </p:sp>
        <p:pic>
          <p:nvPicPr>
            <p:cNvPr id="21" name="图片 20">
              <a:extLst>
                <a:ext uri="{FF2B5EF4-FFF2-40B4-BE49-F238E27FC236}">
                  <a16:creationId xmlns:a16="http://schemas.microsoft.com/office/drawing/2014/main" id="{3D1FB065-8DD0-E995-9346-0558640E9B6A}"/>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6603281" y="2011312"/>
              <a:ext cx="3641341" cy="3607317"/>
            </a:xfrm>
            <a:prstGeom prst="rect">
              <a:avLst/>
            </a:prstGeom>
            <a:ln>
              <a:noFill/>
            </a:ln>
            <a:effectLst>
              <a:outerShdw blurRad="190500" algn="tl" rotWithShape="0">
                <a:srgbClr val="000000">
                  <a:alpha val="70000"/>
                </a:srgbClr>
              </a:outerShdw>
            </a:effectLst>
          </p:spPr>
        </p:pic>
      </p:grpSp>
      <p:grpSp>
        <p:nvGrpSpPr>
          <p:cNvPr id="18" name="组合 17">
            <a:extLst>
              <a:ext uri="{FF2B5EF4-FFF2-40B4-BE49-F238E27FC236}">
                <a16:creationId xmlns:a16="http://schemas.microsoft.com/office/drawing/2014/main" id="{0CA64A28-AFF7-0DF4-C4F1-62513B3B4EE9}"/>
              </a:ext>
            </a:extLst>
          </p:cNvPr>
          <p:cNvGrpSpPr/>
          <p:nvPr/>
        </p:nvGrpSpPr>
        <p:grpSpPr>
          <a:xfrm>
            <a:off x="1083610" y="1426107"/>
            <a:ext cx="6097022" cy="5137202"/>
            <a:chOff x="1083610" y="1426107"/>
            <a:chExt cx="6097022" cy="5137202"/>
          </a:xfrm>
        </p:grpSpPr>
        <p:sp>
          <p:nvSpPr>
            <p:cNvPr id="11" name="文本框 10">
              <a:extLst>
                <a:ext uri="{FF2B5EF4-FFF2-40B4-BE49-F238E27FC236}">
                  <a16:creationId xmlns:a16="http://schemas.microsoft.com/office/drawing/2014/main" id="{267F5487-9D2E-C726-2BE0-B873C1E19D24}"/>
                </a:ext>
              </a:extLst>
            </p:cNvPr>
            <p:cNvSpPr txBox="1"/>
            <p:nvPr/>
          </p:nvSpPr>
          <p:spPr>
            <a:xfrm>
              <a:off x="1083610" y="1426107"/>
              <a:ext cx="6097022" cy="369332"/>
            </a:xfrm>
            <a:prstGeom prst="rect">
              <a:avLst/>
            </a:prstGeom>
            <a:noFill/>
          </p:spPr>
          <p:txBody>
            <a:bodyPr wrap="square">
              <a:spAutoFit/>
            </a:bodyPr>
            <a:lstStyle/>
            <a:p>
              <a:r>
                <a:rPr lang="en-US" altLang="zh-CN" b="1" i="0">
                  <a:effectLst/>
                  <a:latin typeface="Google Sans Flex"/>
                </a:rPr>
                <a:t>Heßler and Deghdak (2017) </a:t>
              </a:r>
              <a:r>
                <a:rPr lang="zh-CN" altLang="en-US" b="1" i="0">
                  <a:effectLst/>
                  <a:latin typeface="Google Sans Flex"/>
                </a:rPr>
                <a:t>模型 </a:t>
              </a:r>
              <a:endParaRPr lang="zh-CN" altLang="en-US"/>
            </a:p>
          </p:txBody>
        </p:sp>
        <p:grpSp>
          <p:nvGrpSpPr>
            <p:cNvPr id="9" name="组合 8">
              <a:extLst>
                <a:ext uri="{FF2B5EF4-FFF2-40B4-BE49-F238E27FC236}">
                  <a16:creationId xmlns:a16="http://schemas.microsoft.com/office/drawing/2014/main" id="{2833F2BD-51FE-4969-F016-B3F425808054}"/>
                </a:ext>
              </a:extLst>
            </p:cNvPr>
            <p:cNvGrpSpPr/>
            <p:nvPr/>
          </p:nvGrpSpPr>
          <p:grpSpPr>
            <a:xfrm>
              <a:off x="1083610" y="1903535"/>
              <a:ext cx="3372205" cy="4659774"/>
              <a:chOff x="1083610" y="1903535"/>
              <a:chExt cx="3372205" cy="4659774"/>
            </a:xfrm>
          </p:grpSpPr>
          <p:pic>
            <p:nvPicPr>
              <p:cNvPr id="17" name="图片 16">
                <a:extLst>
                  <a:ext uri="{FF2B5EF4-FFF2-40B4-BE49-F238E27FC236}">
                    <a16:creationId xmlns:a16="http://schemas.microsoft.com/office/drawing/2014/main" id="{A05E204B-4BC1-D49E-4BB1-DBA16F9036DF}"/>
                  </a:ext>
                </a:extLst>
              </p:cNvPr>
              <p:cNvPicPr>
                <a:picLocks noChangeAspect="1"/>
              </p:cNvPicPr>
              <p:nvPr/>
            </p:nvPicPr>
            <p:blipFill>
              <a:blip r:embed="rId7"/>
              <a:stretch>
                <a:fillRect/>
              </a:stretch>
            </p:blipFill>
            <p:spPr>
              <a:xfrm>
                <a:off x="1083610" y="1903535"/>
                <a:ext cx="3372205" cy="4659774"/>
              </a:xfrm>
              <a:prstGeom prst="rect">
                <a:avLst/>
              </a:prstGeom>
              <a:ln>
                <a:noFill/>
              </a:ln>
              <a:effectLst>
                <a:outerShdw blurRad="190500" algn="tl" rotWithShape="0">
                  <a:srgbClr val="000000">
                    <a:alpha val="70000"/>
                  </a:srgbClr>
                </a:outerShdw>
              </a:effectLst>
            </p:spPr>
          </p:pic>
          <p:sp>
            <p:nvSpPr>
              <p:cNvPr id="6" name="椭圆 5">
                <a:extLst>
                  <a:ext uri="{FF2B5EF4-FFF2-40B4-BE49-F238E27FC236}">
                    <a16:creationId xmlns:a16="http://schemas.microsoft.com/office/drawing/2014/main" id="{8A701093-F254-2A64-1E72-C848CCEE1057}"/>
                  </a:ext>
                </a:extLst>
              </p:cNvPr>
              <p:cNvSpPr/>
              <p:nvPr/>
            </p:nvSpPr>
            <p:spPr>
              <a:xfrm>
                <a:off x="1239520" y="3718560"/>
                <a:ext cx="707858" cy="724747"/>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017772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A12C1-1736-39C1-C168-47BA7E81543C}"/>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04FF276A-ECA2-4283-774D-2018F47252D6}"/>
              </a:ext>
            </a:extLst>
          </p:cNvPr>
          <p:cNvGrpSpPr/>
          <p:nvPr/>
        </p:nvGrpSpPr>
        <p:grpSpPr>
          <a:xfrm>
            <a:off x="1" y="-1"/>
            <a:ext cx="9144001" cy="858612"/>
            <a:chOff x="1" y="-1"/>
            <a:chExt cx="9144001" cy="858612"/>
          </a:xfrm>
        </p:grpSpPr>
        <p:sp>
          <p:nvSpPr>
            <p:cNvPr id="3" name="矩形 2">
              <a:extLst>
                <a:ext uri="{FF2B5EF4-FFF2-40B4-BE49-F238E27FC236}">
                  <a16:creationId xmlns:a16="http://schemas.microsoft.com/office/drawing/2014/main" id="{F19869A0-03AC-241F-01CD-98C6AD171427}"/>
                </a:ext>
              </a:extLst>
            </p:cNvPr>
            <p:cNvSpPr/>
            <p:nvPr/>
          </p:nvSpPr>
          <p:spPr>
            <a:xfrm rot="16200000">
              <a:off x="4142696" y="-4142696"/>
              <a:ext cx="858612" cy="9144001"/>
            </a:xfrm>
            <a:prstGeom prst="rect">
              <a:avLst/>
            </a:prstGeom>
            <a:gradFill flip="none" rotWithShape="1">
              <a:gsLst>
                <a:gs pos="20000">
                  <a:schemeClr val="accent1"/>
                </a:gs>
                <a:gs pos="95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文本框 3">
              <a:extLst>
                <a:ext uri="{FF2B5EF4-FFF2-40B4-BE49-F238E27FC236}">
                  <a16:creationId xmlns:a16="http://schemas.microsoft.com/office/drawing/2014/main" id="{C4C03A28-BDBA-063B-A658-FC21834B3183}"/>
                </a:ext>
              </a:extLst>
            </p:cNvPr>
            <p:cNvSpPr txBox="1"/>
            <p:nvPr/>
          </p:nvSpPr>
          <p:spPr>
            <a:xfrm>
              <a:off x="187890" y="106138"/>
              <a:ext cx="4471792" cy="646331"/>
            </a:xfrm>
            <a:prstGeom prst="rect">
              <a:avLst/>
            </a:prstGeom>
            <a:noFill/>
          </p:spPr>
          <p:txBody>
            <a:bodyPr wrap="square" rtlCol="0">
              <a:spAutoFit/>
            </a:bodyPr>
            <a:lstStyle/>
            <a:p>
              <a:r>
                <a:rPr lang="zh-CN" altLang="en-US" sz="3600">
                  <a:solidFill>
                    <a:schemeClr val="bg1"/>
                  </a:solidFill>
                  <a:latin typeface="方正小标宋简体" panose="02010601030101010101" pitchFamily="2" charset="-122"/>
                  <a:ea typeface="方正小标宋简体" panose="02010601030101010101" pitchFamily="2" charset="-122"/>
                </a:rPr>
                <a:t>方法框架</a:t>
              </a:r>
              <a:r>
                <a:rPr lang="en-US" altLang="zh-CN" sz="3600">
                  <a:solidFill>
                    <a:schemeClr val="bg1"/>
                  </a:solidFill>
                  <a:latin typeface="方正小标宋简体" panose="02010601030101010101" pitchFamily="2" charset="-122"/>
                  <a:ea typeface="方正小标宋简体" panose="02010601030101010101" pitchFamily="2" charset="-122"/>
                </a:rPr>
                <a:t>—</a:t>
              </a:r>
              <a:r>
                <a:rPr lang="zh-CN" altLang="en-US" sz="3600">
                  <a:solidFill>
                    <a:schemeClr val="bg1"/>
                  </a:solidFill>
                  <a:latin typeface="方正小标宋简体" panose="02010601030101010101" pitchFamily="2" charset="-122"/>
                  <a:ea typeface="方正小标宋简体" panose="02010601030101010101" pitchFamily="2" charset="-122"/>
                </a:rPr>
                <a:t>数学模型</a:t>
              </a:r>
            </a:p>
          </p:txBody>
        </p:sp>
      </p:grpSp>
      <p:sp>
        <p:nvSpPr>
          <p:cNvPr id="8" name="Rectangle 2">
            <a:extLst>
              <a:ext uri="{FF2B5EF4-FFF2-40B4-BE49-F238E27FC236}">
                <a16:creationId xmlns:a16="http://schemas.microsoft.com/office/drawing/2014/main" id="{B0EC621F-C635-E940-06C7-C0FB37227CA4}"/>
              </a:ext>
            </a:extLst>
          </p:cNvPr>
          <p:cNvSpPr>
            <a:spLocks noChangeArrowheads="1"/>
          </p:cNvSpPr>
          <p:nvPr/>
        </p:nvSpPr>
        <p:spPr bwMode="auto">
          <a:xfrm>
            <a:off x="344466" y="1587767"/>
            <a:ext cx="5336087" cy="486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 name="文本框 4">
            <a:extLst>
              <a:ext uri="{FF2B5EF4-FFF2-40B4-BE49-F238E27FC236}">
                <a16:creationId xmlns:a16="http://schemas.microsoft.com/office/drawing/2014/main" id="{F7A7F545-3D4E-032A-D9BE-1986CB51C325}"/>
              </a:ext>
            </a:extLst>
          </p:cNvPr>
          <p:cNvSpPr txBox="1"/>
          <p:nvPr/>
        </p:nvSpPr>
        <p:spPr>
          <a:xfrm>
            <a:off x="187890" y="967382"/>
            <a:ext cx="2301342" cy="461665"/>
          </a:xfrm>
          <a:prstGeom prst="rect">
            <a:avLst/>
          </a:prstGeom>
          <a:noFill/>
        </p:spPr>
        <p:txBody>
          <a:bodyPr wrap="square" rtlCol="0">
            <a:spAutoFit/>
          </a:bodyPr>
          <a:lstStyle/>
          <a:p>
            <a:r>
              <a:rPr lang="zh-CN" altLang="en-US" sz="2400">
                <a:latin typeface="方正小标宋简体" panose="02010601030101010101" pitchFamily="2" charset="-122"/>
                <a:ea typeface="方正小标宋简体" panose="02010601030101010101" pitchFamily="2" charset="-122"/>
              </a:rPr>
              <a:t>本文提出模型</a:t>
            </a:r>
          </a:p>
        </p:txBody>
      </p:sp>
      <p:pic>
        <p:nvPicPr>
          <p:cNvPr id="7" name="图片 6">
            <a:extLst>
              <a:ext uri="{FF2B5EF4-FFF2-40B4-BE49-F238E27FC236}">
                <a16:creationId xmlns:a16="http://schemas.microsoft.com/office/drawing/2014/main" id="{57BF6B4A-AFC1-6AF3-0E16-59878C9F2AFB}"/>
              </a:ext>
            </a:extLst>
          </p:cNvPr>
          <p:cNvPicPr>
            <a:picLocks noChangeAspect="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r:embed="rId4">
                    <a14:imgEffect>
                      <a14:colorTemperature colorTemp="1500"/>
                    </a14:imgEffect>
                    <a14:imgEffect>
                      <a14:saturation sat="0"/>
                    </a14:imgEffect>
                  </a14:imgLayer>
                </a14:imgProps>
              </a:ext>
              <a:ext uri="{28A0092B-C50C-407E-A947-70E740481C1C}">
                <a14:useLocalDpi xmlns:a14="http://schemas.microsoft.com/office/drawing/2010/main" val="0"/>
              </a:ext>
            </a:extLst>
          </a:blip>
          <a:stretch>
            <a:fillRect/>
          </a:stretch>
        </p:blipFill>
        <p:spPr>
          <a:xfrm>
            <a:off x="9045810" y="106138"/>
            <a:ext cx="3070066" cy="596957"/>
          </a:xfrm>
          <a:prstGeom prst="rect">
            <a:avLst/>
          </a:prstGeom>
        </p:spPr>
      </p:pic>
      <p:sp>
        <p:nvSpPr>
          <p:cNvPr id="6" name="文本框 5">
            <a:extLst>
              <a:ext uri="{FF2B5EF4-FFF2-40B4-BE49-F238E27FC236}">
                <a16:creationId xmlns:a16="http://schemas.microsoft.com/office/drawing/2014/main" id="{37C26087-3368-4628-21C5-5E16661236C7}"/>
              </a:ext>
            </a:extLst>
          </p:cNvPr>
          <p:cNvSpPr txBox="1"/>
          <p:nvPr/>
        </p:nvSpPr>
        <p:spPr>
          <a:xfrm>
            <a:off x="1338561" y="1462250"/>
            <a:ext cx="2197015" cy="369332"/>
          </a:xfrm>
          <a:prstGeom prst="rect">
            <a:avLst/>
          </a:prstGeom>
          <a:noFill/>
        </p:spPr>
        <p:txBody>
          <a:bodyPr wrap="square" rtlCol="0">
            <a:spAutoFit/>
          </a:bodyPr>
          <a:lstStyle/>
          <a:p>
            <a:r>
              <a:rPr lang="zh-CN" altLang="en-US">
                <a:latin typeface="方正小标宋简体" panose="02010601030101010101" pitchFamily="2" charset="-122"/>
                <a:ea typeface="方正小标宋简体" panose="02010601030101010101" pitchFamily="2" charset="-122"/>
              </a:rPr>
              <a:t>三索引模型</a:t>
            </a:r>
          </a:p>
        </p:txBody>
      </p:sp>
      <p:pic>
        <p:nvPicPr>
          <p:cNvPr id="10" name="图片 9">
            <a:extLst>
              <a:ext uri="{FF2B5EF4-FFF2-40B4-BE49-F238E27FC236}">
                <a16:creationId xmlns:a16="http://schemas.microsoft.com/office/drawing/2014/main" id="{F103173B-7602-7B76-D324-41DCD048AEBD}"/>
              </a:ext>
            </a:extLst>
          </p:cNvPr>
          <p:cNvPicPr>
            <a:picLocks noChangeAspect="1"/>
          </p:cNvPicPr>
          <p:nvPr/>
        </p:nvPicPr>
        <p:blipFill>
          <a:blip r:embed="rId5"/>
          <a:stretch>
            <a:fillRect/>
          </a:stretch>
        </p:blipFill>
        <p:spPr>
          <a:xfrm>
            <a:off x="1441540" y="1886534"/>
            <a:ext cx="4297086" cy="2504437"/>
          </a:xfrm>
          <a:prstGeom prst="rect">
            <a:avLst/>
          </a:prstGeom>
          <a:ln>
            <a:noFill/>
          </a:ln>
          <a:effectLst>
            <a:outerShdw blurRad="190500" algn="tl" rotWithShape="0">
              <a:srgbClr val="000000">
                <a:alpha val="70000"/>
              </a:srgbClr>
            </a:outerShdw>
          </a:effectLst>
        </p:spPr>
      </p:pic>
      <p:sp>
        <p:nvSpPr>
          <p:cNvPr id="12" name="文本框 11">
            <a:extLst>
              <a:ext uri="{FF2B5EF4-FFF2-40B4-BE49-F238E27FC236}">
                <a16:creationId xmlns:a16="http://schemas.microsoft.com/office/drawing/2014/main" id="{D07A9BFD-B8D7-1F52-6542-51742417601B}"/>
              </a:ext>
            </a:extLst>
          </p:cNvPr>
          <p:cNvSpPr txBox="1"/>
          <p:nvPr/>
        </p:nvSpPr>
        <p:spPr>
          <a:xfrm>
            <a:off x="1390724" y="4659219"/>
            <a:ext cx="2197015" cy="369332"/>
          </a:xfrm>
          <a:prstGeom prst="rect">
            <a:avLst/>
          </a:prstGeom>
          <a:noFill/>
        </p:spPr>
        <p:txBody>
          <a:bodyPr wrap="square" rtlCol="0">
            <a:spAutoFit/>
          </a:bodyPr>
          <a:lstStyle/>
          <a:p>
            <a:r>
              <a:rPr lang="zh-CN" altLang="en-US">
                <a:latin typeface="方正小标宋简体" panose="02010601030101010101" pitchFamily="2" charset="-122"/>
                <a:ea typeface="方正小标宋简体" panose="02010601030101010101" pitchFamily="2" charset="-122"/>
              </a:rPr>
              <a:t>线性排序模型</a:t>
            </a:r>
          </a:p>
        </p:txBody>
      </p:sp>
      <p:sp>
        <p:nvSpPr>
          <p:cNvPr id="15" name="文本框 14">
            <a:extLst>
              <a:ext uri="{FF2B5EF4-FFF2-40B4-BE49-F238E27FC236}">
                <a16:creationId xmlns:a16="http://schemas.microsoft.com/office/drawing/2014/main" id="{C890FCEF-E351-C041-26FF-F762BC79F515}"/>
              </a:ext>
            </a:extLst>
          </p:cNvPr>
          <p:cNvSpPr txBox="1"/>
          <p:nvPr/>
        </p:nvSpPr>
        <p:spPr>
          <a:xfrm>
            <a:off x="6511449" y="1429047"/>
            <a:ext cx="2197015" cy="369332"/>
          </a:xfrm>
          <a:prstGeom prst="rect">
            <a:avLst/>
          </a:prstGeom>
          <a:noFill/>
        </p:spPr>
        <p:txBody>
          <a:bodyPr wrap="square" rtlCol="0">
            <a:spAutoFit/>
          </a:bodyPr>
          <a:lstStyle/>
          <a:p>
            <a:r>
              <a:rPr lang="zh-CN" altLang="en-US">
                <a:latin typeface="方正小标宋简体" panose="02010601030101010101" pitchFamily="2" charset="-122"/>
                <a:ea typeface="方正小标宋简体" panose="02010601030101010101" pitchFamily="2" charset="-122"/>
              </a:rPr>
              <a:t>位置日期模型</a:t>
            </a:r>
          </a:p>
        </p:txBody>
      </p:sp>
      <p:pic>
        <p:nvPicPr>
          <p:cNvPr id="18" name="图片 17">
            <a:extLst>
              <a:ext uri="{FF2B5EF4-FFF2-40B4-BE49-F238E27FC236}">
                <a16:creationId xmlns:a16="http://schemas.microsoft.com/office/drawing/2014/main" id="{79FAE6D7-811F-2766-57F1-59FBD36FB20E}"/>
              </a:ext>
            </a:extLst>
          </p:cNvPr>
          <p:cNvPicPr>
            <a:picLocks noChangeAspect="1"/>
          </p:cNvPicPr>
          <p:nvPr/>
        </p:nvPicPr>
        <p:blipFill>
          <a:blip r:embed="rId6"/>
          <a:stretch>
            <a:fillRect/>
          </a:stretch>
        </p:blipFill>
        <p:spPr>
          <a:xfrm>
            <a:off x="6568972" y="1874465"/>
            <a:ext cx="3648988" cy="2784754"/>
          </a:xfrm>
          <a:prstGeom prst="rect">
            <a:avLst/>
          </a:prstGeom>
          <a:ln>
            <a:noFill/>
          </a:ln>
          <a:effectLst>
            <a:outerShdw blurRad="190500" algn="tl" rotWithShape="0">
              <a:srgbClr val="000000">
                <a:alpha val="70000"/>
              </a:srgbClr>
            </a:outerShdw>
          </a:effectLst>
        </p:spPr>
      </p:pic>
      <p:grpSp>
        <p:nvGrpSpPr>
          <p:cNvPr id="11" name="组合 10">
            <a:extLst>
              <a:ext uri="{FF2B5EF4-FFF2-40B4-BE49-F238E27FC236}">
                <a16:creationId xmlns:a16="http://schemas.microsoft.com/office/drawing/2014/main" id="{5EC2FDA9-1493-2696-27B2-7749311AEF75}"/>
              </a:ext>
            </a:extLst>
          </p:cNvPr>
          <p:cNvGrpSpPr/>
          <p:nvPr/>
        </p:nvGrpSpPr>
        <p:grpSpPr>
          <a:xfrm>
            <a:off x="1441540" y="5162838"/>
            <a:ext cx="6754192" cy="1294329"/>
            <a:chOff x="1441540" y="5162838"/>
            <a:chExt cx="6754192" cy="1294329"/>
          </a:xfrm>
        </p:grpSpPr>
        <p:pic>
          <p:nvPicPr>
            <p:cNvPr id="14" name="图片 13">
              <a:extLst>
                <a:ext uri="{FF2B5EF4-FFF2-40B4-BE49-F238E27FC236}">
                  <a16:creationId xmlns:a16="http://schemas.microsoft.com/office/drawing/2014/main" id="{40F2C300-34C2-8910-B506-C71152997D76}"/>
                </a:ext>
              </a:extLst>
            </p:cNvPr>
            <p:cNvPicPr>
              <a:picLocks noChangeAspect="1"/>
            </p:cNvPicPr>
            <p:nvPr/>
          </p:nvPicPr>
          <p:blipFill>
            <a:blip r:embed="rId7"/>
            <a:stretch>
              <a:fillRect/>
            </a:stretch>
          </p:blipFill>
          <p:spPr>
            <a:xfrm>
              <a:off x="1441540" y="5162838"/>
              <a:ext cx="4584080" cy="1294329"/>
            </a:xfrm>
            <a:prstGeom prst="rect">
              <a:avLst/>
            </a:prstGeom>
            <a:ln>
              <a:noFill/>
            </a:ln>
            <a:effectLst>
              <a:outerShdw blurRad="190500" algn="tl" rotWithShape="0">
                <a:srgbClr val="000000">
                  <a:alpha val="70000"/>
                </a:srgbClr>
              </a:outerShdw>
            </a:effectLst>
          </p:spPr>
        </p:pic>
        <p:sp>
          <p:nvSpPr>
            <p:cNvPr id="9" name="文本框 8">
              <a:extLst>
                <a:ext uri="{FF2B5EF4-FFF2-40B4-BE49-F238E27FC236}">
                  <a16:creationId xmlns:a16="http://schemas.microsoft.com/office/drawing/2014/main" id="{7856E593-2E9E-D9F7-65AA-5F11F3944B11}"/>
                </a:ext>
              </a:extLst>
            </p:cNvPr>
            <p:cNvSpPr txBox="1"/>
            <p:nvPr/>
          </p:nvSpPr>
          <p:spPr>
            <a:xfrm>
              <a:off x="5820005" y="5668475"/>
              <a:ext cx="2375727" cy="461665"/>
            </a:xfrm>
            <a:prstGeom prst="rect">
              <a:avLst/>
            </a:prstGeom>
            <a:solidFill>
              <a:schemeClr val="bg1"/>
            </a:solidFill>
          </p:spPr>
          <p:txBody>
            <a:bodyPr wrap="square" rtlCol="0">
              <a:spAutoFit/>
            </a:bodyPr>
            <a:lstStyle/>
            <a:p>
              <a:r>
                <a:rPr lang="zh-CN" altLang="en-US" sz="2400">
                  <a:latin typeface="方正小标宋简体" panose="02010601030101010101" pitchFamily="2" charset="-122"/>
                  <a:ea typeface="方正小标宋简体" panose="02010601030101010101" pitchFamily="2" charset="-122"/>
                </a:rPr>
                <a:t>核心的排序约束</a:t>
              </a:r>
            </a:p>
          </p:txBody>
        </p:sp>
      </p:grpSp>
    </p:spTree>
    <p:extLst>
      <p:ext uri="{BB962C8B-B14F-4D97-AF65-F5344CB8AC3E}">
        <p14:creationId xmlns:p14="http://schemas.microsoft.com/office/powerpoint/2010/main" val="1593153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D6E9B-E5C7-9D76-9196-E45D096285BD}"/>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47B393F-1A5E-5B8A-2D34-C2E925C566DD}"/>
              </a:ext>
            </a:extLst>
          </p:cNvPr>
          <p:cNvGrpSpPr/>
          <p:nvPr/>
        </p:nvGrpSpPr>
        <p:grpSpPr>
          <a:xfrm>
            <a:off x="1" y="-1"/>
            <a:ext cx="9144001" cy="858612"/>
            <a:chOff x="1" y="-1"/>
            <a:chExt cx="9144001" cy="858612"/>
          </a:xfrm>
        </p:grpSpPr>
        <p:sp>
          <p:nvSpPr>
            <p:cNvPr id="3" name="矩形 2">
              <a:extLst>
                <a:ext uri="{FF2B5EF4-FFF2-40B4-BE49-F238E27FC236}">
                  <a16:creationId xmlns:a16="http://schemas.microsoft.com/office/drawing/2014/main" id="{CE9944D0-B7EB-FA30-53E8-D7B6DD7DF3A4}"/>
                </a:ext>
              </a:extLst>
            </p:cNvPr>
            <p:cNvSpPr/>
            <p:nvPr/>
          </p:nvSpPr>
          <p:spPr>
            <a:xfrm rot="16200000">
              <a:off x="4142696" y="-4142696"/>
              <a:ext cx="858612" cy="9144001"/>
            </a:xfrm>
            <a:prstGeom prst="rect">
              <a:avLst/>
            </a:prstGeom>
            <a:gradFill flip="none" rotWithShape="1">
              <a:gsLst>
                <a:gs pos="20000">
                  <a:schemeClr val="accent1"/>
                </a:gs>
                <a:gs pos="95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文本框 3">
              <a:extLst>
                <a:ext uri="{FF2B5EF4-FFF2-40B4-BE49-F238E27FC236}">
                  <a16:creationId xmlns:a16="http://schemas.microsoft.com/office/drawing/2014/main" id="{2ABAD08F-636A-CB4B-7A15-4902DFCA2F31}"/>
                </a:ext>
              </a:extLst>
            </p:cNvPr>
            <p:cNvSpPr txBox="1"/>
            <p:nvPr/>
          </p:nvSpPr>
          <p:spPr>
            <a:xfrm>
              <a:off x="187890" y="106138"/>
              <a:ext cx="4471792" cy="646331"/>
            </a:xfrm>
            <a:prstGeom prst="rect">
              <a:avLst/>
            </a:prstGeom>
            <a:noFill/>
          </p:spPr>
          <p:txBody>
            <a:bodyPr wrap="square" rtlCol="0">
              <a:spAutoFit/>
            </a:bodyPr>
            <a:lstStyle/>
            <a:p>
              <a:r>
                <a:rPr lang="zh-CN" altLang="en-US" sz="3600">
                  <a:solidFill>
                    <a:schemeClr val="bg1"/>
                  </a:solidFill>
                  <a:latin typeface="方正小标宋简体" panose="02010601030101010101" pitchFamily="2" charset="-122"/>
                  <a:ea typeface="方正小标宋简体" panose="02010601030101010101" pitchFamily="2" charset="-122"/>
                </a:rPr>
                <a:t>方法框架</a:t>
              </a:r>
              <a:r>
                <a:rPr lang="en-US" altLang="zh-CN" sz="3600">
                  <a:solidFill>
                    <a:schemeClr val="bg1"/>
                  </a:solidFill>
                  <a:latin typeface="方正小标宋简体" panose="02010601030101010101" pitchFamily="2" charset="-122"/>
                  <a:ea typeface="方正小标宋简体" panose="02010601030101010101" pitchFamily="2" charset="-122"/>
                </a:rPr>
                <a:t>—</a:t>
              </a:r>
              <a:r>
                <a:rPr lang="zh-CN" altLang="en-US" sz="3600">
                  <a:solidFill>
                    <a:schemeClr val="bg1"/>
                  </a:solidFill>
                  <a:latin typeface="方正小标宋简体" panose="02010601030101010101" pitchFamily="2" charset="-122"/>
                  <a:ea typeface="方正小标宋简体" panose="02010601030101010101" pitchFamily="2" charset="-122"/>
                </a:rPr>
                <a:t>数学模型</a:t>
              </a:r>
            </a:p>
          </p:txBody>
        </p:sp>
      </p:grpSp>
      <p:sp>
        <p:nvSpPr>
          <p:cNvPr id="8" name="Rectangle 2">
            <a:extLst>
              <a:ext uri="{FF2B5EF4-FFF2-40B4-BE49-F238E27FC236}">
                <a16:creationId xmlns:a16="http://schemas.microsoft.com/office/drawing/2014/main" id="{5467BD90-30E8-27D5-D86A-55DFB61F13A4}"/>
              </a:ext>
            </a:extLst>
          </p:cNvPr>
          <p:cNvSpPr>
            <a:spLocks noChangeArrowheads="1"/>
          </p:cNvSpPr>
          <p:nvPr/>
        </p:nvSpPr>
        <p:spPr bwMode="auto">
          <a:xfrm>
            <a:off x="344466" y="1587767"/>
            <a:ext cx="5336087" cy="486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 name="文本框 4">
            <a:extLst>
              <a:ext uri="{FF2B5EF4-FFF2-40B4-BE49-F238E27FC236}">
                <a16:creationId xmlns:a16="http://schemas.microsoft.com/office/drawing/2014/main" id="{A22BB0AA-A161-D450-DA42-EF62B2BBD2A2}"/>
              </a:ext>
            </a:extLst>
          </p:cNvPr>
          <p:cNvSpPr txBox="1"/>
          <p:nvPr/>
        </p:nvSpPr>
        <p:spPr>
          <a:xfrm>
            <a:off x="187890" y="967382"/>
            <a:ext cx="2301342" cy="461665"/>
          </a:xfrm>
          <a:prstGeom prst="rect">
            <a:avLst/>
          </a:prstGeom>
          <a:noFill/>
        </p:spPr>
        <p:txBody>
          <a:bodyPr wrap="square" rtlCol="0">
            <a:spAutoFit/>
          </a:bodyPr>
          <a:lstStyle/>
          <a:p>
            <a:r>
              <a:rPr lang="zh-CN" altLang="en-US" sz="2400">
                <a:latin typeface="方正小标宋简体" panose="02010601030101010101" pitchFamily="2" charset="-122"/>
                <a:ea typeface="方正小标宋简体" panose="02010601030101010101" pitchFamily="2" charset="-122"/>
              </a:rPr>
              <a:t>模型结构比较</a:t>
            </a:r>
          </a:p>
        </p:txBody>
      </p:sp>
      <p:pic>
        <p:nvPicPr>
          <p:cNvPr id="7" name="图片 6">
            <a:extLst>
              <a:ext uri="{FF2B5EF4-FFF2-40B4-BE49-F238E27FC236}">
                <a16:creationId xmlns:a16="http://schemas.microsoft.com/office/drawing/2014/main" id="{9DC02DF5-F366-E3B1-ADED-FFA10998774E}"/>
              </a:ext>
            </a:extLst>
          </p:cNvPr>
          <p:cNvPicPr>
            <a:picLocks noChangeAspect="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r:embed="rId4">
                    <a14:imgEffect>
                      <a14:colorTemperature colorTemp="1500"/>
                    </a14:imgEffect>
                    <a14:imgEffect>
                      <a14:saturation sat="0"/>
                    </a14:imgEffect>
                  </a14:imgLayer>
                </a14:imgProps>
              </a:ext>
              <a:ext uri="{28A0092B-C50C-407E-A947-70E740481C1C}">
                <a14:useLocalDpi xmlns:a14="http://schemas.microsoft.com/office/drawing/2010/main" val="0"/>
              </a:ext>
            </a:extLst>
          </a:blip>
          <a:stretch>
            <a:fillRect/>
          </a:stretch>
        </p:blipFill>
        <p:spPr>
          <a:xfrm>
            <a:off x="9045810" y="106138"/>
            <a:ext cx="3070066" cy="596957"/>
          </a:xfrm>
          <a:prstGeom prst="rect">
            <a:avLst/>
          </a:prstGeom>
        </p:spPr>
      </p:pic>
      <mc:AlternateContent xmlns:mc="http://schemas.openxmlformats.org/markup-compatibility/2006" xmlns:a14="http://schemas.microsoft.com/office/drawing/2010/main">
        <mc:Choice Requires="a14">
          <p:graphicFrame>
            <p:nvGraphicFramePr>
              <p:cNvPr id="16" name="表格 15">
                <a:extLst>
                  <a:ext uri="{FF2B5EF4-FFF2-40B4-BE49-F238E27FC236}">
                    <a16:creationId xmlns:a16="http://schemas.microsoft.com/office/drawing/2014/main" id="{944CC5CA-90EE-BA6E-9A43-92ACD9D046B0}"/>
                  </a:ext>
                </a:extLst>
              </p:cNvPr>
              <p:cNvGraphicFramePr>
                <a:graphicFrameLocks noGrp="1"/>
              </p:cNvGraphicFramePr>
              <p:nvPr>
                <p:extLst>
                  <p:ext uri="{D42A27DB-BD31-4B8C-83A1-F6EECF244321}">
                    <p14:modId xmlns:p14="http://schemas.microsoft.com/office/powerpoint/2010/main" val="923665096"/>
                  </p:ext>
                </p:extLst>
              </p:nvPr>
            </p:nvGraphicFramePr>
            <p:xfrm>
              <a:off x="12700" y="2012815"/>
              <a:ext cx="12166600" cy="3257418"/>
            </p:xfrm>
            <a:graphic>
              <a:graphicData uri="http://schemas.openxmlformats.org/drawingml/2006/table">
                <a:tbl>
                  <a:tblPr firstRow="1" firstCol="1" bandRow="1">
                    <a:tableStyleId>{2D5ABB26-0587-4C30-8999-92F81FD0307C}</a:tableStyleId>
                  </a:tblPr>
                  <a:tblGrid>
                    <a:gridCol w="1549400">
                      <a:extLst>
                        <a:ext uri="{9D8B030D-6E8A-4147-A177-3AD203B41FA5}">
                          <a16:colId xmlns:a16="http://schemas.microsoft.com/office/drawing/2014/main" val="648552115"/>
                        </a:ext>
                      </a:extLst>
                    </a:gridCol>
                    <a:gridCol w="2971800">
                      <a:extLst>
                        <a:ext uri="{9D8B030D-6E8A-4147-A177-3AD203B41FA5}">
                          <a16:colId xmlns:a16="http://schemas.microsoft.com/office/drawing/2014/main" val="1631770132"/>
                        </a:ext>
                      </a:extLst>
                    </a:gridCol>
                    <a:gridCol w="2609850">
                      <a:extLst>
                        <a:ext uri="{9D8B030D-6E8A-4147-A177-3AD203B41FA5}">
                          <a16:colId xmlns:a16="http://schemas.microsoft.com/office/drawing/2014/main" val="869746594"/>
                        </a:ext>
                      </a:extLst>
                    </a:gridCol>
                    <a:gridCol w="2882900">
                      <a:extLst>
                        <a:ext uri="{9D8B030D-6E8A-4147-A177-3AD203B41FA5}">
                          <a16:colId xmlns:a16="http://schemas.microsoft.com/office/drawing/2014/main" val="2547431082"/>
                        </a:ext>
                      </a:extLst>
                    </a:gridCol>
                    <a:gridCol w="2152650">
                      <a:extLst>
                        <a:ext uri="{9D8B030D-6E8A-4147-A177-3AD203B41FA5}">
                          <a16:colId xmlns:a16="http://schemas.microsoft.com/office/drawing/2014/main" val="2298456094"/>
                        </a:ext>
                      </a:extLst>
                    </a:gridCol>
                  </a:tblGrid>
                  <a:tr h="641350">
                    <a:tc>
                      <a:txBody>
                        <a:bodyPr/>
                        <a:lstStyle/>
                        <a:p>
                          <a:pPr algn="ctr">
                            <a:buNone/>
                          </a:pPr>
                          <a:r>
                            <a:rPr lang="zh-CN" sz="1600" baseline="0">
                              <a:effectLst/>
                              <a:latin typeface="方正小标宋简体" panose="02010601030101010101" pitchFamily="2" charset="-122"/>
                              <a:ea typeface="方正小标宋简体" panose="02010601030101010101" pitchFamily="2" charset="-122"/>
                            </a:rPr>
                            <a:t>模型</a:t>
                          </a:r>
                          <a:endParaRPr lang="zh-CN" sz="2400" baseline="0">
                            <a:effectLst/>
                            <a:latin typeface="方正小标宋简体" panose="02010601030101010101" pitchFamily="2" charset="-122"/>
                            <a:ea typeface="方正小标宋简体" panose="02010601030101010101" pitchFamily="2" charset="-122"/>
                            <a:cs typeface="宋体" panose="02010600030101010101" pitchFamily="2" charset="-122"/>
                          </a:endParaRPr>
                        </a:p>
                      </a:txBody>
                      <a:tcPr marL="114300" marR="114300" marT="95250" marB="47625" anchor="ctr">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sz="1600" baseline="0">
                              <a:effectLst/>
                              <a:latin typeface="方正小标宋简体" panose="02010601030101010101" pitchFamily="2" charset="-122"/>
                              <a:ea typeface="方正小标宋简体" panose="02010601030101010101" pitchFamily="2" charset="-122"/>
                            </a:rPr>
                            <a:t>变量总数</a:t>
                          </a:r>
                          <a:endParaRPr lang="zh-CN" sz="2400" baseline="0">
                            <a:effectLst/>
                            <a:latin typeface="方正小标宋简体" panose="02010601030101010101" pitchFamily="2" charset="-122"/>
                            <a:ea typeface="方正小标宋简体" panose="02010601030101010101" pitchFamily="2" charset="-122"/>
                            <a:cs typeface="宋体" panose="02010600030101010101" pitchFamily="2" charset="-122"/>
                          </a:endParaRPr>
                        </a:p>
                      </a:txBody>
                      <a:tcPr marL="114300" marR="114300" marT="95250" marB="47625" anchor="ctr">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sz="1600" baseline="0">
                              <a:effectLst/>
                              <a:latin typeface="方正小标宋简体" panose="02010601030101010101" pitchFamily="2" charset="-122"/>
                              <a:ea typeface="方正小标宋简体" panose="02010601030101010101" pitchFamily="2" charset="-122"/>
                            </a:rPr>
                            <a:t>二元变量数</a:t>
                          </a:r>
                          <a:endParaRPr lang="zh-CN" sz="2400" baseline="0">
                            <a:effectLst/>
                            <a:latin typeface="方正小标宋简体" panose="02010601030101010101" pitchFamily="2" charset="-122"/>
                            <a:ea typeface="方正小标宋简体" panose="02010601030101010101" pitchFamily="2" charset="-122"/>
                            <a:cs typeface="宋体" panose="02010600030101010101" pitchFamily="2" charset="-122"/>
                          </a:endParaRPr>
                        </a:p>
                      </a:txBody>
                      <a:tcPr marL="114300" marR="114300" marT="95250" marB="47625" anchor="ctr">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sz="1600" baseline="0">
                              <a:effectLst/>
                              <a:latin typeface="方正小标宋简体" panose="02010601030101010101" pitchFamily="2" charset="-122"/>
                              <a:ea typeface="方正小标宋简体" panose="02010601030101010101" pitchFamily="2" charset="-122"/>
                            </a:rPr>
                            <a:t>约束总数</a:t>
                          </a:r>
                          <a:endParaRPr lang="zh-CN" sz="2400" baseline="0">
                            <a:effectLst/>
                            <a:latin typeface="方正小标宋简体" panose="02010601030101010101" pitchFamily="2" charset="-122"/>
                            <a:ea typeface="方正小标宋简体" panose="02010601030101010101" pitchFamily="2" charset="-122"/>
                            <a:cs typeface="宋体" panose="02010600030101010101" pitchFamily="2" charset="-122"/>
                          </a:endParaRPr>
                        </a:p>
                      </a:txBody>
                      <a:tcPr marL="114300" marR="114300" marT="95250" marB="47625" anchor="ctr">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sz="1600" baseline="0">
                              <a:effectLst/>
                              <a:latin typeface="方正小标宋简体" panose="02010601030101010101" pitchFamily="2" charset="-122"/>
                              <a:ea typeface="方正小标宋简体" panose="02010601030101010101" pitchFamily="2" charset="-122"/>
                            </a:rPr>
                            <a:t>大</a:t>
                          </a:r>
                          <a:r>
                            <a:rPr lang="en-US" sz="1600" baseline="0">
                              <a:effectLst/>
                              <a:latin typeface="方正小标宋简体" panose="02010601030101010101" pitchFamily="2" charset="-122"/>
                              <a:ea typeface="方正小标宋简体" panose="02010601030101010101" pitchFamily="2" charset="-122"/>
                            </a:rPr>
                            <a:t>M</a:t>
                          </a:r>
                          <a:r>
                            <a:rPr lang="zh-CN" sz="1600" baseline="0">
                              <a:effectLst/>
                              <a:latin typeface="方正小标宋简体" panose="02010601030101010101" pitchFamily="2" charset="-122"/>
                              <a:ea typeface="方正小标宋简体" panose="02010601030101010101" pitchFamily="2" charset="-122"/>
                            </a:rPr>
                            <a:t>约束数</a:t>
                          </a:r>
                          <a:endParaRPr lang="zh-CN" sz="2400" baseline="0">
                            <a:effectLst/>
                            <a:latin typeface="方正小标宋简体" panose="02010601030101010101" pitchFamily="2" charset="-122"/>
                            <a:ea typeface="方正小标宋简体" panose="02010601030101010101" pitchFamily="2" charset="-122"/>
                            <a:cs typeface="宋体" panose="02010600030101010101" pitchFamily="2" charset="-122"/>
                          </a:endParaRPr>
                        </a:p>
                      </a:txBody>
                      <a:tcPr marL="114300" marR="114300" marT="95250" marB="47625" anchor="ctr">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8598727"/>
                      </a:ext>
                    </a:extLst>
                  </a:tr>
                  <a:tr h="622300">
                    <a:tc>
                      <a:txBody>
                        <a:bodyPr/>
                        <a:lstStyle/>
                        <a:p>
                          <a:pPr algn="ctr">
                            <a:buNone/>
                          </a:pPr>
                          <a:r>
                            <a:rPr lang="en-US" sz="1600" baseline="0">
                              <a:effectLst/>
                              <a:latin typeface="Times New Roman" panose="02020603050405020304" pitchFamily="18" charset="0"/>
                              <a:ea typeface="宋体" panose="02010600030101010101" pitchFamily="2" charset="-122"/>
                            </a:rPr>
                            <a:t>H2017</a:t>
                          </a:r>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buNone/>
                          </a:pPr>
                          <a14:m>
                            <m:oMathPara xmlns:m="http://schemas.openxmlformats.org/officeDocument/2006/math">
                              <m:oMathParaPr>
                                <m:jc m:val="centerGroup"/>
                              </m:oMathParaPr>
                              <m:oMath xmlns:m="http://schemas.openxmlformats.org/officeDocument/2006/math">
                                <m:r>
                                  <m:rPr>
                                    <m:lit/>
                                  </m:rPr>
                                  <a:rPr lang="en-US" sz="1600" baseline="0">
                                    <a:effectLst/>
                                    <a:latin typeface="Cambria Math" panose="02040503050406030204" pitchFamily="18" charset="0"/>
                                  </a:rPr>
                                  <m:t>(</m:t>
                                </m:r>
                                <m:sSup>
                                  <m:sSupPr>
                                    <m:ctrlPr>
                                      <a:rPr lang="zh-CN" sz="1600" i="1" baseline="0">
                                        <a:effectLst/>
                                        <a:latin typeface="Cambria Math" panose="02040503050406030204" pitchFamily="18" charset="0"/>
                                      </a:rPr>
                                    </m:ctrlPr>
                                  </m:sSupPr>
                                  <m:e>
                                    <m:r>
                                      <a:rPr lang="en-US" sz="1600" baseline="0">
                                        <a:effectLst/>
                                        <a:latin typeface="Cambria Math" panose="02040503050406030204" pitchFamily="18" charset="0"/>
                                      </a:rPr>
                                      <m:t>𝑛</m:t>
                                    </m:r>
                                  </m:e>
                                  <m:sup>
                                    <m:r>
                                      <a:rPr lang="en-US" sz="1600" baseline="0">
                                        <a:effectLst/>
                                        <a:latin typeface="Cambria Math" panose="02040503050406030204" pitchFamily="18" charset="0"/>
                                      </a:rPr>
                                      <m:t>2</m:t>
                                    </m:r>
                                  </m:sup>
                                </m:sSup>
                                <m:r>
                                  <a:rPr lang="en-US" sz="1600" baseline="0">
                                    <a:effectLst/>
                                    <a:latin typeface="Cambria Math" panose="02040503050406030204" pitchFamily="18" charset="0"/>
                                  </a:rPr>
                                  <m:t>𝑔</m:t>
                                </m:r>
                                <m:r>
                                  <a:rPr lang="en-US" sz="1600" baseline="0">
                                    <a:effectLst/>
                                    <a:latin typeface="Cambria Math" panose="02040503050406030204" pitchFamily="18" charset="0"/>
                                  </a:rPr>
                                  <m:t>+</m:t>
                                </m:r>
                                <m:r>
                                  <a:rPr lang="en-US" sz="1600" baseline="0">
                                    <a:effectLst/>
                                    <a:latin typeface="Cambria Math" panose="02040503050406030204" pitchFamily="18" charset="0"/>
                                  </a:rPr>
                                  <m:t>𝑛</m:t>
                                </m:r>
                                <m:d>
                                  <m:dPr>
                                    <m:ctrlPr>
                                      <a:rPr lang="zh-CN" sz="1600" i="1" baseline="0">
                                        <a:effectLst/>
                                        <a:latin typeface="Cambria Math" panose="02040503050406030204" pitchFamily="18" charset="0"/>
                                      </a:rPr>
                                    </m:ctrlPr>
                                  </m:dPr>
                                  <m:e>
                                    <m:r>
                                      <a:rPr lang="en-US" sz="1600" baseline="0">
                                        <a:effectLst/>
                                        <a:latin typeface="Cambria Math" panose="02040503050406030204" pitchFamily="18" charset="0"/>
                                      </a:rPr>
                                      <m:t>𝑔</m:t>
                                    </m:r>
                                    <m:r>
                                      <a:rPr lang="en-US" sz="1600" baseline="0">
                                        <a:effectLst/>
                                        <a:latin typeface="Cambria Math" panose="02040503050406030204" pitchFamily="18" charset="0"/>
                                      </a:rPr>
                                      <m:t>+1</m:t>
                                    </m:r>
                                  </m:e>
                                </m:d>
                                <m:r>
                                  <a:rPr lang="en-US" sz="1600" baseline="0">
                                    <a:effectLst/>
                                    <a:latin typeface="Cambria Math" panose="02040503050406030204" pitchFamily="18" charset="0"/>
                                  </a:rPr>
                                  <m:t>+</m:t>
                                </m:r>
                                <m:r>
                                  <a:rPr lang="en-US" sz="1600" baseline="0">
                                    <a:effectLst/>
                                    <a:latin typeface="Cambria Math" panose="02040503050406030204" pitchFamily="18" charset="0"/>
                                  </a:rPr>
                                  <m:t>𝑔</m:t>
                                </m:r>
                                <m:r>
                                  <a:rPr lang="en-US" sz="1600" baseline="0">
                                    <a:effectLst/>
                                    <a:latin typeface="Cambria Math" panose="02040503050406030204" pitchFamily="18" charset="0"/>
                                  </a:rPr>
                                  <m:t>+1</m:t>
                                </m:r>
                                <m:r>
                                  <m:rPr>
                                    <m:lit/>
                                  </m:rPr>
                                  <a:rPr lang="en-US" sz="1600" baseline="0">
                                    <a:effectLst/>
                                    <a:latin typeface="Cambria Math" panose="02040503050406030204" pitchFamily="18" charset="0"/>
                                  </a:rPr>
                                  <m:t>)</m:t>
                                </m:r>
                              </m:oMath>
                            </m:oMathPara>
                          </a14:m>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buNone/>
                          </a:pPr>
                          <a14:m>
                            <m:oMathPara xmlns:m="http://schemas.openxmlformats.org/officeDocument/2006/math">
                              <m:oMathParaPr>
                                <m:jc m:val="centerGroup"/>
                              </m:oMathParaPr>
                              <m:oMath xmlns:m="http://schemas.openxmlformats.org/officeDocument/2006/math">
                                <m:r>
                                  <m:rPr>
                                    <m:lit/>
                                  </m:rPr>
                                  <a:rPr lang="en-US" sz="1600" baseline="0">
                                    <a:effectLst/>
                                    <a:latin typeface="Cambria Math" panose="02040503050406030204" pitchFamily="18" charset="0"/>
                                  </a:rPr>
                                  <m:t>(</m:t>
                                </m:r>
                                <m:sSup>
                                  <m:sSupPr>
                                    <m:ctrlPr>
                                      <a:rPr lang="zh-CN" sz="1600" i="1" baseline="0">
                                        <a:effectLst/>
                                        <a:latin typeface="Cambria Math" panose="02040503050406030204" pitchFamily="18" charset="0"/>
                                      </a:rPr>
                                    </m:ctrlPr>
                                  </m:sSupPr>
                                  <m:e>
                                    <m:r>
                                      <a:rPr lang="en-US" sz="1600" baseline="0">
                                        <a:effectLst/>
                                        <a:latin typeface="Cambria Math" panose="02040503050406030204" pitchFamily="18" charset="0"/>
                                      </a:rPr>
                                      <m:t>𝑛</m:t>
                                    </m:r>
                                  </m:e>
                                  <m:sup>
                                    <m:r>
                                      <a:rPr lang="en-US" sz="1600" baseline="0">
                                        <a:effectLst/>
                                        <a:latin typeface="Cambria Math" panose="02040503050406030204" pitchFamily="18" charset="0"/>
                                      </a:rPr>
                                      <m:t>2</m:t>
                                    </m:r>
                                  </m:sup>
                                </m:sSup>
                                <m:r>
                                  <a:rPr lang="en-US" sz="1600" baseline="0">
                                    <a:effectLst/>
                                    <a:latin typeface="Cambria Math" panose="02040503050406030204" pitchFamily="18" charset="0"/>
                                  </a:rPr>
                                  <m:t>𝑔</m:t>
                                </m:r>
                                <m:r>
                                  <a:rPr lang="en-US" sz="1600" baseline="0">
                                    <a:effectLst/>
                                    <a:latin typeface="Cambria Math" panose="02040503050406030204" pitchFamily="18" charset="0"/>
                                  </a:rPr>
                                  <m:t>+</m:t>
                                </m:r>
                                <m:r>
                                  <a:rPr lang="en-US" sz="1600" baseline="0">
                                    <a:effectLst/>
                                    <a:latin typeface="Cambria Math" panose="02040503050406030204" pitchFamily="18" charset="0"/>
                                  </a:rPr>
                                  <m:t>𝑛𝑔</m:t>
                                </m:r>
                                <m:r>
                                  <a:rPr lang="en-US" sz="1600" baseline="0">
                                    <a:effectLst/>
                                    <a:latin typeface="Cambria Math" panose="02040503050406030204" pitchFamily="18" charset="0"/>
                                  </a:rPr>
                                  <m:t>+</m:t>
                                </m:r>
                                <m:r>
                                  <a:rPr lang="en-US" sz="1600" baseline="0">
                                    <a:effectLst/>
                                    <a:latin typeface="Cambria Math" panose="02040503050406030204" pitchFamily="18" charset="0"/>
                                  </a:rPr>
                                  <m:t>𝑔</m:t>
                                </m:r>
                                <m:r>
                                  <m:rPr>
                                    <m:lit/>
                                  </m:rPr>
                                  <a:rPr lang="en-US" sz="1600" baseline="0">
                                    <a:effectLst/>
                                    <a:latin typeface="Cambria Math" panose="02040503050406030204" pitchFamily="18" charset="0"/>
                                  </a:rPr>
                                  <m:t>)</m:t>
                                </m:r>
                              </m:oMath>
                            </m:oMathPara>
                          </a14:m>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buNone/>
                          </a:pPr>
                          <a14:m>
                            <m:oMathPara xmlns:m="http://schemas.openxmlformats.org/officeDocument/2006/math">
                              <m:oMathParaPr>
                                <m:jc m:val="centerGroup"/>
                              </m:oMathParaPr>
                              <m:oMath xmlns:m="http://schemas.openxmlformats.org/officeDocument/2006/math">
                                <m:r>
                                  <a:rPr lang="en-US" sz="1600" baseline="0">
                                    <a:effectLst/>
                                    <a:latin typeface="Cambria Math" panose="02040503050406030204" pitchFamily="18" charset="0"/>
                                  </a:rPr>
                                  <m:t>2</m:t>
                                </m:r>
                                <m:r>
                                  <m:rPr>
                                    <m:lit/>
                                  </m:rPr>
                                  <a:rPr lang="en-US" sz="1600" baseline="0">
                                    <a:effectLst/>
                                    <a:latin typeface="Cambria Math" panose="02040503050406030204" pitchFamily="18" charset="0"/>
                                  </a:rPr>
                                  <m:t>(</m:t>
                                </m:r>
                                <m:sSup>
                                  <m:sSupPr>
                                    <m:ctrlPr>
                                      <a:rPr lang="zh-CN" sz="1600" i="1" baseline="0">
                                        <a:effectLst/>
                                        <a:latin typeface="Cambria Math" panose="02040503050406030204" pitchFamily="18" charset="0"/>
                                      </a:rPr>
                                    </m:ctrlPr>
                                  </m:sSupPr>
                                  <m:e>
                                    <m:r>
                                      <a:rPr lang="en-US" sz="1600" baseline="0">
                                        <a:effectLst/>
                                        <a:latin typeface="Cambria Math" panose="02040503050406030204" pitchFamily="18" charset="0"/>
                                      </a:rPr>
                                      <m:t>𝑛</m:t>
                                    </m:r>
                                  </m:e>
                                  <m:sup>
                                    <m:r>
                                      <a:rPr lang="en-US" sz="1600" baseline="0">
                                        <a:effectLst/>
                                        <a:latin typeface="Cambria Math" panose="02040503050406030204" pitchFamily="18" charset="0"/>
                                      </a:rPr>
                                      <m:t>2</m:t>
                                    </m:r>
                                  </m:sup>
                                </m:sSup>
                                <m:r>
                                  <a:rPr lang="en-US" sz="1600" baseline="0">
                                    <a:effectLst/>
                                    <a:latin typeface="Cambria Math" panose="02040503050406030204" pitchFamily="18" charset="0"/>
                                  </a:rPr>
                                  <m:t>𝑔</m:t>
                                </m:r>
                                <m:r>
                                  <a:rPr lang="en-US" sz="1600" baseline="0">
                                    <a:effectLst/>
                                    <a:latin typeface="Cambria Math" panose="02040503050406030204" pitchFamily="18" charset="0"/>
                                  </a:rPr>
                                  <m:t>+</m:t>
                                </m:r>
                                <m:r>
                                  <a:rPr lang="en-US" sz="1600" baseline="0">
                                    <a:effectLst/>
                                    <a:latin typeface="Cambria Math" panose="02040503050406030204" pitchFamily="18" charset="0"/>
                                  </a:rPr>
                                  <m:t>𝑛</m:t>
                                </m:r>
                                <m:d>
                                  <m:dPr>
                                    <m:ctrlPr>
                                      <a:rPr lang="zh-CN" sz="1600" i="1" baseline="0">
                                        <a:effectLst/>
                                        <a:latin typeface="Cambria Math" panose="02040503050406030204" pitchFamily="18" charset="0"/>
                                      </a:rPr>
                                    </m:ctrlPr>
                                  </m:dPr>
                                  <m:e>
                                    <m:r>
                                      <a:rPr lang="en-US" sz="1600" baseline="0">
                                        <a:effectLst/>
                                        <a:latin typeface="Cambria Math" panose="02040503050406030204" pitchFamily="18" charset="0"/>
                                      </a:rPr>
                                      <m:t>𝑔</m:t>
                                    </m:r>
                                    <m:r>
                                      <a:rPr lang="en-US" sz="1600" baseline="0">
                                        <a:effectLst/>
                                        <a:latin typeface="Cambria Math" panose="02040503050406030204" pitchFamily="18" charset="0"/>
                                      </a:rPr>
                                      <m:t>+5</m:t>
                                    </m:r>
                                  </m:e>
                                </m:d>
                                <m:r>
                                  <a:rPr lang="en-US" sz="1600" baseline="0">
                                    <a:effectLst/>
                                    <a:latin typeface="Cambria Math" panose="02040503050406030204" pitchFamily="18" charset="0"/>
                                  </a:rPr>
                                  <m:t>+2</m:t>
                                </m:r>
                                <m:r>
                                  <a:rPr lang="en-US" sz="1600" baseline="0">
                                    <a:effectLst/>
                                    <a:latin typeface="Cambria Math" panose="02040503050406030204" pitchFamily="18" charset="0"/>
                                  </a:rPr>
                                  <m:t>𝑔</m:t>
                                </m:r>
                                <m:r>
                                  <a:rPr lang="en-US" sz="1600" baseline="0">
                                    <a:effectLst/>
                                    <a:latin typeface="Cambria Math" panose="02040503050406030204" pitchFamily="18" charset="0"/>
                                  </a:rPr>
                                  <m:t>+4</m:t>
                                </m:r>
                                <m:r>
                                  <m:rPr>
                                    <m:lit/>
                                  </m:rPr>
                                  <a:rPr lang="en-US" sz="1600" baseline="0">
                                    <a:effectLst/>
                                    <a:latin typeface="Cambria Math" panose="02040503050406030204" pitchFamily="18" charset="0"/>
                                  </a:rPr>
                                  <m:t>)</m:t>
                                </m:r>
                              </m:oMath>
                            </m:oMathPara>
                          </a14:m>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buNone/>
                          </a:pPr>
                          <a14:m>
                            <m:oMathPara xmlns:m="http://schemas.openxmlformats.org/officeDocument/2006/math">
                              <m:oMathParaPr>
                                <m:jc m:val="centerGroup"/>
                              </m:oMathParaPr>
                              <m:oMath xmlns:m="http://schemas.openxmlformats.org/officeDocument/2006/math">
                                <m:r>
                                  <m:rPr>
                                    <m:lit/>
                                  </m:rPr>
                                  <a:rPr lang="en-US" sz="1600" baseline="0">
                                    <a:effectLst/>
                                    <a:latin typeface="Cambria Math" panose="02040503050406030204" pitchFamily="18" charset="0"/>
                                  </a:rPr>
                                  <m:t>(</m:t>
                                </m:r>
                                <m:sSup>
                                  <m:sSupPr>
                                    <m:ctrlPr>
                                      <a:rPr lang="zh-CN" sz="1600" i="1" baseline="0">
                                        <a:effectLst/>
                                        <a:latin typeface="Cambria Math" panose="02040503050406030204" pitchFamily="18" charset="0"/>
                                      </a:rPr>
                                    </m:ctrlPr>
                                  </m:sSupPr>
                                  <m:e>
                                    <m:r>
                                      <a:rPr lang="en-US" sz="1600" baseline="0">
                                        <a:effectLst/>
                                        <a:latin typeface="Cambria Math" panose="02040503050406030204" pitchFamily="18" charset="0"/>
                                      </a:rPr>
                                      <m:t>𝑛</m:t>
                                    </m:r>
                                  </m:e>
                                  <m:sup>
                                    <m:r>
                                      <a:rPr lang="en-US" sz="1600" baseline="0">
                                        <a:effectLst/>
                                        <a:latin typeface="Cambria Math" panose="02040503050406030204" pitchFamily="18" charset="0"/>
                                      </a:rPr>
                                      <m:t>2</m:t>
                                    </m:r>
                                  </m:sup>
                                </m:sSup>
                                <m:r>
                                  <a:rPr lang="en-US" sz="1600" baseline="0">
                                    <a:effectLst/>
                                    <a:latin typeface="Cambria Math" panose="02040503050406030204" pitchFamily="18" charset="0"/>
                                  </a:rPr>
                                  <m:t>𝑔</m:t>
                                </m:r>
                                <m:r>
                                  <m:rPr>
                                    <m:lit/>
                                  </m:rPr>
                                  <a:rPr lang="en-US" sz="1600" baseline="0">
                                    <a:effectLst/>
                                    <a:latin typeface="Cambria Math" panose="02040503050406030204" pitchFamily="18" charset="0"/>
                                  </a:rPr>
                                  <m:t>)</m:t>
                                </m:r>
                              </m:oMath>
                            </m:oMathPara>
                          </a14:m>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317981521"/>
                      </a:ext>
                    </a:extLst>
                  </a:tr>
                  <a:tr h="498442">
                    <a:tc>
                      <a:txBody>
                        <a:bodyPr/>
                        <a:lstStyle/>
                        <a:p>
                          <a:pPr algn="ctr">
                            <a:buNone/>
                          </a:pPr>
                          <a:r>
                            <a:rPr lang="en-US" sz="1600" baseline="0">
                              <a:effectLst/>
                              <a:latin typeface="Times New Roman" panose="02020603050405020304" pitchFamily="18" charset="0"/>
                              <a:ea typeface="宋体" panose="02010600030101010101" pitchFamily="2" charset="-122"/>
                            </a:rPr>
                            <a:t>W2020</a:t>
                          </a:r>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a:noFill/>
                        </a:lnB>
                        <a:lnTlToBr w="12700" cmpd="sng">
                          <a:noFill/>
                          <a:prstDash val="solid"/>
                        </a:lnTlToBr>
                        <a:lnBlToTr w="12700" cmpd="sng">
                          <a:noFill/>
                          <a:prstDash val="solid"/>
                        </a:lnBlToTr>
                      </a:tcPr>
                    </a:tc>
                    <a:tc>
                      <a:txBody>
                        <a:bodyPr/>
                        <a:lstStyle/>
                        <a:p>
                          <a:pPr algn="ctr">
                            <a:buNone/>
                          </a:pPr>
                          <a14:m>
                            <m:oMathPara xmlns:m="http://schemas.openxmlformats.org/officeDocument/2006/math">
                              <m:oMathParaPr>
                                <m:jc m:val="centerGroup"/>
                              </m:oMathParaPr>
                              <m:oMath xmlns:m="http://schemas.openxmlformats.org/officeDocument/2006/math">
                                <m:r>
                                  <m:rPr>
                                    <m:lit/>
                                  </m:rPr>
                                  <a:rPr lang="en-US" sz="1600" baseline="0">
                                    <a:effectLst/>
                                    <a:latin typeface="Cambria Math" panose="02040503050406030204" pitchFamily="18" charset="0"/>
                                  </a:rPr>
                                  <m:t>(</m:t>
                                </m:r>
                                <m:sSup>
                                  <m:sSupPr>
                                    <m:ctrlPr>
                                      <a:rPr lang="zh-CN" sz="1600" i="1" baseline="0">
                                        <a:effectLst/>
                                        <a:latin typeface="Cambria Math" panose="02040503050406030204" pitchFamily="18" charset="0"/>
                                      </a:rPr>
                                    </m:ctrlPr>
                                  </m:sSupPr>
                                  <m:e>
                                    <m:r>
                                      <a:rPr lang="en-US" sz="1600" baseline="0">
                                        <a:effectLst/>
                                        <a:latin typeface="Cambria Math" panose="02040503050406030204" pitchFamily="18" charset="0"/>
                                      </a:rPr>
                                      <m:t>𝑛</m:t>
                                    </m:r>
                                  </m:e>
                                  <m:sup>
                                    <m:r>
                                      <a:rPr lang="en-US" sz="1600" baseline="0">
                                        <a:effectLst/>
                                        <a:latin typeface="Cambria Math" panose="02040503050406030204" pitchFamily="18" charset="0"/>
                                      </a:rPr>
                                      <m:t>2</m:t>
                                    </m:r>
                                  </m:sup>
                                </m:sSup>
                                <m:r>
                                  <a:rPr lang="en-US" sz="1600" baseline="0">
                                    <a:effectLst/>
                                    <a:latin typeface="Cambria Math" panose="02040503050406030204" pitchFamily="18" charset="0"/>
                                  </a:rPr>
                                  <m:t>𝑔</m:t>
                                </m:r>
                                <m:r>
                                  <a:rPr lang="en-US" sz="1600" baseline="0">
                                    <a:effectLst/>
                                    <a:latin typeface="Cambria Math" panose="02040503050406030204" pitchFamily="18" charset="0"/>
                                  </a:rPr>
                                  <m:t>+</m:t>
                                </m:r>
                                <m:r>
                                  <a:rPr lang="en-US" sz="1600" baseline="0">
                                    <a:effectLst/>
                                    <a:latin typeface="Cambria Math" panose="02040503050406030204" pitchFamily="18" charset="0"/>
                                  </a:rPr>
                                  <m:t>𝑛</m:t>
                                </m:r>
                                <m:d>
                                  <m:dPr>
                                    <m:ctrlPr>
                                      <a:rPr lang="zh-CN" sz="1600" i="1" baseline="0">
                                        <a:effectLst/>
                                        <a:latin typeface="Cambria Math" panose="02040503050406030204" pitchFamily="18" charset="0"/>
                                      </a:rPr>
                                    </m:ctrlPr>
                                  </m:dPr>
                                  <m:e>
                                    <m:r>
                                      <a:rPr lang="en-US" sz="1600" baseline="0">
                                        <a:effectLst/>
                                        <a:latin typeface="Cambria Math" panose="02040503050406030204" pitchFamily="18" charset="0"/>
                                      </a:rPr>
                                      <m:t>𝑔</m:t>
                                    </m:r>
                                    <m:r>
                                      <a:rPr lang="en-US" sz="1600" baseline="0">
                                        <a:effectLst/>
                                        <a:latin typeface="Cambria Math" panose="02040503050406030204" pitchFamily="18" charset="0"/>
                                      </a:rPr>
                                      <m:t>+1</m:t>
                                    </m:r>
                                  </m:e>
                                </m:d>
                                <m:r>
                                  <a:rPr lang="en-US" sz="1600" baseline="0">
                                    <a:effectLst/>
                                    <a:latin typeface="Cambria Math" panose="02040503050406030204" pitchFamily="18" charset="0"/>
                                  </a:rPr>
                                  <m:t>+</m:t>
                                </m:r>
                                <m:r>
                                  <a:rPr lang="en-US" sz="1600" baseline="0">
                                    <a:effectLst/>
                                    <a:latin typeface="Cambria Math" panose="02040503050406030204" pitchFamily="18" charset="0"/>
                                  </a:rPr>
                                  <m:t>𝑔</m:t>
                                </m:r>
                                <m:r>
                                  <a:rPr lang="en-US" sz="1600" baseline="0">
                                    <a:effectLst/>
                                    <a:latin typeface="Cambria Math" panose="02040503050406030204" pitchFamily="18" charset="0"/>
                                  </a:rPr>
                                  <m:t>+1</m:t>
                                </m:r>
                                <m:r>
                                  <m:rPr>
                                    <m:lit/>
                                  </m:rPr>
                                  <a:rPr lang="en-US" sz="1600" baseline="0">
                                    <a:effectLst/>
                                    <a:latin typeface="Cambria Math" panose="02040503050406030204" pitchFamily="18" charset="0"/>
                                  </a:rPr>
                                  <m:t>)</m:t>
                                </m:r>
                              </m:oMath>
                            </m:oMathPara>
                          </a14:m>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a:noFill/>
                        </a:lnB>
                        <a:lnTlToBr w="12700" cmpd="sng">
                          <a:noFill/>
                          <a:prstDash val="solid"/>
                        </a:lnTlToBr>
                        <a:lnBlToTr w="12700" cmpd="sng">
                          <a:noFill/>
                          <a:prstDash val="solid"/>
                        </a:lnBlToTr>
                      </a:tcPr>
                    </a:tc>
                    <a:tc>
                      <a:txBody>
                        <a:bodyPr/>
                        <a:lstStyle/>
                        <a:p>
                          <a:pPr algn="ctr">
                            <a:buNone/>
                          </a:pPr>
                          <a14:m>
                            <m:oMathPara xmlns:m="http://schemas.openxmlformats.org/officeDocument/2006/math">
                              <m:oMathParaPr>
                                <m:jc m:val="centerGroup"/>
                              </m:oMathParaPr>
                              <m:oMath xmlns:m="http://schemas.openxmlformats.org/officeDocument/2006/math">
                                <m:r>
                                  <m:rPr>
                                    <m:lit/>
                                  </m:rPr>
                                  <a:rPr lang="en-US" sz="1600" baseline="0">
                                    <a:effectLst/>
                                    <a:latin typeface="Cambria Math" panose="02040503050406030204" pitchFamily="18" charset="0"/>
                                  </a:rPr>
                                  <m:t>(</m:t>
                                </m:r>
                                <m:sSup>
                                  <m:sSupPr>
                                    <m:ctrlPr>
                                      <a:rPr lang="zh-CN" sz="1600" i="1" baseline="0">
                                        <a:effectLst/>
                                        <a:latin typeface="Cambria Math" panose="02040503050406030204" pitchFamily="18" charset="0"/>
                                      </a:rPr>
                                    </m:ctrlPr>
                                  </m:sSupPr>
                                  <m:e>
                                    <m:d>
                                      <m:dPr>
                                        <m:ctrlPr>
                                          <a:rPr lang="zh-CN" sz="1600" i="1" baseline="0">
                                            <a:effectLst/>
                                            <a:latin typeface="Cambria Math" panose="02040503050406030204" pitchFamily="18" charset="0"/>
                                          </a:rPr>
                                        </m:ctrlPr>
                                      </m:dPr>
                                      <m:e>
                                        <m:r>
                                          <a:rPr lang="en-US" sz="1600" baseline="0">
                                            <a:effectLst/>
                                            <a:latin typeface="Cambria Math" panose="02040503050406030204" pitchFamily="18" charset="0"/>
                                          </a:rPr>
                                          <m:t>𝑛</m:t>
                                        </m:r>
                                        <m:r>
                                          <a:rPr lang="en-US" sz="1600" baseline="0">
                                            <a:effectLst/>
                                            <a:latin typeface="Cambria Math" panose="02040503050406030204" pitchFamily="18" charset="0"/>
                                          </a:rPr>
                                          <m:t>+1</m:t>
                                        </m:r>
                                      </m:e>
                                    </m:d>
                                  </m:e>
                                  <m:sup>
                                    <m:r>
                                      <a:rPr lang="en-US" sz="1600" baseline="0">
                                        <a:effectLst/>
                                        <a:latin typeface="Cambria Math" panose="02040503050406030204" pitchFamily="18" charset="0"/>
                                      </a:rPr>
                                      <m:t>2</m:t>
                                    </m:r>
                                  </m:sup>
                                </m:sSup>
                                <m:r>
                                  <a:rPr lang="en-US" sz="1600" baseline="0">
                                    <a:effectLst/>
                                    <a:latin typeface="Cambria Math" panose="02040503050406030204" pitchFamily="18" charset="0"/>
                                  </a:rPr>
                                  <m:t>𝑔</m:t>
                                </m:r>
                                <m:r>
                                  <m:rPr>
                                    <m:lit/>
                                  </m:rPr>
                                  <a:rPr lang="en-US" sz="1600" baseline="0">
                                    <a:effectLst/>
                                    <a:latin typeface="Cambria Math" panose="02040503050406030204" pitchFamily="18" charset="0"/>
                                  </a:rPr>
                                  <m:t>)</m:t>
                                </m:r>
                              </m:oMath>
                            </m:oMathPara>
                          </a14:m>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a:noFill/>
                        </a:lnB>
                        <a:lnTlToBr w="12700" cmpd="sng">
                          <a:noFill/>
                          <a:prstDash val="solid"/>
                        </a:lnTlToBr>
                        <a:lnBlToTr w="12700" cmpd="sng">
                          <a:noFill/>
                          <a:prstDash val="solid"/>
                        </a:lnBlToTr>
                      </a:tcPr>
                    </a:tc>
                    <a:tc>
                      <a:txBody>
                        <a:bodyPr/>
                        <a:lstStyle/>
                        <a:p>
                          <a:pPr algn="ctr">
                            <a:buNone/>
                          </a:pPr>
                          <a14:m>
                            <m:oMathPara xmlns:m="http://schemas.openxmlformats.org/officeDocument/2006/math">
                              <m:oMathParaPr>
                                <m:jc m:val="centerGroup"/>
                              </m:oMathParaPr>
                              <m:oMath xmlns:m="http://schemas.openxmlformats.org/officeDocument/2006/math">
                                <m:r>
                                  <m:rPr>
                                    <m:lit/>
                                  </m:rPr>
                                  <a:rPr lang="en-US" sz="1600" baseline="0">
                                    <a:effectLst/>
                                    <a:latin typeface="Cambria Math" panose="02040503050406030204" pitchFamily="18" charset="0"/>
                                  </a:rPr>
                                  <m:t>(</m:t>
                                </m:r>
                                <m:sSup>
                                  <m:sSupPr>
                                    <m:ctrlPr>
                                      <a:rPr lang="zh-CN" sz="1600" i="1" baseline="0">
                                        <a:effectLst/>
                                        <a:latin typeface="Cambria Math" panose="02040503050406030204" pitchFamily="18" charset="0"/>
                                      </a:rPr>
                                    </m:ctrlPr>
                                  </m:sSupPr>
                                  <m:e>
                                    <m:r>
                                      <a:rPr lang="en-US" sz="1600" baseline="0">
                                        <a:effectLst/>
                                        <a:latin typeface="Cambria Math" panose="02040503050406030204" pitchFamily="18" charset="0"/>
                                      </a:rPr>
                                      <m:t>𝑛</m:t>
                                    </m:r>
                                  </m:e>
                                  <m:sup>
                                    <m:r>
                                      <a:rPr lang="en-US" sz="1600" baseline="0">
                                        <a:effectLst/>
                                        <a:latin typeface="Cambria Math" panose="02040503050406030204" pitchFamily="18" charset="0"/>
                                      </a:rPr>
                                      <m:t>2</m:t>
                                    </m:r>
                                  </m:sup>
                                </m:sSup>
                                <m:r>
                                  <a:rPr lang="en-US" sz="1600" baseline="0">
                                    <a:effectLst/>
                                    <a:latin typeface="Cambria Math" panose="02040503050406030204" pitchFamily="18" charset="0"/>
                                  </a:rPr>
                                  <m:t>+</m:t>
                                </m:r>
                                <m:r>
                                  <a:rPr lang="en-US" sz="1600" baseline="0">
                                    <a:effectLst/>
                                    <a:latin typeface="Cambria Math" panose="02040503050406030204" pitchFamily="18" charset="0"/>
                                  </a:rPr>
                                  <m:t>𝑛</m:t>
                                </m:r>
                                <m:d>
                                  <m:dPr>
                                    <m:ctrlPr>
                                      <a:rPr lang="zh-CN" sz="1600" i="1" baseline="0">
                                        <a:effectLst/>
                                        <a:latin typeface="Cambria Math" panose="02040503050406030204" pitchFamily="18" charset="0"/>
                                      </a:rPr>
                                    </m:ctrlPr>
                                  </m:dPr>
                                  <m:e>
                                    <m:r>
                                      <a:rPr lang="en-US" sz="1600" baseline="0">
                                        <a:effectLst/>
                                        <a:latin typeface="Cambria Math" panose="02040503050406030204" pitchFamily="18" charset="0"/>
                                      </a:rPr>
                                      <m:t>𝑔</m:t>
                                    </m:r>
                                    <m:r>
                                      <a:rPr lang="en-US" sz="1600" baseline="0">
                                        <a:effectLst/>
                                        <a:latin typeface="Cambria Math" panose="02040503050406030204" pitchFamily="18" charset="0"/>
                                      </a:rPr>
                                      <m:t>+4</m:t>
                                    </m:r>
                                  </m:e>
                                </m:d>
                                <m:r>
                                  <a:rPr lang="en-US" sz="1600" baseline="0">
                                    <a:effectLst/>
                                    <a:latin typeface="Cambria Math" panose="02040503050406030204" pitchFamily="18" charset="0"/>
                                  </a:rPr>
                                  <m:t>+3</m:t>
                                </m:r>
                                <m:r>
                                  <a:rPr lang="en-US" sz="1600" baseline="0">
                                    <a:effectLst/>
                                    <a:latin typeface="Cambria Math" panose="02040503050406030204" pitchFamily="18" charset="0"/>
                                  </a:rPr>
                                  <m:t>𝑔</m:t>
                                </m:r>
                                <m:r>
                                  <a:rPr lang="en-US" sz="1600" baseline="0">
                                    <a:effectLst/>
                                    <a:latin typeface="Cambria Math" panose="02040503050406030204" pitchFamily="18" charset="0"/>
                                  </a:rPr>
                                  <m:t>+2</m:t>
                                </m:r>
                                <m:r>
                                  <m:rPr>
                                    <m:lit/>
                                  </m:rPr>
                                  <a:rPr lang="en-US" sz="1600" baseline="0">
                                    <a:effectLst/>
                                    <a:latin typeface="Cambria Math" panose="02040503050406030204" pitchFamily="18" charset="0"/>
                                  </a:rPr>
                                  <m:t>)</m:t>
                                </m:r>
                              </m:oMath>
                            </m:oMathPara>
                          </a14:m>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a:noFill/>
                        </a:lnB>
                        <a:lnTlToBr w="12700" cmpd="sng">
                          <a:noFill/>
                          <a:prstDash val="solid"/>
                        </a:lnTlToBr>
                        <a:lnBlToTr w="12700" cmpd="sng">
                          <a:noFill/>
                          <a:prstDash val="solid"/>
                        </a:lnBlToTr>
                      </a:tcPr>
                    </a:tc>
                    <a:tc>
                      <a:txBody>
                        <a:bodyPr/>
                        <a:lstStyle/>
                        <a:p>
                          <a:pPr algn="ctr">
                            <a:buNone/>
                          </a:pPr>
                          <a14:m>
                            <m:oMathPara xmlns:m="http://schemas.openxmlformats.org/officeDocument/2006/math">
                              <m:oMathParaPr>
                                <m:jc m:val="centerGroup"/>
                              </m:oMathParaPr>
                              <m:oMath xmlns:m="http://schemas.openxmlformats.org/officeDocument/2006/math">
                                <m:r>
                                  <m:rPr>
                                    <m:lit/>
                                  </m:rPr>
                                  <a:rPr lang="en-US" sz="1600" baseline="0">
                                    <a:effectLst/>
                                    <a:latin typeface="Cambria Math" panose="02040503050406030204" pitchFamily="18" charset="0"/>
                                  </a:rPr>
                                  <m:t>(</m:t>
                                </m:r>
                                <m:sSup>
                                  <m:sSupPr>
                                    <m:ctrlPr>
                                      <a:rPr lang="zh-CN" sz="1600" i="1" baseline="0">
                                        <a:effectLst/>
                                        <a:latin typeface="Cambria Math" panose="02040503050406030204" pitchFamily="18" charset="0"/>
                                      </a:rPr>
                                    </m:ctrlPr>
                                  </m:sSupPr>
                                  <m:e>
                                    <m:r>
                                      <a:rPr lang="en-US" sz="1600" baseline="0">
                                        <a:effectLst/>
                                        <a:latin typeface="Cambria Math" panose="02040503050406030204" pitchFamily="18" charset="0"/>
                                      </a:rPr>
                                      <m:t>𝑛</m:t>
                                    </m:r>
                                  </m:e>
                                  <m:sup>
                                    <m:r>
                                      <a:rPr lang="en-US" sz="1600" baseline="0">
                                        <a:effectLst/>
                                        <a:latin typeface="Cambria Math" panose="02040503050406030204" pitchFamily="18" charset="0"/>
                                      </a:rPr>
                                      <m:t>2</m:t>
                                    </m:r>
                                  </m:sup>
                                </m:sSup>
                                <m:r>
                                  <m:rPr>
                                    <m:lit/>
                                  </m:rPr>
                                  <a:rPr lang="en-US" sz="1600" baseline="0">
                                    <a:effectLst/>
                                    <a:latin typeface="Cambria Math" panose="02040503050406030204" pitchFamily="18" charset="0"/>
                                  </a:rPr>
                                  <m:t>)</m:t>
                                </m:r>
                              </m:oMath>
                            </m:oMathPara>
                          </a14:m>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804233706"/>
                      </a:ext>
                    </a:extLst>
                  </a:tr>
                  <a:tr h="498442">
                    <a:tc>
                      <a:txBody>
                        <a:bodyPr/>
                        <a:lstStyle/>
                        <a:p>
                          <a:pPr algn="ctr">
                            <a:buNone/>
                          </a:pPr>
                          <a:r>
                            <a:rPr lang="en-US" sz="1600" baseline="0">
                              <a:effectLst/>
                              <a:latin typeface="Times New Roman" panose="02020603050405020304" pitchFamily="18" charset="0"/>
                              <a:ea typeface="宋体" panose="02010600030101010101" pitchFamily="2" charset="-122"/>
                            </a:rPr>
                            <a:t>I3</a:t>
                          </a:r>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a:noFill/>
                        </a:lnB>
                        <a:lnTlToBr w="12700" cmpd="sng">
                          <a:noFill/>
                          <a:prstDash val="solid"/>
                        </a:lnTlToBr>
                        <a:lnBlToTr w="12700" cmpd="sng">
                          <a:noFill/>
                          <a:prstDash val="solid"/>
                        </a:lnBlToTr>
                      </a:tcPr>
                    </a:tc>
                    <a:tc>
                      <a:txBody>
                        <a:bodyPr/>
                        <a:lstStyle/>
                        <a:p>
                          <a:pPr algn="ctr">
                            <a:buNone/>
                          </a:pPr>
                          <a14:m>
                            <m:oMathPara xmlns:m="http://schemas.openxmlformats.org/officeDocument/2006/math">
                              <m:oMathParaPr>
                                <m:jc m:val="centerGroup"/>
                              </m:oMathParaPr>
                              <m:oMath xmlns:m="http://schemas.openxmlformats.org/officeDocument/2006/math">
                                <m:r>
                                  <m:rPr>
                                    <m:lit/>
                                  </m:rPr>
                                  <a:rPr lang="en-US" sz="1600" baseline="0">
                                    <a:effectLst/>
                                    <a:latin typeface="Cambria Math" panose="02040503050406030204" pitchFamily="18" charset="0"/>
                                  </a:rPr>
                                  <m:t>(</m:t>
                                </m:r>
                                <m:sSup>
                                  <m:sSupPr>
                                    <m:ctrlPr>
                                      <a:rPr lang="zh-CN" sz="1600" i="1" baseline="0">
                                        <a:effectLst/>
                                        <a:latin typeface="Cambria Math" panose="02040503050406030204" pitchFamily="18" charset="0"/>
                                      </a:rPr>
                                    </m:ctrlPr>
                                  </m:sSupPr>
                                  <m:e>
                                    <m:r>
                                      <a:rPr lang="en-US" sz="1600" baseline="0">
                                        <a:effectLst/>
                                        <a:latin typeface="Cambria Math" panose="02040503050406030204" pitchFamily="18" charset="0"/>
                                      </a:rPr>
                                      <m:t>𝑛</m:t>
                                    </m:r>
                                  </m:e>
                                  <m:sup>
                                    <m:r>
                                      <a:rPr lang="en-US" sz="1600" baseline="0">
                                        <a:effectLst/>
                                        <a:latin typeface="Cambria Math" panose="02040503050406030204" pitchFamily="18" charset="0"/>
                                      </a:rPr>
                                      <m:t>2</m:t>
                                    </m:r>
                                  </m:sup>
                                </m:sSup>
                                <m:r>
                                  <a:rPr lang="en-US" sz="1600" baseline="0">
                                    <a:effectLst/>
                                    <a:latin typeface="Cambria Math" panose="02040503050406030204" pitchFamily="18" charset="0"/>
                                  </a:rPr>
                                  <m:t>𝑔</m:t>
                                </m:r>
                                <m:r>
                                  <a:rPr lang="en-US" sz="1600" baseline="0">
                                    <a:effectLst/>
                                    <a:latin typeface="Cambria Math" panose="02040503050406030204" pitchFamily="18" charset="0"/>
                                  </a:rPr>
                                  <m:t>+</m:t>
                                </m:r>
                                <m:r>
                                  <a:rPr lang="en-US" sz="1600" baseline="0">
                                    <a:effectLst/>
                                    <a:latin typeface="Cambria Math" panose="02040503050406030204" pitchFamily="18" charset="0"/>
                                  </a:rPr>
                                  <m:t>𝑛</m:t>
                                </m:r>
                                <m:d>
                                  <m:dPr>
                                    <m:ctrlPr>
                                      <a:rPr lang="zh-CN" sz="1600" i="1" baseline="0">
                                        <a:effectLst/>
                                        <a:latin typeface="Cambria Math" panose="02040503050406030204" pitchFamily="18" charset="0"/>
                                      </a:rPr>
                                    </m:ctrlPr>
                                  </m:dPr>
                                  <m:e>
                                    <m:r>
                                      <a:rPr lang="en-US" sz="1600" baseline="0">
                                        <a:effectLst/>
                                        <a:latin typeface="Cambria Math" panose="02040503050406030204" pitchFamily="18" charset="0"/>
                                      </a:rPr>
                                      <m:t>2</m:t>
                                    </m:r>
                                    <m:r>
                                      <a:rPr lang="en-US" sz="1600" baseline="0">
                                        <a:effectLst/>
                                        <a:latin typeface="Cambria Math" panose="02040503050406030204" pitchFamily="18" charset="0"/>
                                      </a:rPr>
                                      <m:t>𝑔</m:t>
                                    </m:r>
                                    <m:r>
                                      <a:rPr lang="en-US" sz="1600" baseline="0">
                                        <a:effectLst/>
                                        <a:latin typeface="Cambria Math" panose="02040503050406030204" pitchFamily="18" charset="0"/>
                                      </a:rPr>
                                      <m:t>+1</m:t>
                                    </m:r>
                                  </m:e>
                                </m:d>
                                <m:r>
                                  <a:rPr lang="en-US" sz="1600" baseline="0">
                                    <a:effectLst/>
                                    <a:latin typeface="Cambria Math" panose="02040503050406030204" pitchFamily="18" charset="0"/>
                                  </a:rPr>
                                  <m:t>+</m:t>
                                </m:r>
                                <m:r>
                                  <a:rPr lang="en-US" sz="1600" baseline="0">
                                    <a:effectLst/>
                                    <a:latin typeface="Cambria Math" panose="02040503050406030204" pitchFamily="18" charset="0"/>
                                  </a:rPr>
                                  <m:t>𝑔</m:t>
                                </m:r>
                                <m:r>
                                  <a:rPr lang="en-US" sz="1600" baseline="0">
                                    <a:effectLst/>
                                    <a:latin typeface="Cambria Math" panose="02040503050406030204" pitchFamily="18" charset="0"/>
                                  </a:rPr>
                                  <m:t>+1</m:t>
                                </m:r>
                                <m:r>
                                  <m:rPr>
                                    <m:lit/>
                                  </m:rPr>
                                  <a:rPr lang="en-US" sz="1600" baseline="0">
                                    <a:effectLst/>
                                    <a:latin typeface="Cambria Math" panose="02040503050406030204" pitchFamily="18" charset="0"/>
                                  </a:rPr>
                                  <m:t>)</m:t>
                                </m:r>
                              </m:oMath>
                            </m:oMathPara>
                          </a14:m>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a:noFill/>
                        </a:lnB>
                        <a:lnTlToBr w="12700" cmpd="sng">
                          <a:noFill/>
                          <a:prstDash val="solid"/>
                        </a:lnTlToBr>
                        <a:lnBlToTr w="12700" cmpd="sng">
                          <a:noFill/>
                          <a:prstDash val="solid"/>
                        </a:lnBlToTr>
                      </a:tcPr>
                    </a:tc>
                    <a:tc>
                      <a:txBody>
                        <a:bodyPr/>
                        <a:lstStyle/>
                        <a:p>
                          <a:pPr algn="ctr">
                            <a:buNone/>
                          </a:pPr>
                          <a14:m>
                            <m:oMathPara xmlns:m="http://schemas.openxmlformats.org/officeDocument/2006/math">
                              <m:oMathParaPr>
                                <m:jc m:val="centerGroup"/>
                              </m:oMathParaPr>
                              <m:oMath xmlns:m="http://schemas.openxmlformats.org/officeDocument/2006/math">
                                <m:r>
                                  <m:rPr>
                                    <m:lit/>
                                  </m:rPr>
                                  <a:rPr lang="en-US" sz="1600" baseline="0">
                                    <a:effectLst/>
                                    <a:latin typeface="Cambria Math" panose="02040503050406030204" pitchFamily="18" charset="0"/>
                                  </a:rPr>
                                  <m:t>(</m:t>
                                </m:r>
                                <m:sSup>
                                  <m:sSupPr>
                                    <m:ctrlPr>
                                      <a:rPr lang="zh-CN" sz="1600" i="1" baseline="0">
                                        <a:effectLst/>
                                        <a:latin typeface="Cambria Math" panose="02040503050406030204" pitchFamily="18" charset="0"/>
                                      </a:rPr>
                                    </m:ctrlPr>
                                  </m:sSupPr>
                                  <m:e>
                                    <m:r>
                                      <a:rPr lang="en-US" sz="1600" baseline="0">
                                        <a:effectLst/>
                                        <a:latin typeface="Cambria Math" panose="02040503050406030204" pitchFamily="18" charset="0"/>
                                      </a:rPr>
                                      <m:t>𝑛</m:t>
                                    </m:r>
                                  </m:e>
                                  <m:sup>
                                    <m:r>
                                      <a:rPr lang="en-US" sz="1600" baseline="0">
                                        <a:effectLst/>
                                        <a:latin typeface="Cambria Math" panose="02040503050406030204" pitchFamily="18" charset="0"/>
                                      </a:rPr>
                                      <m:t>2</m:t>
                                    </m:r>
                                  </m:sup>
                                </m:sSup>
                                <m:r>
                                  <a:rPr lang="en-US" sz="1600" baseline="0">
                                    <a:effectLst/>
                                    <a:latin typeface="Cambria Math" panose="02040503050406030204" pitchFamily="18" charset="0"/>
                                  </a:rPr>
                                  <m:t>𝑔</m:t>
                                </m:r>
                                <m:r>
                                  <a:rPr lang="en-US" sz="1600" baseline="0">
                                    <a:effectLst/>
                                    <a:latin typeface="Cambria Math" panose="02040503050406030204" pitchFamily="18" charset="0"/>
                                  </a:rPr>
                                  <m:t>+</m:t>
                                </m:r>
                                <m:r>
                                  <a:rPr lang="en-US" sz="1600" baseline="0">
                                    <a:effectLst/>
                                    <a:latin typeface="Cambria Math" panose="02040503050406030204" pitchFamily="18" charset="0"/>
                                  </a:rPr>
                                  <m:t>𝑛𝑔</m:t>
                                </m:r>
                                <m:r>
                                  <a:rPr lang="en-US" sz="1600" baseline="0">
                                    <a:effectLst/>
                                    <a:latin typeface="Cambria Math" panose="02040503050406030204" pitchFamily="18" charset="0"/>
                                  </a:rPr>
                                  <m:t>+</m:t>
                                </m:r>
                                <m:r>
                                  <a:rPr lang="en-US" sz="1600" baseline="0">
                                    <a:effectLst/>
                                    <a:latin typeface="Cambria Math" panose="02040503050406030204" pitchFamily="18" charset="0"/>
                                  </a:rPr>
                                  <m:t>𝑔</m:t>
                                </m:r>
                                <m:r>
                                  <m:rPr>
                                    <m:lit/>
                                  </m:rPr>
                                  <a:rPr lang="en-US" sz="1600" baseline="0">
                                    <a:effectLst/>
                                    <a:latin typeface="Cambria Math" panose="02040503050406030204" pitchFamily="18" charset="0"/>
                                  </a:rPr>
                                  <m:t>)</m:t>
                                </m:r>
                              </m:oMath>
                            </m:oMathPara>
                          </a14:m>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a:noFill/>
                        </a:lnB>
                        <a:lnTlToBr w="12700" cmpd="sng">
                          <a:noFill/>
                          <a:prstDash val="solid"/>
                        </a:lnTlToBr>
                        <a:lnBlToTr w="12700" cmpd="sng">
                          <a:noFill/>
                          <a:prstDash val="solid"/>
                        </a:lnBlToTr>
                      </a:tcPr>
                    </a:tc>
                    <a:tc>
                      <a:txBody>
                        <a:bodyPr/>
                        <a:lstStyle/>
                        <a:p>
                          <a:pPr algn="ctr">
                            <a:buNone/>
                          </a:pPr>
                          <a14:m>
                            <m:oMathPara xmlns:m="http://schemas.openxmlformats.org/officeDocument/2006/math">
                              <m:oMathParaPr>
                                <m:jc m:val="centerGroup"/>
                              </m:oMathParaPr>
                              <m:oMath xmlns:m="http://schemas.openxmlformats.org/officeDocument/2006/math">
                                <m:r>
                                  <m:rPr>
                                    <m:lit/>
                                  </m:rPr>
                                  <a:rPr lang="en-US" sz="1600" baseline="0">
                                    <a:effectLst/>
                                    <a:latin typeface="Cambria Math" panose="02040503050406030204" pitchFamily="18" charset="0"/>
                                  </a:rPr>
                                  <m:t>(</m:t>
                                </m:r>
                                <m:sSup>
                                  <m:sSupPr>
                                    <m:ctrlPr>
                                      <a:rPr lang="zh-CN" sz="1600" i="1" baseline="0">
                                        <a:effectLst/>
                                        <a:latin typeface="Cambria Math" panose="02040503050406030204" pitchFamily="18" charset="0"/>
                                      </a:rPr>
                                    </m:ctrlPr>
                                  </m:sSupPr>
                                  <m:e>
                                    <m:r>
                                      <a:rPr lang="en-US" sz="1600" baseline="0">
                                        <a:effectLst/>
                                        <a:latin typeface="Cambria Math" panose="02040503050406030204" pitchFamily="18" charset="0"/>
                                      </a:rPr>
                                      <m:t>𝑛</m:t>
                                    </m:r>
                                  </m:e>
                                  <m:sup>
                                    <m:r>
                                      <a:rPr lang="en-US" sz="1600" baseline="0">
                                        <a:effectLst/>
                                        <a:latin typeface="Cambria Math" panose="02040503050406030204" pitchFamily="18" charset="0"/>
                                      </a:rPr>
                                      <m:t>2</m:t>
                                    </m:r>
                                  </m:sup>
                                </m:sSup>
                                <m:r>
                                  <a:rPr lang="en-US" sz="1600" baseline="0">
                                    <a:effectLst/>
                                    <a:latin typeface="Cambria Math" panose="02040503050406030204" pitchFamily="18" charset="0"/>
                                  </a:rPr>
                                  <m:t>+</m:t>
                                </m:r>
                                <m:r>
                                  <a:rPr lang="en-US" sz="1600" baseline="0">
                                    <a:effectLst/>
                                    <a:latin typeface="Cambria Math" panose="02040503050406030204" pitchFamily="18" charset="0"/>
                                  </a:rPr>
                                  <m:t>𝑛</m:t>
                                </m:r>
                                <m:d>
                                  <m:dPr>
                                    <m:ctrlPr>
                                      <a:rPr lang="zh-CN" sz="1600" i="1" baseline="0">
                                        <a:effectLst/>
                                        <a:latin typeface="Cambria Math" panose="02040503050406030204" pitchFamily="18" charset="0"/>
                                      </a:rPr>
                                    </m:ctrlPr>
                                  </m:dPr>
                                  <m:e>
                                    <m:r>
                                      <a:rPr lang="en-US" sz="1600" baseline="0">
                                        <a:effectLst/>
                                        <a:latin typeface="Cambria Math" panose="02040503050406030204" pitchFamily="18" charset="0"/>
                                      </a:rPr>
                                      <m:t>2+2</m:t>
                                    </m:r>
                                    <m:r>
                                      <a:rPr lang="en-US" sz="1600" baseline="0">
                                        <a:effectLst/>
                                        <a:latin typeface="Cambria Math" panose="02040503050406030204" pitchFamily="18" charset="0"/>
                                      </a:rPr>
                                      <m:t>𝑔</m:t>
                                    </m:r>
                                  </m:e>
                                </m:d>
                                <m:r>
                                  <a:rPr lang="en-US" sz="1600" baseline="0">
                                    <a:effectLst/>
                                    <a:latin typeface="Cambria Math" panose="02040503050406030204" pitchFamily="18" charset="0"/>
                                  </a:rPr>
                                  <m:t>+</m:t>
                                </m:r>
                                <m:r>
                                  <a:rPr lang="en-US" sz="1600" baseline="0">
                                    <a:effectLst/>
                                    <a:latin typeface="Cambria Math" panose="02040503050406030204" pitchFamily="18" charset="0"/>
                                  </a:rPr>
                                  <m:t>𝑔</m:t>
                                </m:r>
                                <m:r>
                                  <a:rPr lang="en-US" sz="1600" baseline="0">
                                    <a:effectLst/>
                                    <a:latin typeface="Cambria Math" panose="02040503050406030204" pitchFamily="18" charset="0"/>
                                  </a:rPr>
                                  <m:t>+1</m:t>
                                </m:r>
                                <m:r>
                                  <m:rPr>
                                    <m:lit/>
                                  </m:rPr>
                                  <a:rPr lang="en-US" sz="1600" baseline="0">
                                    <a:effectLst/>
                                    <a:latin typeface="Cambria Math" panose="02040503050406030204" pitchFamily="18" charset="0"/>
                                  </a:rPr>
                                  <m:t>)</m:t>
                                </m:r>
                              </m:oMath>
                            </m:oMathPara>
                          </a14:m>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a:noFill/>
                        </a:lnB>
                        <a:lnTlToBr w="12700" cmpd="sng">
                          <a:noFill/>
                          <a:prstDash val="solid"/>
                        </a:lnTlToBr>
                        <a:lnBlToTr w="12700" cmpd="sng">
                          <a:noFill/>
                          <a:prstDash val="solid"/>
                        </a:lnBlToTr>
                      </a:tcPr>
                    </a:tc>
                    <a:tc>
                      <a:txBody>
                        <a:bodyPr/>
                        <a:lstStyle/>
                        <a:p>
                          <a:pPr algn="ctr">
                            <a:buNone/>
                          </a:pPr>
                          <a14:m>
                            <m:oMathPara xmlns:m="http://schemas.openxmlformats.org/officeDocument/2006/math">
                              <m:oMathParaPr>
                                <m:jc m:val="centerGroup"/>
                              </m:oMathParaPr>
                              <m:oMath xmlns:m="http://schemas.openxmlformats.org/officeDocument/2006/math">
                                <m:r>
                                  <m:rPr>
                                    <m:lit/>
                                  </m:rPr>
                                  <a:rPr lang="en-US" sz="1600" baseline="0">
                                    <a:effectLst/>
                                    <a:latin typeface="Cambria Math" panose="02040503050406030204" pitchFamily="18" charset="0"/>
                                  </a:rPr>
                                  <m:t>(</m:t>
                                </m:r>
                                <m:sSup>
                                  <m:sSupPr>
                                    <m:ctrlPr>
                                      <a:rPr lang="zh-CN" sz="1600" i="1" baseline="0">
                                        <a:effectLst/>
                                        <a:latin typeface="Cambria Math" panose="02040503050406030204" pitchFamily="18" charset="0"/>
                                      </a:rPr>
                                    </m:ctrlPr>
                                  </m:sSupPr>
                                  <m:e>
                                    <m:r>
                                      <a:rPr lang="en-US" sz="1600" baseline="0">
                                        <a:effectLst/>
                                        <a:latin typeface="Cambria Math" panose="02040503050406030204" pitchFamily="18" charset="0"/>
                                      </a:rPr>
                                      <m:t>𝑛</m:t>
                                    </m:r>
                                  </m:e>
                                  <m:sup>
                                    <m:r>
                                      <a:rPr lang="en-US" sz="1600" baseline="0">
                                        <a:effectLst/>
                                        <a:latin typeface="Cambria Math" panose="02040503050406030204" pitchFamily="18" charset="0"/>
                                      </a:rPr>
                                      <m:t>2</m:t>
                                    </m:r>
                                  </m:sup>
                                </m:sSup>
                                <m:r>
                                  <a:rPr lang="en-US" sz="1600" baseline="0">
                                    <a:effectLst/>
                                    <a:latin typeface="Cambria Math" panose="02040503050406030204" pitchFamily="18" charset="0"/>
                                  </a:rPr>
                                  <m:t>−</m:t>
                                </m:r>
                                <m:r>
                                  <a:rPr lang="en-US" sz="1600" baseline="0">
                                    <a:effectLst/>
                                    <a:latin typeface="Cambria Math" panose="02040503050406030204" pitchFamily="18" charset="0"/>
                                  </a:rPr>
                                  <m:t>𝑛</m:t>
                                </m:r>
                                <m:r>
                                  <m:rPr>
                                    <m:lit/>
                                  </m:rPr>
                                  <a:rPr lang="en-US" sz="1600" baseline="0">
                                    <a:effectLst/>
                                    <a:latin typeface="Cambria Math" panose="02040503050406030204" pitchFamily="18" charset="0"/>
                                  </a:rPr>
                                  <m:t>)</m:t>
                                </m:r>
                              </m:oMath>
                            </m:oMathPara>
                          </a14:m>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595125455"/>
                      </a:ext>
                    </a:extLst>
                  </a:tr>
                  <a:tr h="498442">
                    <a:tc>
                      <a:txBody>
                        <a:bodyPr/>
                        <a:lstStyle/>
                        <a:p>
                          <a:pPr algn="ctr">
                            <a:buNone/>
                          </a:pPr>
                          <a:r>
                            <a:rPr lang="en-US" sz="1600" baseline="0">
                              <a:effectLst/>
                              <a:latin typeface="Times New Roman" panose="02020603050405020304" pitchFamily="18" charset="0"/>
                              <a:ea typeface="宋体" panose="02010600030101010101" pitchFamily="2" charset="-122"/>
                            </a:rPr>
                            <a:t>LO</a:t>
                          </a:r>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a:noFill/>
                        </a:lnB>
                        <a:lnTlToBr w="12700" cmpd="sng">
                          <a:noFill/>
                          <a:prstDash val="solid"/>
                        </a:lnTlToBr>
                        <a:lnBlToTr w="12700" cmpd="sng">
                          <a:noFill/>
                          <a:prstDash val="solid"/>
                        </a:lnBlToTr>
                      </a:tcPr>
                    </a:tc>
                    <a:tc>
                      <a:txBody>
                        <a:bodyPr/>
                        <a:lstStyle/>
                        <a:p>
                          <a:pPr algn="ctr">
                            <a:buNone/>
                          </a:pPr>
                          <a14:m>
                            <m:oMathPara xmlns:m="http://schemas.openxmlformats.org/officeDocument/2006/math">
                              <m:oMathParaPr>
                                <m:jc m:val="centerGroup"/>
                              </m:oMathParaPr>
                              <m:oMath xmlns:m="http://schemas.openxmlformats.org/officeDocument/2006/math">
                                <m:r>
                                  <m:rPr>
                                    <m:lit/>
                                  </m:rPr>
                                  <a:rPr lang="en-US" sz="1600" baseline="0">
                                    <a:effectLst/>
                                    <a:latin typeface="Cambria Math" panose="02040503050406030204" pitchFamily="18" charset="0"/>
                                  </a:rPr>
                                  <m:t>(</m:t>
                                </m:r>
                                <m:sSup>
                                  <m:sSupPr>
                                    <m:ctrlPr>
                                      <a:rPr lang="zh-CN" sz="1600" i="1" baseline="0">
                                        <a:effectLst/>
                                        <a:latin typeface="Cambria Math" panose="02040503050406030204" pitchFamily="18" charset="0"/>
                                      </a:rPr>
                                    </m:ctrlPr>
                                  </m:sSupPr>
                                  <m:e>
                                    <m:r>
                                      <a:rPr lang="en-US" sz="1600" baseline="0">
                                        <a:effectLst/>
                                        <a:latin typeface="Cambria Math" panose="02040503050406030204" pitchFamily="18" charset="0"/>
                                      </a:rPr>
                                      <m:t>𝑛</m:t>
                                    </m:r>
                                  </m:e>
                                  <m:sup>
                                    <m:r>
                                      <a:rPr lang="en-US" sz="1600" baseline="0">
                                        <a:effectLst/>
                                        <a:latin typeface="Cambria Math" panose="02040503050406030204" pitchFamily="18" charset="0"/>
                                      </a:rPr>
                                      <m:t>2</m:t>
                                    </m:r>
                                  </m:sup>
                                </m:sSup>
                                <m:r>
                                  <m:rPr>
                                    <m:lit/>
                                  </m:rPr>
                                  <a:rPr lang="en-US" sz="1600" baseline="0">
                                    <a:effectLst/>
                                    <a:latin typeface="Cambria Math" panose="02040503050406030204" pitchFamily="18" charset="0"/>
                                  </a:rPr>
                                  <m:t>/</m:t>
                                </m:r>
                                <m:r>
                                  <a:rPr lang="en-US" sz="1600" baseline="0">
                                    <a:effectLst/>
                                    <a:latin typeface="Cambria Math" panose="02040503050406030204" pitchFamily="18" charset="0"/>
                                  </a:rPr>
                                  <m:t>2+</m:t>
                                </m:r>
                                <m:r>
                                  <a:rPr lang="en-US" sz="1600" baseline="0">
                                    <a:effectLst/>
                                    <a:latin typeface="Cambria Math" panose="02040503050406030204" pitchFamily="18" charset="0"/>
                                  </a:rPr>
                                  <m:t>𝑛</m:t>
                                </m:r>
                                <m:d>
                                  <m:dPr>
                                    <m:ctrlPr>
                                      <a:rPr lang="zh-CN" sz="1600" i="1" baseline="0">
                                        <a:effectLst/>
                                        <a:latin typeface="Cambria Math" panose="02040503050406030204" pitchFamily="18" charset="0"/>
                                      </a:rPr>
                                    </m:ctrlPr>
                                  </m:dPr>
                                  <m:e>
                                    <m:r>
                                      <a:rPr lang="en-US" sz="1600" baseline="0">
                                        <a:effectLst/>
                                        <a:latin typeface="Cambria Math" panose="02040503050406030204" pitchFamily="18" charset="0"/>
                                      </a:rPr>
                                      <m:t>𝑔</m:t>
                                    </m:r>
                                    <m:r>
                                      <a:rPr lang="en-US" sz="1600" baseline="0">
                                        <a:effectLst/>
                                        <a:latin typeface="Cambria Math" panose="02040503050406030204" pitchFamily="18" charset="0"/>
                                      </a:rPr>
                                      <m:t>+1</m:t>
                                    </m:r>
                                    <m:r>
                                      <m:rPr>
                                        <m:lit/>
                                      </m:rPr>
                                      <a:rPr lang="en-US" sz="1600" baseline="0">
                                        <a:effectLst/>
                                        <a:latin typeface="Cambria Math" panose="02040503050406030204" pitchFamily="18" charset="0"/>
                                      </a:rPr>
                                      <m:t>/</m:t>
                                    </m:r>
                                    <m:r>
                                      <a:rPr lang="en-US" sz="1600" baseline="0">
                                        <a:effectLst/>
                                        <a:latin typeface="Cambria Math" panose="02040503050406030204" pitchFamily="18" charset="0"/>
                                      </a:rPr>
                                      <m:t>2</m:t>
                                    </m:r>
                                  </m:e>
                                </m:d>
                                <m:r>
                                  <a:rPr lang="en-US" sz="1600" baseline="0">
                                    <a:effectLst/>
                                    <a:latin typeface="Cambria Math" panose="02040503050406030204" pitchFamily="18" charset="0"/>
                                  </a:rPr>
                                  <m:t>+</m:t>
                                </m:r>
                                <m:r>
                                  <a:rPr lang="en-US" sz="1600" baseline="0">
                                    <a:effectLst/>
                                    <a:latin typeface="Cambria Math" panose="02040503050406030204" pitchFamily="18" charset="0"/>
                                  </a:rPr>
                                  <m:t>𝑔</m:t>
                                </m:r>
                                <m:r>
                                  <a:rPr lang="en-US" sz="1600" baseline="0">
                                    <a:effectLst/>
                                    <a:latin typeface="Cambria Math" panose="02040503050406030204" pitchFamily="18" charset="0"/>
                                  </a:rPr>
                                  <m:t>+1</m:t>
                                </m:r>
                                <m:r>
                                  <m:rPr>
                                    <m:lit/>
                                  </m:rPr>
                                  <a:rPr lang="en-US" sz="1600" baseline="0">
                                    <a:effectLst/>
                                    <a:latin typeface="Cambria Math" panose="02040503050406030204" pitchFamily="18" charset="0"/>
                                  </a:rPr>
                                  <m:t>)</m:t>
                                </m:r>
                              </m:oMath>
                            </m:oMathPara>
                          </a14:m>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a:noFill/>
                        </a:lnB>
                        <a:lnTlToBr w="12700" cmpd="sng">
                          <a:noFill/>
                          <a:prstDash val="solid"/>
                        </a:lnTlToBr>
                        <a:lnBlToTr w="12700" cmpd="sng">
                          <a:noFill/>
                          <a:prstDash val="solid"/>
                        </a:lnBlToTr>
                      </a:tcPr>
                    </a:tc>
                    <a:tc>
                      <a:txBody>
                        <a:bodyPr/>
                        <a:lstStyle/>
                        <a:p>
                          <a:pPr algn="ctr">
                            <a:buNone/>
                          </a:pPr>
                          <a14:m>
                            <m:oMathPara xmlns:m="http://schemas.openxmlformats.org/officeDocument/2006/math">
                              <m:oMathParaPr>
                                <m:jc m:val="centerGroup"/>
                              </m:oMathParaPr>
                              <m:oMath xmlns:m="http://schemas.openxmlformats.org/officeDocument/2006/math">
                                <m:r>
                                  <m:rPr>
                                    <m:lit/>
                                  </m:rPr>
                                  <a:rPr lang="en-US" sz="1600" baseline="0">
                                    <a:effectLst/>
                                    <a:latin typeface="Cambria Math" panose="02040503050406030204" pitchFamily="18" charset="0"/>
                                  </a:rPr>
                                  <m:t>(</m:t>
                                </m:r>
                                <m:sSup>
                                  <m:sSupPr>
                                    <m:ctrlPr>
                                      <a:rPr lang="zh-CN" sz="1600" i="1" baseline="0">
                                        <a:effectLst/>
                                        <a:latin typeface="Cambria Math" panose="02040503050406030204" pitchFamily="18" charset="0"/>
                                      </a:rPr>
                                    </m:ctrlPr>
                                  </m:sSupPr>
                                  <m:e>
                                    <m:r>
                                      <a:rPr lang="en-US" sz="1600" baseline="0">
                                        <a:effectLst/>
                                        <a:latin typeface="Cambria Math" panose="02040503050406030204" pitchFamily="18" charset="0"/>
                                      </a:rPr>
                                      <m:t>𝑛</m:t>
                                    </m:r>
                                  </m:e>
                                  <m:sup>
                                    <m:r>
                                      <a:rPr lang="en-US" sz="1600" baseline="0">
                                        <a:effectLst/>
                                        <a:latin typeface="Cambria Math" panose="02040503050406030204" pitchFamily="18" charset="0"/>
                                      </a:rPr>
                                      <m:t>2</m:t>
                                    </m:r>
                                  </m:sup>
                                </m:sSup>
                                <m:r>
                                  <m:rPr>
                                    <m:lit/>
                                  </m:rPr>
                                  <a:rPr lang="en-US" sz="1600" baseline="0">
                                    <a:effectLst/>
                                    <a:latin typeface="Cambria Math" panose="02040503050406030204" pitchFamily="18" charset="0"/>
                                  </a:rPr>
                                  <m:t>/</m:t>
                                </m:r>
                                <m:r>
                                  <a:rPr lang="en-US" sz="1600" baseline="0">
                                    <a:effectLst/>
                                    <a:latin typeface="Cambria Math" panose="02040503050406030204" pitchFamily="18" charset="0"/>
                                  </a:rPr>
                                  <m:t>2+</m:t>
                                </m:r>
                                <m:r>
                                  <a:rPr lang="en-US" sz="1600" baseline="0">
                                    <a:effectLst/>
                                    <a:latin typeface="Cambria Math" panose="02040503050406030204" pitchFamily="18" charset="0"/>
                                  </a:rPr>
                                  <m:t>𝑛</m:t>
                                </m:r>
                                <m:d>
                                  <m:dPr>
                                    <m:ctrlPr>
                                      <a:rPr lang="zh-CN" sz="1600" i="1" baseline="0">
                                        <a:effectLst/>
                                        <a:latin typeface="Cambria Math" panose="02040503050406030204" pitchFamily="18" charset="0"/>
                                      </a:rPr>
                                    </m:ctrlPr>
                                  </m:dPr>
                                  <m:e>
                                    <m:r>
                                      <a:rPr lang="en-US" sz="1600" baseline="0">
                                        <a:effectLst/>
                                        <a:latin typeface="Cambria Math" panose="02040503050406030204" pitchFamily="18" charset="0"/>
                                      </a:rPr>
                                      <m:t>𝑔</m:t>
                                    </m:r>
                                    <m:r>
                                      <a:rPr lang="en-US" sz="1600" baseline="0">
                                        <a:effectLst/>
                                        <a:latin typeface="Cambria Math" panose="02040503050406030204" pitchFamily="18" charset="0"/>
                                      </a:rPr>
                                      <m:t>−1</m:t>
                                    </m:r>
                                    <m:r>
                                      <m:rPr>
                                        <m:lit/>
                                      </m:rPr>
                                      <a:rPr lang="en-US" sz="1600" baseline="0">
                                        <a:effectLst/>
                                        <a:latin typeface="Cambria Math" panose="02040503050406030204" pitchFamily="18" charset="0"/>
                                      </a:rPr>
                                      <m:t>/</m:t>
                                    </m:r>
                                    <m:r>
                                      <a:rPr lang="en-US" sz="1600" baseline="0">
                                        <a:effectLst/>
                                        <a:latin typeface="Cambria Math" panose="02040503050406030204" pitchFamily="18" charset="0"/>
                                      </a:rPr>
                                      <m:t>2</m:t>
                                    </m:r>
                                  </m:e>
                                </m:d>
                                <m:r>
                                  <a:rPr lang="en-US" sz="1600" baseline="0">
                                    <a:effectLst/>
                                    <a:latin typeface="Cambria Math" panose="02040503050406030204" pitchFamily="18" charset="0"/>
                                  </a:rPr>
                                  <m:t>+</m:t>
                                </m:r>
                                <m:r>
                                  <a:rPr lang="en-US" sz="1600" baseline="0">
                                    <a:effectLst/>
                                    <a:latin typeface="Cambria Math" panose="02040503050406030204" pitchFamily="18" charset="0"/>
                                  </a:rPr>
                                  <m:t>𝑔</m:t>
                                </m:r>
                                <m:r>
                                  <m:rPr>
                                    <m:lit/>
                                  </m:rPr>
                                  <a:rPr lang="en-US" sz="1600" baseline="0">
                                    <a:effectLst/>
                                    <a:latin typeface="Cambria Math" panose="02040503050406030204" pitchFamily="18" charset="0"/>
                                  </a:rPr>
                                  <m:t>)</m:t>
                                </m:r>
                              </m:oMath>
                            </m:oMathPara>
                          </a14:m>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a:noFill/>
                        </a:lnB>
                        <a:lnTlToBr w="12700" cmpd="sng">
                          <a:noFill/>
                          <a:prstDash val="solid"/>
                        </a:lnTlToBr>
                        <a:lnBlToTr w="12700" cmpd="sng">
                          <a:noFill/>
                          <a:prstDash val="solid"/>
                        </a:lnBlToTr>
                      </a:tcPr>
                    </a:tc>
                    <a:tc>
                      <a:txBody>
                        <a:bodyPr/>
                        <a:lstStyle/>
                        <a:p>
                          <a:pPr algn="ctr">
                            <a:buNone/>
                          </a:pPr>
                          <a14:m>
                            <m:oMathPara xmlns:m="http://schemas.openxmlformats.org/officeDocument/2006/math">
                              <m:oMathParaPr>
                                <m:jc m:val="centerGroup"/>
                              </m:oMathParaPr>
                              <m:oMath xmlns:m="http://schemas.openxmlformats.org/officeDocument/2006/math">
                                <m:r>
                                  <m:rPr>
                                    <m:lit/>
                                  </m:rPr>
                                  <a:rPr lang="en-US" sz="1600" baseline="0">
                                    <a:effectLst/>
                                    <a:latin typeface="Cambria Math" panose="02040503050406030204" pitchFamily="18" charset="0"/>
                                  </a:rPr>
                                  <m:t>(</m:t>
                                </m:r>
                                <m:sSup>
                                  <m:sSupPr>
                                    <m:ctrlPr>
                                      <a:rPr lang="zh-CN" sz="1600" i="1" baseline="0">
                                        <a:effectLst/>
                                        <a:latin typeface="Cambria Math" panose="02040503050406030204" pitchFamily="18" charset="0"/>
                                      </a:rPr>
                                    </m:ctrlPr>
                                  </m:sSupPr>
                                  <m:e>
                                    <m:r>
                                      <a:rPr lang="en-US" sz="1600" baseline="0">
                                        <a:effectLst/>
                                        <a:latin typeface="Cambria Math" panose="02040503050406030204" pitchFamily="18" charset="0"/>
                                      </a:rPr>
                                      <m:t>𝑛</m:t>
                                    </m:r>
                                  </m:e>
                                  <m:sup>
                                    <m:r>
                                      <a:rPr lang="en-US" sz="1600" baseline="0">
                                        <a:effectLst/>
                                        <a:latin typeface="Cambria Math" panose="02040503050406030204" pitchFamily="18" charset="0"/>
                                      </a:rPr>
                                      <m:t>2</m:t>
                                    </m:r>
                                  </m:sup>
                                </m:sSup>
                                <m:r>
                                  <a:rPr lang="en-US" sz="1600" baseline="0">
                                    <a:effectLst/>
                                    <a:latin typeface="Cambria Math" panose="02040503050406030204" pitchFamily="18" charset="0"/>
                                  </a:rPr>
                                  <m:t>𝑔</m:t>
                                </m:r>
                                <m:r>
                                  <a:rPr lang="en-US" sz="1600" baseline="0">
                                    <a:effectLst/>
                                    <a:latin typeface="Cambria Math" panose="02040503050406030204" pitchFamily="18" charset="0"/>
                                  </a:rPr>
                                  <m:t>+3</m:t>
                                </m:r>
                                <m:r>
                                  <a:rPr lang="en-US" sz="1600" baseline="0">
                                    <a:effectLst/>
                                    <a:latin typeface="Cambria Math" panose="02040503050406030204" pitchFamily="18" charset="0"/>
                                  </a:rPr>
                                  <m:t>𝑛</m:t>
                                </m:r>
                                <m:r>
                                  <a:rPr lang="en-US" sz="1600" baseline="0">
                                    <a:effectLst/>
                                    <a:latin typeface="Cambria Math" panose="02040503050406030204" pitchFamily="18" charset="0"/>
                                  </a:rPr>
                                  <m:t>+1</m:t>
                                </m:r>
                                <m:r>
                                  <m:rPr>
                                    <m:lit/>
                                  </m:rPr>
                                  <a:rPr lang="en-US" sz="1600" baseline="0">
                                    <a:effectLst/>
                                    <a:latin typeface="Cambria Math" panose="02040503050406030204" pitchFamily="18" charset="0"/>
                                  </a:rPr>
                                  <m:t>)</m:t>
                                </m:r>
                              </m:oMath>
                            </m:oMathPara>
                          </a14:m>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a:noFill/>
                        </a:lnB>
                        <a:lnTlToBr w="12700" cmpd="sng">
                          <a:noFill/>
                          <a:prstDash val="solid"/>
                        </a:lnTlToBr>
                        <a:lnBlToTr w="12700" cmpd="sng">
                          <a:noFill/>
                          <a:prstDash val="solid"/>
                        </a:lnBlToTr>
                      </a:tcPr>
                    </a:tc>
                    <a:tc>
                      <a:txBody>
                        <a:bodyPr/>
                        <a:lstStyle/>
                        <a:p>
                          <a:pPr algn="ctr">
                            <a:buNone/>
                          </a:pPr>
                          <a14:m>
                            <m:oMathPara xmlns:m="http://schemas.openxmlformats.org/officeDocument/2006/math">
                              <m:oMathParaPr>
                                <m:jc m:val="centerGroup"/>
                              </m:oMathParaPr>
                              <m:oMath xmlns:m="http://schemas.openxmlformats.org/officeDocument/2006/math">
                                <m:r>
                                  <m:rPr>
                                    <m:lit/>
                                  </m:rPr>
                                  <a:rPr lang="en-US" sz="1600" baseline="0">
                                    <a:effectLst/>
                                    <a:latin typeface="Cambria Math" panose="02040503050406030204" pitchFamily="18" charset="0"/>
                                  </a:rPr>
                                  <m:t>(</m:t>
                                </m:r>
                                <m:sSup>
                                  <m:sSupPr>
                                    <m:ctrlPr>
                                      <a:rPr lang="zh-CN" sz="1600" i="1" baseline="0">
                                        <a:effectLst/>
                                        <a:latin typeface="Cambria Math" panose="02040503050406030204" pitchFamily="18" charset="0"/>
                                      </a:rPr>
                                    </m:ctrlPr>
                                  </m:sSupPr>
                                  <m:e>
                                    <m:r>
                                      <a:rPr lang="en-US" sz="1600" baseline="0">
                                        <a:effectLst/>
                                        <a:latin typeface="Cambria Math" panose="02040503050406030204" pitchFamily="18" charset="0"/>
                                      </a:rPr>
                                      <m:t>𝑛</m:t>
                                    </m:r>
                                  </m:e>
                                  <m:sup>
                                    <m:r>
                                      <a:rPr lang="en-US" sz="1600" baseline="0">
                                        <a:effectLst/>
                                        <a:latin typeface="Cambria Math" panose="02040503050406030204" pitchFamily="18" charset="0"/>
                                      </a:rPr>
                                      <m:t>2</m:t>
                                    </m:r>
                                  </m:sup>
                                </m:sSup>
                                <m:r>
                                  <a:rPr lang="en-US" sz="1600" baseline="0">
                                    <a:effectLst/>
                                    <a:latin typeface="Cambria Math" panose="02040503050406030204" pitchFamily="18" charset="0"/>
                                  </a:rPr>
                                  <m:t>𝑔</m:t>
                                </m:r>
                                <m:r>
                                  <a:rPr lang="en-US" sz="1600" baseline="0">
                                    <a:effectLst/>
                                    <a:latin typeface="Cambria Math" panose="02040503050406030204" pitchFamily="18" charset="0"/>
                                  </a:rPr>
                                  <m:t>−</m:t>
                                </m:r>
                                <m:r>
                                  <a:rPr lang="en-US" sz="1600" baseline="0">
                                    <a:effectLst/>
                                    <a:latin typeface="Cambria Math" panose="02040503050406030204" pitchFamily="18" charset="0"/>
                                  </a:rPr>
                                  <m:t>𝑛𝑔</m:t>
                                </m:r>
                                <m:r>
                                  <m:rPr>
                                    <m:lit/>
                                  </m:rPr>
                                  <a:rPr lang="en-US" sz="1600" baseline="0">
                                    <a:effectLst/>
                                    <a:latin typeface="Cambria Math" panose="02040503050406030204" pitchFamily="18" charset="0"/>
                                  </a:rPr>
                                  <m:t>)</m:t>
                                </m:r>
                              </m:oMath>
                            </m:oMathPara>
                          </a14:m>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900530269"/>
                      </a:ext>
                    </a:extLst>
                  </a:tr>
                  <a:tr h="498442">
                    <a:tc>
                      <a:txBody>
                        <a:bodyPr/>
                        <a:lstStyle/>
                        <a:p>
                          <a:pPr algn="ctr">
                            <a:buNone/>
                          </a:pPr>
                          <a:r>
                            <a:rPr lang="en-US" sz="1600" baseline="0">
                              <a:effectLst/>
                              <a:latin typeface="Times New Roman" panose="02020603050405020304" pitchFamily="18" charset="0"/>
                              <a:ea typeface="宋体" panose="02010600030101010101" pitchFamily="2" charset="-122"/>
                            </a:rPr>
                            <a:t>PD</a:t>
                          </a:r>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14:m>
                            <m:oMathPara xmlns:m="http://schemas.openxmlformats.org/officeDocument/2006/math">
                              <m:oMathParaPr>
                                <m:jc m:val="centerGroup"/>
                              </m:oMathParaPr>
                              <m:oMath xmlns:m="http://schemas.openxmlformats.org/officeDocument/2006/math">
                                <m:r>
                                  <m:rPr>
                                    <m:lit/>
                                  </m:rPr>
                                  <a:rPr lang="en-US" sz="1600" baseline="0">
                                    <a:effectLst/>
                                    <a:latin typeface="Cambria Math" panose="02040503050406030204" pitchFamily="18" charset="0"/>
                                  </a:rPr>
                                  <m:t>(</m:t>
                                </m:r>
                                <m:sSup>
                                  <m:sSupPr>
                                    <m:ctrlPr>
                                      <a:rPr lang="zh-CN" sz="1600" i="1" baseline="0">
                                        <a:effectLst/>
                                        <a:latin typeface="Cambria Math" panose="02040503050406030204" pitchFamily="18" charset="0"/>
                                      </a:rPr>
                                    </m:ctrlPr>
                                  </m:sSupPr>
                                  <m:e>
                                    <m:r>
                                      <a:rPr lang="en-US" sz="1600" baseline="0">
                                        <a:effectLst/>
                                        <a:latin typeface="Cambria Math" panose="02040503050406030204" pitchFamily="18" charset="0"/>
                                      </a:rPr>
                                      <m:t>𝑛</m:t>
                                    </m:r>
                                  </m:e>
                                  <m:sup>
                                    <m:r>
                                      <a:rPr lang="en-US" sz="1600" baseline="0">
                                        <a:effectLst/>
                                        <a:latin typeface="Cambria Math" panose="02040503050406030204" pitchFamily="18" charset="0"/>
                                      </a:rPr>
                                      <m:t>2</m:t>
                                    </m:r>
                                  </m:sup>
                                </m:sSup>
                                <m:r>
                                  <a:rPr lang="en-US" sz="1600" baseline="0">
                                    <a:effectLst/>
                                    <a:latin typeface="Cambria Math" panose="02040503050406030204" pitchFamily="18" charset="0"/>
                                  </a:rPr>
                                  <m:t>𝑔</m:t>
                                </m:r>
                                <m:r>
                                  <a:rPr lang="en-US" sz="1600" baseline="0">
                                    <a:effectLst/>
                                    <a:latin typeface="Cambria Math" panose="02040503050406030204" pitchFamily="18" charset="0"/>
                                  </a:rPr>
                                  <m:t>+</m:t>
                                </m:r>
                                <m:r>
                                  <a:rPr lang="en-US" sz="1600" baseline="0">
                                    <a:effectLst/>
                                    <a:latin typeface="Cambria Math" panose="02040503050406030204" pitchFamily="18" charset="0"/>
                                  </a:rPr>
                                  <m:t>𝑛𝑔</m:t>
                                </m:r>
                                <m:r>
                                  <a:rPr lang="en-US" sz="1600" baseline="0">
                                    <a:effectLst/>
                                    <a:latin typeface="Cambria Math" panose="02040503050406030204" pitchFamily="18" charset="0"/>
                                  </a:rPr>
                                  <m:t>+1</m:t>
                                </m:r>
                                <m:r>
                                  <m:rPr>
                                    <m:lit/>
                                  </m:rPr>
                                  <a:rPr lang="en-US" sz="1600" baseline="0">
                                    <a:effectLst/>
                                    <a:latin typeface="Cambria Math" panose="02040503050406030204" pitchFamily="18" charset="0"/>
                                  </a:rPr>
                                  <m:t>)</m:t>
                                </m:r>
                              </m:oMath>
                            </m:oMathPara>
                          </a14:m>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14:m>
                            <m:oMathPara xmlns:m="http://schemas.openxmlformats.org/officeDocument/2006/math">
                              <m:oMathParaPr>
                                <m:jc m:val="centerGroup"/>
                              </m:oMathParaPr>
                              <m:oMath xmlns:m="http://schemas.openxmlformats.org/officeDocument/2006/math">
                                <m:r>
                                  <m:rPr>
                                    <m:lit/>
                                  </m:rPr>
                                  <a:rPr lang="en-US" sz="1600" baseline="0">
                                    <a:effectLst/>
                                    <a:latin typeface="Cambria Math" panose="02040503050406030204" pitchFamily="18" charset="0"/>
                                  </a:rPr>
                                  <m:t>(</m:t>
                                </m:r>
                                <m:sSup>
                                  <m:sSupPr>
                                    <m:ctrlPr>
                                      <a:rPr lang="zh-CN" sz="1600" i="1" baseline="0">
                                        <a:effectLst/>
                                        <a:latin typeface="Cambria Math" panose="02040503050406030204" pitchFamily="18" charset="0"/>
                                      </a:rPr>
                                    </m:ctrlPr>
                                  </m:sSupPr>
                                  <m:e>
                                    <m:r>
                                      <a:rPr lang="en-US" sz="1600" baseline="0">
                                        <a:effectLst/>
                                        <a:latin typeface="Cambria Math" panose="02040503050406030204" pitchFamily="18" charset="0"/>
                                      </a:rPr>
                                      <m:t>𝑛</m:t>
                                    </m:r>
                                  </m:e>
                                  <m:sup>
                                    <m:r>
                                      <a:rPr lang="en-US" sz="1600" baseline="0">
                                        <a:effectLst/>
                                        <a:latin typeface="Cambria Math" panose="02040503050406030204" pitchFamily="18" charset="0"/>
                                      </a:rPr>
                                      <m:t>2</m:t>
                                    </m:r>
                                  </m:sup>
                                </m:sSup>
                                <m:r>
                                  <a:rPr lang="en-US" sz="1600" baseline="0">
                                    <a:effectLst/>
                                    <a:latin typeface="Cambria Math" panose="02040503050406030204" pitchFamily="18" charset="0"/>
                                  </a:rPr>
                                  <m:t>𝑔</m:t>
                                </m:r>
                                <m:r>
                                  <m:rPr>
                                    <m:lit/>
                                  </m:rPr>
                                  <a:rPr lang="en-US" sz="1600" baseline="0">
                                    <a:effectLst/>
                                    <a:latin typeface="Cambria Math" panose="02040503050406030204" pitchFamily="18" charset="0"/>
                                  </a:rPr>
                                  <m:t>)</m:t>
                                </m:r>
                              </m:oMath>
                            </m:oMathPara>
                          </a14:m>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14:m>
                            <m:oMathPara xmlns:m="http://schemas.openxmlformats.org/officeDocument/2006/math">
                              <m:oMathParaPr>
                                <m:jc m:val="centerGroup"/>
                              </m:oMathParaPr>
                              <m:oMath xmlns:m="http://schemas.openxmlformats.org/officeDocument/2006/math">
                                <m:r>
                                  <m:rPr>
                                    <m:lit/>
                                  </m:rPr>
                                  <a:rPr lang="en-US" sz="1600" baseline="0">
                                    <a:effectLst/>
                                    <a:latin typeface="Cambria Math" panose="02040503050406030204" pitchFamily="18" charset="0"/>
                                  </a:rPr>
                                  <m:t>(</m:t>
                                </m:r>
                                <m:sSup>
                                  <m:sSupPr>
                                    <m:ctrlPr>
                                      <a:rPr lang="zh-CN" sz="1600" i="1" baseline="0">
                                        <a:effectLst/>
                                        <a:latin typeface="Cambria Math" panose="02040503050406030204" pitchFamily="18" charset="0"/>
                                      </a:rPr>
                                    </m:ctrlPr>
                                  </m:sSupPr>
                                  <m:e>
                                    <m:r>
                                      <a:rPr lang="en-US" sz="1600" baseline="0">
                                        <a:effectLst/>
                                        <a:latin typeface="Cambria Math" panose="02040503050406030204" pitchFamily="18" charset="0"/>
                                      </a:rPr>
                                      <m:t>𝑛</m:t>
                                    </m:r>
                                  </m:e>
                                  <m:sup>
                                    <m:r>
                                      <a:rPr lang="en-US" sz="1600" baseline="0">
                                        <a:effectLst/>
                                        <a:latin typeface="Cambria Math" panose="02040503050406030204" pitchFamily="18" charset="0"/>
                                      </a:rPr>
                                      <m:t>2</m:t>
                                    </m:r>
                                  </m:sup>
                                </m:sSup>
                                <m:r>
                                  <a:rPr lang="en-US" sz="1600" baseline="0">
                                    <a:effectLst/>
                                    <a:latin typeface="Cambria Math" panose="02040503050406030204" pitchFamily="18" charset="0"/>
                                  </a:rPr>
                                  <m:t>𝑔</m:t>
                                </m:r>
                                <m:r>
                                  <a:rPr lang="en-US" sz="1600" baseline="0">
                                    <a:effectLst/>
                                    <a:latin typeface="Cambria Math" panose="02040503050406030204" pitchFamily="18" charset="0"/>
                                  </a:rPr>
                                  <m:t>+</m:t>
                                </m:r>
                                <m:r>
                                  <a:rPr lang="en-US" sz="1600" baseline="0">
                                    <a:effectLst/>
                                    <a:latin typeface="Cambria Math" panose="02040503050406030204" pitchFamily="18" charset="0"/>
                                  </a:rPr>
                                  <m:t>𝑛</m:t>
                                </m:r>
                                <m:d>
                                  <m:dPr>
                                    <m:ctrlPr>
                                      <a:rPr lang="zh-CN" sz="1600" i="1" baseline="0">
                                        <a:effectLst/>
                                        <a:latin typeface="Cambria Math" panose="02040503050406030204" pitchFamily="18" charset="0"/>
                                      </a:rPr>
                                    </m:ctrlPr>
                                  </m:dPr>
                                  <m:e>
                                    <m:r>
                                      <a:rPr lang="en-US" sz="1600" baseline="0">
                                        <a:effectLst/>
                                        <a:latin typeface="Cambria Math" panose="02040503050406030204" pitchFamily="18" charset="0"/>
                                      </a:rPr>
                                      <m:t>3</m:t>
                                    </m:r>
                                    <m:r>
                                      <a:rPr lang="en-US" sz="1600" baseline="0">
                                        <a:effectLst/>
                                        <a:latin typeface="Cambria Math" panose="02040503050406030204" pitchFamily="18" charset="0"/>
                                      </a:rPr>
                                      <m:t>𝑔</m:t>
                                    </m:r>
                                    <m:r>
                                      <a:rPr lang="en-US" sz="1600" baseline="0">
                                        <a:effectLst/>
                                        <a:latin typeface="Cambria Math" panose="02040503050406030204" pitchFamily="18" charset="0"/>
                                      </a:rPr>
                                      <m:t>+1</m:t>
                                    </m:r>
                                  </m:e>
                                </m:d>
                                <m:r>
                                  <a:rPr lang="en-US" sz="1600" baseline="0">
                                    <a:effectLst/>
                                    <a:latin typeface="Cambria Math" panose="02040503050406030204" pitchFamily="18" charset="0"/>
                                  </a:rPr>
                                  <m:t>+</m:t>
                                </m:r>
                                <m:r>
                                  <a:rPr lang="en-US" sz="1600" baseline="0">
                                    <a:effectLst/>
                                    <a:latin typeface="Cambria Math" panose="02040503050406030204" pitchFamily="18" charset="0"/>
                                  </a:rPr>
                                  <m:t>𝑔</m:t>
                                </m:r>
                                <m:r>
                                  <a:rPr lang="en-US" sz="1600" baseline="0">
                                    <a:effectLst/>
                                    <a:latin typeface="Cambria Math" panose="02040503050406030204" pitchFamily="18" charset="0"/>
                                  </a:rPr>
                                  <m:t>+1</m:t>
                                </m:r>
                                <m:r>
                                  <m:rPr>
                                    <m:lit/>
                                  </m:rPr>
                                  <a:rPr lang="en-US" sz="1600" baseline="0">
                                    <a:effectLst/>
                                    <a:latin typeface="Cambria Math" panose="02040503050406030204" pitchFamily="18" charset="0"/>
                                  </a:rPr>
                                  <m:t>)</m:t>
                                </m:r>
                              </m:oMath>
                            </m:oMathPara>
                          </a14:m>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14:m>
                            <m:oMathPara xmlns:m="http://schemas.openxmlformats.org/officeDocument/2006/math">
                              <m:oMathParaPr>
                                <m:jc m:val="centerGroup"/>
                              </m:oMathParaPr>
                              <m:oMath xmlns:m="http://schemas.openxmlformats.org/officeDocument/2006/math">
                                <m:r>
                                  <m:rPr>
                                    <m:lit/>
                                  </m:rPr>
                                  <a:rPr lang="en-US" sz="1600" baseline="0">
                                    <a:effectLst/>
                                    <a:latin typeface="Cambria Math" panose="02040503050406030204" pitchFamily="18" charset="0"/>
                                  </a:rPr>
                                  <m:t>(</m:t>
                                </m:r>
                                <m:r>
                                  <a:rPr lang="en-US" sz="1600" baseline="0">
                                    <a:effectLst/>
                                    <a:latin typeface="Cambria Math" panose="02040503050406030204" pitchFamily="18" charset="0"/>
                                  </a:rPr>
                                  <m:t> 0 </m:t>
                                </m:r>
                                <m:r>
                                  <m:rPr>
                                    <m:lit/>
                                  </m:rPr>
                                  <a:rPr lang="en-US" sz="1600" baseline="0">
                                    <a:effectLst/>
                                    <a:latin typeface="Cambria Math" panose="02040503050406030204" pitchFamily="18" charset="0"/>
                                  </a:rPr>
                                  <m:t>)</m:t>
                                </m:r>
                              </m:oMath>
                            </m:oMathPara>
                          </a14:m>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75935372"/>
                      </a:ext>
                    </a:extLst>
                  </a:tr>
                </a:tbl>
              </a:graphicData>
            </a:graphic>
          </p:graphicFrame>
        </mc:Choice>
        <mc:Fallback xmlns="">
          <p:graphicFrame>
            <p:nvGraphicFramePr>
              <p:cNvPr id="16" name="表格 15">
                <a:extLst>
                  <a:ext uri="{FF2B5EF4-FFF2-40B4-BE49-F238E27FC236}">
                    <a16:creationId xmlns:a16="http://schemas.microsoft.com/office/drawing/2014/main" id="{944CC5CA-90EE-BA6E-9A43-92ACD9D046B0}"/>
                  </a:ext>
                </a:extLst>
              </p:cNvPr>
              <p:cNvGraphicFramePr>
                <a:graphicFrameLocks noGrp="1"/>
              </p:cNvGraphicFramePr>
              <p:nvPr>
                <p:extLst>
                  <p:ext uri="{D42A27DB-BD31-4B8C-83A1-F6EECF244321}">
                    <p14:modId xmlns:p14="http://schemas.microsoft.com/office/powerpoint/2010/main" val="923665096"/>
                  </p:ext>
                </p:extLst>
              </p:nvPr>
            </p:nvGraphicFramePr>
            <p:xfrm>
              <a:off x="12700" y="2012815"/>
              <a:ext cx="12166600" cy="3257418"/>
            </p:xfrm>
            <a:graphic>
              <a:graphicData uri="http://schemas.openxmlformats.org/drawingml/2006/table">
                <a:tbl>
                  <a:tblPr firstRow="1" firstCol="1" bandRow="1">
                    <a:tableStyleId>{2D5ABB26-0587-4C30-8999-92F81FD0307C}</a:tableStyleId>
                  </a:tblPr>
                  <a:tblGrid>
                    <a:gridCol w="1549400">
                      <a:extLst>
                        <a:ext uri="{9D8B030D-6E8A-4147-A177-3AD203B41FA5}">
                          <a16:colId xmlns:a16="http://schemas.microsoft.com/office/drawing/2014/main" val="648552115"/>
                        </a:ext>
                      </a:extLst>
                    </a:gridCol>
                    <a:gridCol w="2971800">
                      <a:extLst>
                        <a:ext uri="{9D8B030D-6E8A-4147-A177-3AD203B41FA5}">
                          <a16:colId xmlns:a16="http://schemas.microsoft.com/office/drawing/2014/main" val="1631770132"/>
                        </a:ext>
                      </a:extLst>
                    </a:gridCol>
                    <a:gridCol w="2609850">
                      <a:extLst>
                        <a:ext uri="{9D8B030D-6E8A-4147-A177-3AD203B41FA5}">
                          <a16:colId xmlns:a16="http://schemas.microsoft.com/office/drawing/2014/main" val="869746594"/>
                        </a:ext>
                      </a:extLst>
                    </a:gridCol>
                    <a:gridCol w="2882900">
                      <a:extLst>
                        <a:ext uri="{9D8B030D-6E8A-4147-A177-3AD203B41FA5}">
                          <a16:colId xmlns:a16="http://schemas.microsoft.com/office/drawing/2014/main" val="2547431082"/>
                        </a:ext>
                      </a:extLst>
                    </a:gridCol>
                    <a:gridCol w="2152650">
                      <a:extLst>
                        <a:ext uri="{9D8B030D-6E8A-4147-A177-3AD203B41FA5}">
                          <a16:colId xmlns:a16="http://schemas.microsoft.com/office/drawing/2014/main" val="2298456094"/>
                        </a:ext>
                      </a:extLst>
                    </a:gridCol>
                  </a:tblGrid>
                  <a:tr h="641350">
                    <a:tc>
                      <a:txBody>
                        <a:bodyPr/>
                        <a:lstStyle/>
                        <a:p>
                          <a:pPr algn="ctr">
                            <a:buNone/>
                          </a:pPr>
                          <a:r>
                            <a:rPr lang="zh-CN" sz="1600" baseline="0">
                              <a:effectLst/>
                              <a:latin typeface="方正小标宋简体" panose="02010601030101010101" pitchFamily="2" charset="-122"/>
                              <a:ea typeface="方正小标宋简体" panose="02010601030101010101" pitchFamily="2" charset="-122"/>
                            </a:rPr>
                            <a:t>模型</a:t>
                          </a:r>
                          <a:endParaRPr lang="zh-CN" sz="2400" baseline="0">
                            <a:effectLst/>
                            <a:latin typeface="方正小标宋简体" panose="02010601030101010101" pitchFamily="2" charset="-122"/>
                            <a:ea typeface="方正小标宋简体" panose="02010601030101010101" pitchFamily="2" charset="-122"/>
                            <a:cs typeface="宋体" panose="02010600030101010101" pitchFamily="2" charset="-122"/>
                          </a:endParaRPr>
                        </a:p>
                      </a:txBody>
                      <a:tcPr marL="114300" marR="114300" marT="95250" marB="47625" anchor="ctr">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sz="1600" baseline="0">
                              <a:effectLst/>
                              <a:latin typeface="方正小标宋简体" panose="02010601030101010101" pitchFamily="2" charset="-122"/>
                              <a:ea typeface="方正小标宋简体" panose="02010601030101010101" pitchFamily="2" charset="-122"/>
                            </a:rPr>
                            <a:t>变量总数</a:t>
                          </a:r>
                          <a:endParaRPr lang="zh-CN" sz="2400" baseline="0">
                            <a:effectLst/>
                            <a:latin typeface="方正小标宋简体" panose="02010601030101010101" pitchFamily="2" charset="-122"/>
                            <a:ea typeface="方正小标宋简体" panose="02010601030101010101" pitchFamily="2" charset="-122"/>
                            <a:cs typeface="宋体" panose="02010600030101010101" pitchFamily="2" charset="-122"/>
                          </a:endParaRPr>
                        </a:p>
                      </a:txBody>
                      <a:tcPr marL="114300" marR="114300" marT="95250" marB="47625" anchor="ctr">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sz="1600" baseline="0">
                              <a:effectLst/>
                              <a:latin typeface="方正小标宋简体" panose="02010601030101010101" pitchFamily="2" charset="-122"/>
                              <a:ea typeface="方正小标宋简体" panose="02010601030101010101" pitchFamily="2" charset="-122"/>
                            </a:rPr>
                            <a:t>二元变量数</a:t>
                          </a:r>
                          <a:endParaRPr lang="zh-CN" sz="2400" baseline="0">
                            <a:effectLst/>
                            <a:latin typeface="方正小标宋简体" panose="02010601030101010101" pitchFamily="2" charset="-122"/>
                            <a:ea typeface="方正小标宋简体" panose="02010601030101010101" pitchFamily="2" charset="-122"/>
                            <a:cs typeface="宋体" panose="02010600030101010101" pitchFamily="2" charset="-122"/>
                          </a:endParaRPr>
                        </a:p>
                      </a:txBody>
                      <a:tcPr marL="114300" marR="114300" marT="95250" marB="47625" anchor="ctr">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sz="1600" baseline="0">
                              <a:effectLst/>
                              <a:latin typeface="方正小标宋简体" panose="02010601030101010101" pitchFamily="2" charset="-122"/>
                              <a:ea typeface="方正小标宋简体" panose="02010601030101010101" pitchFamily="2" charset="-122"/>
                            </a:rPr>
                            <a:t>约束总数</a:t>
                          </a:r>
                          <a:endParaRPr lang="zh-CN" sz="2400" baseline="0">
                            <a:effectLst/>
                            <a:latin typeface="方正小标宋简体" panose="02010601030101010101" pitchFamily="2" charset="-122"/>
                            <a:ea typeface="方正小标宋简体" panose="02010601030101010101" pitchFamily="2" charset="-122"/>
                            <a:cs typeface="宋体" panose="02010600030101010101" pitchFamily="2" charset="-122"/>
                          </a:endParaRPr>
                        </a:p>
                      </a:txBody>
                      <a:tcPr marL="114300" marR="114300" marT="95250" marB="47625" anchor="ctr">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sz="1600" baseline="0">
                              <a:effectLst/>
                              <a:latin typeface="方正小标宋简体" panose="02010601030101010101" pitchFamily="2" charset="-122"/>
                              <a:ea typeface="方正小标宋简体" panose="02010601030101010101" pitchFamily="2" charset="-122"/>
                            </a:rPr>
                            <a:t>大</a:t>
                          </a:r>
                          <a:r>
                            <a:rPr lang="en-US" sz="1600" baseline="0">
                              <a:effectLst/>
                              <a:latin typeface="方正小标宋简体" panose="02010601030101010101" pitchFamily="2" charset="-122"/>
                              <a:ea typeface="方正小标宋简体" panose="02010601030101010101" pitchFamily="2" charset="-122"/>
                            </a:rPr>
                            <a:t>M</a:t>
                          </a:r>
                          <a:r>
                            <a:rPr lang="zh-CN" sz="1600" baseline="0">
                              <a:effectLst/>
                              <a:latin typeface="方正小标宋简体" panose="02010601030101010101" pitchFamily="2" charset="-122"/>
                              <a:ea typeface="方正小标宋简体" panose="02010601030101010101" pitchFamily="2" charset="-122"/>
                            </a:rPr>
                            <a:t>约束数</a:t>
                          </a:r>
                          <a:endParaRPr lang="zh-CN" sz="2400" baseline="0">
                            <a:effectLst/>
                            <a:latin typeface="方正小标宋简体" panose="02010601030101010101" pitchFamily="2" charset="-122"/>
                            <a:ea typeface="方正小标宋简体" panose="02010601030101010101" pitchFamily="2" charset="-122"/>
                            <a:cs typeface="宋体" panose="02010600030101010101" pitchFamily="2" charset="-122"/>
                          </a:endParaRPr>
                        </a:p>
                      </a:txBody>
                      <a:tcPr marL="114300" marR="114300" marT="95250" marB="47625" anchor="ctr">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8598727"/>
                      </a:ext>
                    </a:extLst>
                  </a:tr>
                  <a:tr h="622300">
                    <a:tc>
                      <a:txBody>
                        <a:bodyPr/>
                        <a:lstStyle/>
                        <a:p>
                          <a:pPr algn="ctr">
                            <a:buNone/>
                          </a:pPr>
                          <a:r>
                            <a:rPr lang="en-US" sz="1600" baseline="0">
                              <a:effectLst/>
                              <a:latin typeface="Times New Roman" panose="02020603050405020304" pitchFamily="18" charset="0"/>
                              <a:ea typeface="宋体" panose="02010600030101010101" pitchFamily="2" charset="-122"/>
                            </a:rPr>
                            <a:t>H2017</a:t>
                          </a:r>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endParaRPr lang="zh-CN"/>
                        </a:p>
                      </a:txBody>
                      <a:tcPr marL="114300" marR="114300" marT="47625" marB="47625"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blipFill>
                          <a:blip r:embed="rId5"/>
                          <a:stretch>
                            <a:fillRect l="-52049" t="-104854" r="-257582" b="-319417"/>
                          </a:stretch>
                        </a:blipFill>
                      </a:tcPr>
                    </a:tc>
                    <a:tc>
                      <a:txBody>
                        <a:bodyPr/>
                        <a:lstStyle/>
                        <a:p>
                          <a:endParaRPr lang="zh-CN"/>
                        </a:p>
                      </a:txBody>
                      <a:tcPr marL="114300" marR="114300" marT="47625" marB="47625"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blipFill>
                          <a:blip r:embed="rId5"/>
                          <a:stretch>
                            <a:fillRect l="-173364" t="-104854" r="-193692" b="-319417"/>
                          </a:stretch>
                        </a:blipFill>
                      </a:tcPr>
                    </a:tc>
                    <a:tc>
                      <a:txBody>
                        <a:bodyPr/>
                        <a:lstStyle/>
                        <a:p>
                          <a:endParaRPr lang="zh-CN"/>
                        </a:p>
                      </a:txBody>
                      <a:tcPr marL="114300" marR="114300" marT="47625" marB="47625"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blipFill>
                          <a:blip r:embed="rId5"/>
                          <a:stretch>
                            <a:fillRect l="-247357" t="-104854" r="-75264" b="-319417"/>
                          </a:stretch>
                        </a:blipFill>
                      </a:tcPr>
                    </a:tc>
                    <a:tc>
                      <a:txBody>
                        <a:bodyPr/>
                        <a:lstStyle/>
                        <a:p>
                          <a:endParaRPr lang="zh-CN"/>
                        </a:p>
                      </a:txBody>
                      <a:tcPr marL="114300" marR="114300" marT="47625" marB="47625" anchor="ctr">
                        <a:lnL>
                          <a:noFill/>
                        </a:lnL>
                        <a:lnR>
                          <a:noFill/>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blipFill>
                          <a:blip r:embed="rId5"/>
                          <a:stretch>
                            <a:fillRect l="-465439" t="-104854" r="-850" b="-319417"/>
                          </a:stretch>
                        </a:blipFill>
                      </a:tcPr>
                    </a:tc>
                    <a:extLst>
                      <a:ext uri="{0D108BD9-81ED-4DB2-BD59-A6C34878D82A}">
                        <a16:rowId xmlns:a16="http://schemas.microsoft.com/office/drawing/2014/main" val="1317981521"/>
                      </a:ext>
                    </a:extLst>
                  </a:tr>
                  <a:tr h="498442">
                    <a:tc>
                      <a:txBody>
                        <a:bodyPr/>
                        <a:lstStyle/>
                        <a:p>
                          <a:pPr algn="ctr">
                            <a:buNone/>
                          </a:pPr>
                          <a:r>
                            <a:rPr lang="en-US" sz="1600" baseline="0">
                              <a:effectLst/>
                              <a:latin typeface="Times New Roman" panose="02020603050405020304" pitchFamily="18" charset="0"/>
                              <a:ea typeface="宋体" panose="02010600030101010101" pitchFamily="2" charset="-122"/>
                            </a:rPr>
                            <a:t>W2020</a:t>
                          </a:r>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a:noFill/>
                        </a:lnB>
                        <a:lnTlToBr w="12700" cmpd="sng">
                          <a:noFill/>
                          <a:prstDash val="solid"/>
                        </a:lnTlToBr>
                        <a:lnBlToTr w="12700" cmpd="sng">
                          <a:noFill/>
                          <a:prstDash val="solid"/>
                        </a:lnBlToTr>
                      </a:tcPr>
                    </a:tc>
                    <a:tc>
                      <a:txBody>
                        <a:bodyPr/>
                        <a:lstStyle/>
                        <a:p>
                          <a:endParaRPr lang="zh-CN"/>
                        </a:p>
                      </a:txBody>
                      <a:tcPr marL="114300" marR="114300" marT="47625" marB="47625" anchor="ctr">
                        <a:lnL>
                          <a:noFill/>
                        </a:lnL>
                        <a:lnR>
                          <a:noFill/>
                        </a:lnR>
                        <a:lnT>
                          <a:noFill/>
                        </a:lnT>
                        <a:lnB>
                          <a:noFill/>
                        </a:lnB>
                        <a:lnTlToBr w="12700" cmpd="sng">
                          <a:noFill/>
                          <a:prstDash val="solid"/>
                        </a:lnTlToBr>
                        <a:lnBlToTr w="12700" cmpd="sng">
                          <a:noFill/>
                          <a:prstDash val="solid"/>
                        </a:lnBlToTr>
                        <a:blipFill>
                          <a:blip r:embed="rId5"/>
                          <a:stretch>
                            <a:fillRect l="-52049" t="-260494" r="-257582" b="-306173"/>
                          </a:stretch>
                        </a:blipFill>
                      </a:tcPr>
                    </a:tc>
                    <a:tc>
                      <a:txBody>
                        <a:bodyPr/>
                        <a:lstStyle/>
                        <a:p>
                          <a:endParaRPr lang="zh-CN"/>
                        </a:p>
                      </a:txBody>
                      <a:tcPr marL="114300" marR="114300" marT="47625" marB="47625" anchor="ctr">
                        <a:lnL>
                          <a:noFill/>
                        </a:lnL>
                        <a:lnR>
                          <a:noFill/>
                        </a:lnR>
                        <a:lnT>
                          <a:noFill/>
                        </a:lnT>
                        <a:lnB>
                          <a:noFill/>
                        </a:lnB>
                        <a:lnTlToBr w="12700" cmpd="sng">
                          <a:noFill/>
                          <a:prstDash val="solid"/>
                        </a:lnTlToBr>
                        <a:lnBlToTr w="12700" cmpd="sng">
                          <a:noFill/>
                          <a:prstDash val="solid"/>
                        </a:lnBlToTr>
                        <a:blipFill>
                          <a:blip r:embed="rId5"/>
                          <a:stretch>
                            <a:fillRect l="-173364" t="-260494" r="-193692" b="-306173"/>
                          </a:stretch>
                        </a:blipFill>
                      </a:tcPr>
                    </a:tc>
                    <a:tc>
                      <a:txBody>
                        <a:bodyPr/>
                        <a:lstStyle/>
                        <a:p>
                          <a:endParaRPr lang="zh-CN"/>
                        </a:p>
                      </a:txBody>
                      <a:tcPr marL="114300" marR="114300" marT="47625" marB="47625" anchor="ctr">
                        <a:lnL>
                          <a:noFill/>
                        </a:lnL>
                        <a:lnR>
                          <a:noFill/>
                        </a:lnR>
                        <a:lnT>
                          <a:noFill/>
                        </a:lnT>
                        <a:lnB>
                          <a:noFill/>
                        </a:lnB>
                        <a:lnTlToBr w="12700" cmpd="sng">
                          <a:noFill/>
                          <a:prstDash val="solid"/>
                        </a:lnTlToBr>
                        <a:lnBlToTr w="12700" cmpd="sng">
                          <a:noFill/>
                          <a:prstDash val="solid"/>
                        </a:lnBlToTr>
                        <a:blipFill>
                          <a:blip r:embed="rId5"/>
                          <a:stretch>
                            <a:fillRect l="-247357" t="-260494" r="-75264" b="-306173"/>
                          </a:stretch>
                        </a:blipFill>
                      </a:tcPr>
                    </a:tc>
                    <a:tc>
                      <a:txBody>
                        <a:bodyPr/>
                        <a:lstStyle/>
                        <a:p>
                          <a:endParaRPr lang="zh-CN"/>
                        </a:p>
                      </a:txBody>
                      <a:tcPr marL="114300" marR="114300" marT="47625" marB="47625" anchor="ctr">
                        <a:lnL>
                          <a:noFill/>
                        </a:lnL>
                        <a:lnR>
                          <a:noFill/>
                        </a:lnR>
                        <a:lnT>
                          <a:noFill/>
                        </a:lnT>
                        <a:lnB>
                          <a:noFill/>
                        </a:lnB>
                        <a:lnTlToBr w="12700" cmpd="sng">
                          <a:noFill/>
                          <a:prstDash val="solid"/>
                        </a:lnTlToBr>
                        <a:lnBlToTr w="12700" cmpd="sng">
                          <a:noFill/>
                          <a:prstDash val="solid"/>
                        </a:lnBlToTr>
                        <a:blipFill>
                          <a:blip r:embed="rId5"/>
                          <a:stretch>
                            <a:fillRect l="-465439" t="-260494" r="-850" b="-306173"/>
                          </a:stretch>
                        </a:blipFill>
                      </a:tcPr>
                    </a:tc>
                    <a:extLst>
                      <a:ext uri="{0D108BD9-81ED-4DB2-BD59-A6C34878D82A}">
                        <a16:rowId xmlns:a16="http://schemas.microsoft.com/office/drawing/2014/main" val="1804233706"/>
                      </a:ext>
                    </a:extLst>
                  </a:tr>
                  <a:tr h="498442">
                    <a:tc>
                      <a:txBody>
                        <a:bodyPr/>
                        <a:lstStyle/>
                        <a:p>
                          <a:pPr algn="ctr">
                            <a:buNone/>
                          </a:pPr>
                          <a:r>
                            <a:rPr lang="en-US" sz="1600" baseline="0">
                              <a:effectLst/>
                              <a:latin typeface="Times New Roman" panose="02020603050405020304" pitchFamily="18" charset="0"/>
                              <a:ea typeface="宋体" panose="02010600030101010101" pitchFamily="2" charset="-122"/>
                            </a:rPr>
                            <a:t>I3</a:t>
                          </a:r>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a:noFill/>
                        </a:lnB>
                        <a:lnTlToBr w="12700" cmpd="sng">
                          <a:noFill/>
                          <a:prstDash val="solid"/>
                        </a:lnTlToBr>
                        <a:lnBlToTr w="12700" cmpd="sng">
                          <a:noFill/>
                          <a:prstDash val="solid"/>
                        </a:lnBlToTr>
                      </a:tcPr>
                    </a:tc>
                    <a:tc>
                      <a:txBody>
                        <a:bodyPr/>
                        <a:lstStyle/>
                        <a:p>
                          <a:endParaRPr lang="zh-CN"/>
                        </a:p>
                      </a:txBody>
                      <a:tcPr marL="114300" marR="114300" marT="47625" marB="47625" anchor="ctr">
                        <a:lnL>
                          <a:noFill/>
                        </a:lnL>
                        <a:lnR>
                          <a:noFill/>
                        </a:lnR>
                        <a:lnT>
                          <a:noFill/>
                        </a:lnT>
                        <a:lnB>
                          <a:noFill/>
                        </a:lnB>
                        <a:lnTlToBr w="12700" cmpd="sng">
                          <a:noFill/>
                          <a:prstDash val="solid"/>
                        </a:lnTlToBr>
                        <a:lnBlToTr w="12700" cmpd="sng">
                          <a:noFill/>
                          <a:prstDash val="solid"/>
                        </a:lnBlToTr>
                        <a:blipFill>
                          <a:blip r:embed="rId5"/>
                          <a:stretch>
                            <a:fillRect l="-52049" t="-356098" r="-257582" b="-202439"/>
                          </a:stretch>
                        </a:blipFill>
                      </a:tcPr>
                    </a:tc>
                    <a:tc>
                      <a:txBody>
                        <a:bodyPr/>
                        <a:lstStyle/>
                        <a:p>
                          <a:endParaRPr lang="zh-CN"/>
                        </a:p>
                      </a:txBody>
                      <a:tcPr marL="114300" marR="114300" marT="47625" marB="47625" anchor="ctr">
                        <a:lnL>
                          <a:noFill/>
                        </a:lnL>
                        <a:lnR>
                          <a:noFill/>
                        </a:lnR>
                        <a:lnT>
                          <a:noFill/>
                        </a:lnT>
                        <a:lnB>
                          <a:noFill/>
                        </a:lnB>
                        <a:lnTlToBr w="12700" cmpd="sng">
                          <a:noFill/>
                          <a:prstDash val="solid"/>
                        </a:lnTlToBr>
                        <a:lnBlToTr w="12700" cmpd="sng">
                          <a:noFill/>
                          <a:prstDash val="solid"/>
                        </a:lnBlToTr>
                        <a:blipFill>
                          <a:blip r:embed="rId5"/>
                          <a:stretch>
                            <a:fillRect l="-173364" t="-356098" r="-193692" b="-202439"/>
                          </a:stretch>
                        </a:blipFill>
                      </a:tcPr>
                    </a:tc>
                    <a:tc>
                      <a:txBody>
                        <a:bodyPr/>
                        <a:lstStyle/>
                        <a:p>
                          <a:endParaRPr lang="zh-CN"/>
                        </a:p>
                      </a:txBody>
                      <a:tcPr marL="114300" marR="114300" marT="47625" marB="47625" anchor="ctr">
                        <a:lnL>
                          <a:noFill/>
                        </a:lnL>
                        <a:lnR>
                          <a:noFill/>
                        </a:lnR>
                        <a:lnT>
                          <a:noFill/>
                        </a:lnT>
                        <a:lnB>
                          <a:noFill/>
                        </a:lnB>
                        <a:lnTlToBr w="12700" cmpd="sng">
                          <a:noFill/>
                          <a:prstDash val="solid"/>
                        </a:lnTlToBr>
                        <a:lnBlToTr w="12700" cmpd="sng">
                          <a:noFill/>
                          <a:prstDash val="solid"/>
                        </a:lnBlToTr>
                        <a:blipFill>
                          <a:blip r:embed="rId5"/>
                          <a:stretch>
                            <a:fillRect l="-247357" t="-356098" r="-75264" b="-202439"/>
                          </a:stretch>
                        </a:blipFill>
                      </a:tcPr>
                    </a:tc>
                    <a:tc>
                      <a:txBody>
                        <a:bodyPr/>
                        <a:lstStyle/>
                        <a:p>
                          <a:endParaRPr lang="zh-CN"/>
                        </a:p>
                      </a:txBody>
                      <a:tcPr marL="114300" marR="114300" marT="47625" marB="47625" anchor="ctr">
                        <a:lnL>
                          <a:noFill/>
                        </a:lnL>
                        <a:lnR>
                          <a:noFill/>
                        </a:lnR>
                        <a:lnT>
                          <a:noFill/>
                        </a:lnT>
                        <a:lnB>
                          <a:noFill/>
                        </a:lnB>
                        <a:lnTlToBr w="12700" cmpd="sng">
                          <a:noFill/>
                          <a:prstDash val="solid"/>
                        </a:lnTlToBr>
                        <a:lnBlToTr w="12700" cmpd="sng">
                          <a:noFill/>
                          <a:prstDash val="solid"/>
                        </a:lnBlToTr>
                        <a:blipFill>
                          <a:blip r:embed="rId5"/>
                          <a:stretch>
                            <a:fillRect l="-465439" t="-356098" r="-850" b="-202439"/>
                          </a:stretch>
                        </a:blipFill>
                      </a:tcPr>
                    </a:tc>
                    <a:extLst>
                      <a:ext uri="{0D108BD9-81ED-4DB2-BD59-A6C34878D82A}">
                        <a16:rowId xmlns:a16="http://schemas.microsoft.com/office/drawing/2014/main" val="3595125455"/>
                      </a:ext>
                    </a:extLst>
                  </a:tr>
                  <a:tr h="498442">
                    <a:tc>
                      <a:txBody>
                        <a:bodyPr/>
                        <a:lstStyle/>
                        <a:p>
                          <a:pPr algn="ctr">
                            <a:buNone/>
                          </a:pPr>
                          <a:r>
                            <a:rPr lang="en-US" sz="1600" baseline="0">
                              <a:effectLst/>
                              <a:latin typeface="Times New Roman" panose="02020603050405020304" pitchFamily="18" charset="0"/>
                              <a:ea typeface="宋体" panose="02010600030101010101" pitchFamily="2" charset="-122"/>
                            </a:rPr>
                            <a:t>LO</a:t>
                          </a:r>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a:noFill/>
                        </a:lnB>
                        <a:lnTlToBr w="12700" cmpd="sng">
                          <a:noFill/>
                          <a:prstDash val="solid"/>
                        </a:lnTlToBr>
                        <a:lnBlToTr w="12700" cmpd="sng">
                          <a:noFill/>
                          <a:prstDash val="solid"/>
                        </a:lnBlToTr>
                      </a:tcPr>
                    </a:tc>
                    <a:tc>
                      <a:txBody>
                        <a:bodyPr/>
                        <a:lstStyle/>
                        <a:p>
                          <a:endParaRPr lang="zh-CN"/>
                        </a:p>
                      </a:txBody>
                      <a:tcPr marL="114300" marR="114300" marT="47625" marB="47625" anchor="ctr">
                        <a:lnL>
                          <a:noFill/>
                        </a:lnL>
                        <a:lnR>
                          <a:noFill/>
                        </a:lnR>
                        <a:lnT>
                          <a:noFill/>
                        </a:lnT>
                        <a:lnB>
                          <a:noFill/>
                        </a:lnB>
                        <a:lnTlToBr w="12700" cmpd="sng">
                          <a:noFill/>
                          <a:prstDash val="solid"/>
                        </a:lnTlToBr>
                        <a:lnBlToTr w="12700" cmpd="sng">
                          <a:noFill/>
                          <a:prstDash val="solid"/>
                        </a:lnBlToTr>
                        <a:blipFill>
                          <a:blip r:embed="rId5"/>
                          <a:stretch>
                            <a:fillRect l="-52049" t="-456098" r="-257582" b="-102439"/>
                          </a:stretch>
                        </a:blipFill>
                      </a:tcPr>
                    </a:tc>
                    <a:tc>
                      <a:txBody>
                        <a:bodyPr/>
                        <a:lstStyle/>
                        <a:p>
                          <a:endParaRPr lang="zh-CN"/>
                        </a:p>
                      </a:txBody>
                      <a:tcPr marL="114300" marR="114300" marT="47625" marB="47625" anchor="ctr">
                        <a:lnL>
                          <a:noFill/>
                        </a:lnL>
                        <a:lnR>
                          <a:noFill/>
                        </a:lnR>
                        <a:lnT>
                          <a:noFill/>
                        </a:lnT>
                        <a:lnB>
                          <a:noFill/>
                        </a:lnB>
                        <a:lnTlToBr w="12700" cmpd="sng">
                          <a:noFill/>
                          <a:prstDash val="solid"/>
                        </a:lnTlToBr>
                        <a:lnBlToTr w="12700" cmpd="sng">
                          <a:noFill/>
                          <a:prstDash val="solid"/>
                        </a:lnBlToTr>
                        <a:blipFill>
                          <a:blip r:embed="rId5"/>
                          <a:stretch>
                            <a:fillRect l="-173364" t="-456098" r="-193692" b="-102439"/>
                          </a:stretch>
                        </a:blipFill>
                      </a:tcPr>
                    </a:tc>
                    <a:tc>
                      <a:txBody>
                        <a:bodyPr/>
                        <a:lstStyle/>
                        <a:p>
                          <a:endParaRPr lang="zh-CN"/>
                        </a:p>
                      </a:txBody>
                      <a:tcPr marL="114300" marR="114300" marT="47625" marB="47625" anchor="ctr">
                        <a:lnL>
                          <a:noFill/>
                        </a:lnL>
                        <a:lnR>
                          <a:noFill/>
                        </a:lnR>
                        <a:lnT>
                          <a:noFill/>
                        </a:lnT>
                        <a:lnB>
                          <a:noFill/>
                        </a:lnB>
                        <a:lnTlToBr w="12700" cmpd="sng">
                          <a:noFill/>
                          <a:prstDash val="solid"/>
                        </a:lnTlToBr>
                        <a:lnBlToTr w="12700" cmpd="sng">
                          <a:noFill/>
                          <a:prstDash val="solid"/>
                        </a:lnBlToTr>
                        <a:blipFill>
                          <a:blip r:embed="rId5"/>
                          <a:stretch>
                            <a:fillRect l="-247357" t="-456098" r="-75264" b="-102439"/>
                          </a:stretch>
                        </a:blipFill>
                      </a:tcPr>
                    </a:tc>
                    <a:tc>
                      <a:txBody>
                        <a:bodyPr/>
                        <a:lstStyle/>
                        <a:p>
                          <a:endParaRPr lang="zh-CN"/>
                        </a:p>
                      </a:txBody>
                      <a:tcPr marL="114300" marR="114300" marT="47625" marB="47625" anchor="ctr">
                        <a:lnL>
                          <a:noFill/>
                        </a:lnL>
                        <a:lnR>
                          <a:noFill/>
                        </a:lnR>
                        <a:lnT>
                          <a:noFill/>
                        </a:lnT>
                        <a:lnB>
                          <a:noFill/>
                        </a:lnB>
                        <a:lnTlToBr w="12700" cmpd="sng">
                          <a:noFill/>
                          <a:prstDash val="solid"/>
                        </a:lnTlToBr>
                        <a:lnBlToTr w="12700" cmpd="sng">
                          <a:noFill/>
                          <a:prstDash val="solid"/>
                        </a:lnBlToTr>
                        <a:blipFill>
                          <a:blip r:embed="rId5"/>
                          <a:stretch>
                            <a:fillRect l="-465439" t="-456098" r="-850" b="-102439"/>
                          </a:stretch>
                        </a:blipFill>
                      </a:tcPr>
                    </a:tc>
                    <a:extLst>
                      <a:ext uri="{0D108BD9-81ED-4DB2-BD59-A6C34878D82A}">
                        <a16:rowId xmlns:a16="http://schemas.microsoft.com/office/drawing/2014/main" val="2900530269"/>
                      </a:ext>
                    </a:extLst>
                  </a:tr>
                  <a:tr h="498442">
                    <a:tc>
                      <a:txBody>
                        <a:bodyPr/>
                        <a:lstStyle/>
                        <a:p>
                          <a:pPr algn="ctr">
                            <a:buNone/>
                          </a:pPr>
                          <a:r>
                            <a:rPr lang="en-US" sz="1600" baseline="0">
                              <a:effectLst/>
                              <a:latin typeface="Times New Roman" panose="02020603050405020304" pitchFamily="18" charset="0"/>
                              <a:ea typeface="宋体" panose="02010600030101010101" pitchFamily="2" charset="-122"/>
                            </a:rPr>
                            <a:t>PD</a:t>
                          </a:r>
                          <a:endParaRPr lang="zh-CN" sz="1600" baseline="0">
                            <a:effectLst/>
                            <a:latin typeface="Times New Roman" panose="02020603050405020304" pitchFamily="18" charset="0"/>
                            <a:ea typeface="宋体" panose="02010600030101010101" pitchFamily="2" charset="-122"/>
                            <a:cs typeface="宋体" panose="02010600030101010101" pitchFamily="2" charset="-122"/>
                          </a:endParaRPr>
                        </a:p>
                      </a:txBody>
                      <a:tcPr marL="114300" marR="114300" marT="47625" marB="47625" anchor="ctr">
                        <a:lnL>
                          <a:noFill/>
                        </a:lnL>
                        <a:lnR>
                          <a:noFill/>
                        </a:lnR>
                        <a:lnT>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p>
                      </a:txBody>
                      <a:tcPr marL="114300" marR="114300" marT="47625" marB="47625" anchor="ctr">
                        <a:lnL>
                          <a:noFill/>
                        </a:lnL>
                        <a:lnR>
                          <a:noFill/>
                        </a:lnR>
                        <a:lnT>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52049" t="-556098" r="-257582" b="-2439"/>
                          </a:stretch>
                        </a:blipFill>
                      </a:tcPr>
                    </a:tc>
                    <a:tc>
                      <a:txBody>
                        <a:bodyPr/>
                        <a:lstStyle/>
                        <a:p>
                          <a:endParaRPr lang="zh-CN"/>
                        </a:p>
                      </a:txBody>
                      <a:tcPr marL="114300" marR="114300" marT="47625" marB="47625" anchor="ctr">
                        <a:lnL>
                          <a:noFill/>
                        </a:lnL>
                        <a:lnR>
                          <a:noFill/>
                        </a:lnR>
                        <a:lnT>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73364" t="-556098" r="-193692" b="-2439"/>
                          </a:stretch>
                        </a:blipFill>
                      </a:tcPr>
                    </a:tc>
                    <a:tc>
                      <a:txBody>
                        <a:bodyPr/>
                        <a:lstStyle/>
                        <a:p>
                          <a:endParaRPr lang="zh-CN"/>
                        </a:p>
                      </a:txBody>
                      <a:tcPr marL="114300" marR="114300" marT="47625" marB="47625" anchor="ctr">
                        <a:lnL>
                          <a:noFill/>
                        </a:lnL>
                        <a:lnR>
                          <a:noFill/>
                        </a:lnR>
                        <a:lnT>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247357" t="-556098" r="-75264" b="-2439"/>
                          </a:stretch>
                        </a:blipFill>
                      </a:tcPr>
                    </a:tc>
                    <a:tc>
                      <a:txBody>
                        <a:bodyPr/>
                        <a:lstStyle/>
                        <a:p>
                          <a:endParaRPr lang="zh-CN"/>
                        </a:p>
                      </a:txBody>
                      <a:tcPr marL="114300" marR="114300" marT="47625" marB="47625" anchor="ctr">
                        <a:lnL>
                          <a:noFill/>
                        </a:lnL>
                        <a:lnR>
                          <a:noFill/>
                        </a:lnR>
                        <a:lnT>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465439" t="-556098" r="-850" b="-2439"/>
                          </a:stretch>
                        </a:blipFill>
                      </a:tcPr>
                    </a:tc>
                    <a:extLst>
                      <a:ext uri="{0D108BD9-81ED-4DB2-BD59-A6C34878D82A}">
                        <a16:rowId xmlns:a16="http://schemas.microsoft.com/office/drawing/2014/main" val="575935372"/>
                      </a:ext>
                    </a:extLst>
                  </a:tr>
                </a:tbl>
              </a:graphicData>
            </a:graphic>
          </p:graphicFrame>
        </mc:Fallback>
      </mc:AlternateContent>
      <p:sp>
        <p:nvSpPr>
          <p:cNvPr id="9" name="文本框 8">
            <a:extLst>
              <a:ext uri="{FF2B5EF4-FFF2-40B4-BE49-F238E27FC236}">
                <a16:creationId xmlns:a16="http://schemas.microsoft.com/office/drawing/2014/main" id="{506B520A-2C68-4023-076B-C45643975F53}"/>
              </a:ext>
            </a:extLst>
          </p:cNvPr>
          <p:cNvSpPr txBox="1"/>
          <p:nvPr/>
        </p:nvSpPr>
        <p:spPr>
          <a:xfrm>
            <a:off x="3410589" y="5854001"/>
            <a:ext cx="6097022" cy="523220"/>
          </a:xfrm>
          <a:prstGeom prst="rect">
            <a:avLst/>
          </a:prstGeom>
          <a:noFill/>
        </p:spPr>
        <p:txBody>
          <a:bodyPr wrap="square">
            <a:spAutoFit/>
          </a:bodyPr>
          <a:lstStyle/>
          <a:p>
            <a:r>
              <a:rPr lang="zh-CN" altLang="en-US" sz="2800" b="0" i="0">
                <a:effectLst/>
                <a:latin typeface="方正小标宋简体" panose="02010601030101010101" pitchFamily="2" charset="-122"/>
                <a:ea typeface="方正小标宋简体" panose="02010601030101010101" pitchFamily="2" charset="-122"/>
              </a:rPr>
              <a:t>各模型在结构上的优劣清晰化</a:t>
            </a:r>
            <a:endParaRPr lang="zh-CN" altLang="en-US" sz="2800">
              <a:latin typeface="方正小标宋简体" panose="02010601030101010101" pitchFamily="2" charset="-122"/>
              <a:ea typeface="方正小标宋简体" panose="02010601030101010101" pitchFamily="2" charset="-122"/>
            </a:endParaRPr>
          </a:p>
        </p:txBody>
      </p:sp>
      <p:sp>
        <p:nvSpPr>
          <p:cNvPr id="11" name="椭圆 10">
            <a:extLst>
              <a:ext uri="{FF2B5EF4-FFF2-40B4-BE49-F238E27FC236}">
                <a16:creationId xmlns:a16="http://schemas.microsoft.com/office/drawing/2014/main" id="{7FAF8C3A-5202-FF22-4622-AD62A1FB5C19}"/>
              </a:ext>
            </a:extLst>
          </p:cNvPr>
          <p:cNvSpPr/>
          <p:nvPr/>
        </p:nvSpPr>
        <p:spPr>
          <a:xfrm>
            <a:off x="1648207" y="4368800"/>
            <a:ext cx="775579" cy="38608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AC712681-4267-5D0F-4DBE-92DC08C9BFA2}"/>
              </a:ext>
            </a:extLst>
          </p:cNvPr>
          <p:cNvSpPr/>
          <p:nvPr/>
        </p:nvSpPr>
        <p:spPr>
          <a:xfrm>
            <a:off x="10719900" y="4836160"/>
            <a:ext cx="775579" cy="386080"/>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11616563"/>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C419C-133A-2C42-F307-5131F33E10F6}"/>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28908E1-43A0-CC88-59C5-20D4D6FAC175}"/>
              </a:ext>
            </a:extLst>
          </p:cNvPr>
          <p:cNvGrpSpPr/>
          <p:nvPr/>
        </p:nvGrpSpPr>
        <p:grpSpPr>
          <a:xfrm>
            <a:off x="1" y="-1"/>
            <a:ext cx="9144001" cy="858612"/>
            <a:chOff x="1" y="-1"/>
            <a:chExt cx="9144001" cy="858612"/>
          </a:xfrm>
        </p:grpSpPr>
        <p:sp>
          <p:nvSpPr>
            <p:cNvPr id="3" name="矩形 2">
              <a:extLst>
                <a:ext uri="{FF2B5EF4-FFF2-40B4-BE49-F238E27FC236}">
                  <a16:creationId xmlns:a16="http://schemas.microsoft.com/office/drawing/2014/main" id="{15B575D8-D1A7-1B4E-C3E3-BED56B0FCB4E}"/>
                </a:ext>
              </a:extLst>
            </p:cNvPr>
            <p:cNvSpPr/>
            <p:nvPr/>
          </p:nvSpPr>
          <p:spPr>
            <a:xfrm rot="16200000">
              <a:off x="4142696" y="-4142696"/>
              <a:ext cx="858612" cy="9144001"/>
            </a:xfrm>
            <a:prstGeom prst="rect">
              <a:avLst/>
            </a:prstGeom>
            <a:gradFill flip="none" rotWithShape="1">
              <a:gsLst>
                <a:gs pos="20000">
                  <a:schemeClr val="accent1"/>
                </a:gs>
                <a:gs pos="95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文本框 3">
              <a:extLst>
                <a:ext uri="{FF2B5EF4-FFF2-40B4-BE49-F238E27FC236}">
                  <a16:creationId xmlns:a16="http://schemas.microsoft.com/office/drawing/2014/main" id="{1515F31B-5734-4BBF-CF26-C574CF4B59FA}"/>
                </a:ext>
              </a:extLst>
            </p:cNvPr>
            <p:cNvSpPr txBox="1"/>
            <p:nvPr/>
          </p:nvSpPr>
          <p:spPr>
            <a:xfrm>
              <a:off x="187890" y="106138"/>
              <a:ext cx="4365321" cy="646331"/>
            </a:xfrm>
            <a:prstGeom prst="rect">
              <a:avLst/>
            </a:prstGeom>
            <a:noFill/>
          </p:spPr>
          <p:txBody>
            <a:bodyPr wrap="square" rtlCol="0">
              <a:spAutoFit/>
            </a:bodyPr>
            <a:lstStyle/>
            <a:p>
              <a:r>
                <a:rPr lang="zh-CN" altLang="en-US" sz="3600">
                  <a:solidFill>
                    <a:schemeClr val="bg1"/>
                  </a:solidFill>
                  <a:latin typeface="方正小标宋简体" panose="02010601030101010101" pitchFamily="2" charset="-122"/>
                  <a:ea typeface="方正小标宋简体" panose="02010601030101010101" pitchFamily="2" charset="-122"/>
                </a:rPr>
                <a:t>方法框架</a:t>
              </a:r>
              <a:r>
                <a:rPr lang="en-US" altLang="zh-CN" sz="3600">
                  <a:solidFill>
                    <a:schemeClr val="bg1"/>
                  </a:solidFill>
                  <a:latin typeface="方正小标宋简体" panose="02010601030101010101" pitchFamily="2" charset="-122"/>
                  <a:ea typeface="方正小标宋简体" panose="02010601030101010101" pitchFamily="2" charset="-122"/>
                </a:rPr>
                <a:t>—</a:t>
              </a:r>
              <a:r>
                <a:rPr lang="zh-CN" altLang="en-US" sz="3600">
                  <a:solidFill>
                    <a:schemeClr val="bg1"/>
                  </a:solidFill>
                  <a:latin typeface="方正小标宋简体" panose="02010601030101010101" pitchFamily="2" charset="-122"/>
                  <a:ea typeface="方正小标宋简体" panose="02010601030101010101" pitchFamily="2" charset="-122"/>
                </a:rPr>
                <a:t>线性松弛</a:t>
              </a:r>
            </a:p>
          </p:txBody>
        </p:sp>
      </p:grpSp>
      <p:pic>
        <p:nvPicPr>
          <p:cNvPr id="5" name="图片 4">
            <a:extLst>
              <a:ext uri="{FF2B5EF4-FFF2-40B4-BE49-F238E27FC236}">
                <a16:creationId xmlns:a16="http://schemas.microsoft.com/office/drawing/2014/main" id="{C2D03529-8A07-7441-D6C8-BF937C5BF004}"/>
              </a:ext>
            </a:extLst>
          </p:cNvPr>
          <p:cNvPicPr>
            <a:picLocks noChangeAspect="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r:embed="rId4">
                    <a14:imgEffect>
                      <a14:colorTemperature colorTemp="1500"/>
                    </a14:imgEffect>
                    <a14:imgEffect>
                      <a14:saturation sat="0"/>
                    </a14:imgEffect>
                  </a14:imgLayer>
                </a14:imgProps>
              </a:ext>
              <a:ext uri="{28A0092B-C50C-407E-A947-70E740481C1C}">
                <a14:useLocalDpi xmlns:a14="http://schemas.microsoft.com/office/drawing/2010/main" val="0"/>
              </a:ext>
            </a:extLst>
          </a:blip>
          <a:stretch>
            <a:fillRect/>
          </a:stretch>
        </p:blipFill>
        <p:spPr>
          <a:xfrm>
            <a:off x="9045810" y="106138"/>
            <a:ext cx="3070066" cy="596957"/>
          </a:xfrm>
          <a:prstGeom prst="rect">
            <a:avLst/>
          </a:prstGeom>
        </p:spPr>
      </p:pic>
      <p:sp>
        <p:nvSpPr>
          <p:cNvPr id="7" name="文本框 6">
            <a:extLst>
              <a:ext uri="{FF2B5EF4-FFF2-40B4-BE49-F238E27FC236}">
                <a16:creationId xmlns:a16="http://schemas.microsoft.com/office/drawing/2014/main" id="{799B549F-3C09-51FD-062A-343B4617B123}"/>
              </a:ext>
            </a:extLst>
          </p:cNvPr>
          <p:cNvSpPr txBox="1"/>
          <p:nvPr/>
        </p:nvSpPr>
        <p:spPr>
          <a:xfrm>
            <a:off x="187890" y="925322"/>
            <a:ext cx="8212723" cy="369332"/>
          </a:xfrm>
          <a:prstGeom prst="rect">
            <a:avLst/>
          </a:prstGeom>
          <a:noFill/>
        </p:spPr>
        <p:txBody>
          <a:bodyPr wrap="square">
            <a:spAutoFit/>
          </a:bodyPr>
          <a:lstStyle/>
          <a:p>
            <a:r>
              <a:rPr lang="zh-CN" altLang="en-US" b="0" i="0">
                <a:effectLst/>
                <a:latin typeface="方正小标宋简体" panose="02010601030101010101" pitchFamily="2" charset="-122"/>
                <a:ea typeface="方正小标宋简体" panose="02010601030101010101" pitchFamily="2" charset="-122"/>
              </a:rPr>
              <a:t>论文通过两个命题，严格证明了新旧模型在线性规划松弛强度上的优劣关系</a:t>
            </a:r>
            <a:endParaRPr lang="zh-CN" altLang="en-US">
              <a:latin typeface="方正小标宋简体" panose="02010601030101010101" pitchFamily="2" charset="-122"/>
              <a:ea typeface="方正小标宋简体" panose="02010601030101010101" pitchFamily="2" charset="-122"/>
            </a:endParaRPr>
          </a:p>
        </p:txBody>
      </p:sp>
      <p:pic>
        <p:nvPicPr>
          <p:cNvPr id="11" name="图片 10">
            <a:extLst>
              <a:ext uri="{FF2B5EF4-FFF2-40B4-BE49-F238E27FC236}">
                <a16:creationId xmlns:a16="http://schemas.microsoft.com/office/drawing/2014/main" id="{806511DF-1206-B7BA-E16E-6B9F73711183}"/>
              </a:ext>
            </a:extLst>
          </p:cNvPr>
          <p:cNvPicPr>
            <a:picLocks noChangeAspect="1"/>
          </p:cNvPicPr>
          <p:nvPr/>
        </p:nvPicPr>
        <p:blipFill>
          <a:blip r:embed="rId5"/>
          <a:stretch>
            <a:fillRect/>
          </a:stretch>
        </p:blipFill>
        <p:spPr>
          <a:xfrm>
            <a:off x="1064370" y="1451790"/>
            <a:ext cx="3992443" cy="5300072"/>
          </a:xfrm>
          <a:prstGeom prst="rect">
            <a:avLst/>
          </a:prstGeom>
          <a:ln>
            <a:noFill/>
          </a:ln>
          <a:effectLst>
            <a:outerShdw blurRad="190500" algn="tl" rotWithShape="0">
              <a:srgbClr val="000000">
                <a:alpha val="70000"/>
              </a:srgbClr>
            </a:outerShdw>
          </a:effectLst>
        </p:spPr>
      </p:pic>
      <p:sp>
        <p:nvSpPr>
          <p:cNvPr id="13" name="文本框 12">
            <a:extLst>
              <a:ext uri="{FF2B5EF4-FFF2-40B4-BE49-F238E27FC236}">
                <a16:creationId xmlns:a16="http://schemas.microsoft.com/office/drawing/2014/main" id="{20A0EA14-58B2-3833-9303-BF6BFFBC34F0}"/>
              </a:ext>
            </a:extLst>
          </p:cNvPr>
          <p:cNvSpPr txBox="1"/>
          <p:nvPr/>
        </p:nvSpPr>
        <p:spPr>
          <a:xfrm>
            <a:off x="740341" y="3228945"/>
            <a:ext cx="4904810" cy="400110"/>
          </a:xfrm>
          <a:prstGeom prst="rect">
            <a:avLst/>
          </a:prstGeom>
          <a:solidFill>
            <a:schemeClr val="bg1"/>
          </a:solidFill>
        </p:spPr>
        <p:txBody>
          <a:bodyPr wrap="square">
            <a:spAutoFit/>
          </a:bodyPr>
          <a:lstStyle/>
          <a:p>
            <a:r>
              <a:rPr lang="zh-CN" altLang="en-US" sz="2000" b="1" i="0">
                <a:effectLst/>
                <a:latin typeface="方正小标宋简体" panose="02010601030101010101" pitchFamily="2" charset="-122"/>
                <a:ea typeface="方正小标宋简体" panose="02010601030101010101" pitchFamily="2" charset="-122"/>
              </a:rPr>
              <a:t>命题</a:t>
            </a:r>
            <a:r>
              <a:rPr lang="en-US" altLang="zh-CN" sz="2000" b="1" i="0">
                <a:effectLst/>
                <a:latin typeface="方正小标宋简体" panose="02010601030101010101" pitchFamily="2" charset="-122"/>
                <a:ea typeface="方正小标宋简体" panose="02010601030101010101" pitchFamily="2" charset="-122"/>
              </a:rPr>
              <a:t>1</a:t>
            </a:r>
            <a:r>
              <a:rPr lang="en-US" altLang="zh-CN" sz="2000" b="0" i="0">
                <a:effectLst/>
                <a:latin typeface="方正小标宋简体" panose="02010601030101010101" pitchFamily="2" charset="-122"/>
                <a:ea typeface="方正小标宋简体" panose="02010601030101010101" pitchFamily="2" charset="-122"/>
              </a:rPr>
              <a:t>: I3</a:t>
            </a:r>
            <a:r>
              <a:rPr lang="zh-CN" altLang="en-US" sz="2000" b="0" i="0">
                <a:effectLst/>
                <a:latin typeface="方正小标宋简体" panose="02010601030101010101" pitchFamily="2" charset="-122"/>
                <a:ea typeface="方正小标宋简体" panose="02010601030101010101" pitchFamily="2" charset="-122"/>
              </a:rPr>
              <a:t>模型的线性松弛优于</a:t>
            </a:r>
            <a:r>
              <a:rPr lang="en-US" altLang="zh-CN" sz="2000" b="0" i="0">
                <a:effectLst/>
                <a:latin typeface="方正小标宋简体" panose="02010601030101010101" pitchFamily="2" charset="-122"/>
                <a:ea typeface="方正小标宋简体" panose="02010601030101010101" pitchFamily="2" charset="-122"/>
              </a:rPr>
              <a:t>W2020</a:t>
            </a:r>
            <a:r>
              <a:rPr lang="zh-CN" altLang="en-US" sz="2000" b="0" i="0">
                <a:effectLst/>
                <a:latin typeface="方正小标宋简体" panose="02010601030101010101" pitchFamily="2" charset="-122"/>
                <a:ea typeface="方正小标宋简体" panose="02010601030101010101" pitchFamily="2" charset="-122"/>
              </a:rPr>
              <a:t>模型。</a:t>
            </a:r>
            <a:endParaRPr lang="zh-CN" altLang="en-US" sz="2000">
              <a:latin typeface="方正小标宋简体" panose="02010601030101010101" pitchFamily="2" charset="-122"/>
              <a:ea typeface="方正小标宋简体" panose="02010601030101010101" pitchFamily="2" charset="-122"/>
            </a:endParaRPr>
          </a:p>
        </p:txBody>
      </p:sp>
      <p:pic>
        <p:nvPicPr>
          <p:cNvPr id="15" name="图片 14">
            <a:extLst>
              <a:ext uri="{FF2B5EF4-FFF2-40B4-BE49-F238E27FC236}">
                <a16:creationId xmlns:a16="http://schemas.microsoft.com/office/drawing/2014/main" id="{AFFA03D9-0DF0-BBF3-349C-8FC46EDEBC18}"/>
              </a:ext>
            </a:extLst>
          </p:cNvPr>
          <p:cNvPicPr>
            <a:picLocks noChangeAspect="1"/>
          </p:cNvPicPr>
          <p:nvPr/>
        </p:nvPicPr>
        <p:blipFill>
          <a:blip r:embed="rId6"/>
          <a:srcRect b="5746"/>
          <a:stretch>
            <a:fillRect/>
          </a:stretch>
        </p:blipFill>
        <p:spPr>
          <a:xfrm>
            <a:off x="6347570" y="1451790"/>
            <a:ext cx="3992442" cy="5300072"/>
          </a:xfrm>
          <a:prstGeom prst="rect">
            <a:avLst/>
          </a:prstGeom>
          <a:ln>
            <a:noFill/>
          </a:ln>
          <a:effectLst>
            <a:outerShdw blurRad="190500" algn="tl" rotWithShape="0">
              <a:srgbClr val="000000">
                <a:alpha val="70000"/>
              </a:srgbClr>
            </a:outerShdw>
          </a:effectLst>
        </p:spPr>
      </p:pic>
      <p:sp>
        <p:nvSpPr>
          <p:cNvPr id="18" name="文本框 17">
            <a:extLst>
              <a:ext uri="{FF2B5EF4-FFF2-40B4-BE49-F238E27FC236}">
                <a16:creationId xmlns:a16="http://schemas.microsoft.com/office/drawing/2014/main" id="{5C44062E-BF6F-5EE2-09E8-AB96F8AE7C3D}"/>
              </a:ext>
            </a:extLst>
          </p:cNvPr>
          <p:cNvSpPr txBox="1"/>
          <p:nvPr/>
        </p:nvSpPr>
        <p:spPr>
          <a:xfrm>
            <a:off x="5749539" y="3228945"/>
            <a:ext cx="5477261" cy="400110"/>
          </a:xfrm>
          <a:prstGeom prst="rect">
            <a:avLst/>
          </a:prstGeom>
          <a:solidFill>
            <a:schemeClr val="bg1"/>
          </a:solidFill>
        </p:spPr>
        <p:txBody>
          <a:bodyPr wrap="square">
            <a:spAutoFit/>
          </a:bodyPr>
          <a:lstStyle/>
          <a:p>
            <a:r>
              <a:rPr lang="zh-CN" altLang="en-US" sz="2000" b="1" i="0">
                <a:effectLst/>
                <a:latin typeface="方正小标宋简体" panose="02010601030101010101" pitchFamily="2" charset="-122"/>
                <a:ea typeface="方正小标宋简体" panose="02010601030101010101" pitchFamily="2" charset="-122"/>
              </a:rPr>
              <a:t>命题</a:t>
            </a:r>
            <a:r>
              <a:rPr lang="en-US" altLang="zh-CN" sz="2000" b="1" i="0">
                <a:effectLst/>
                <a:latin typeface="方正小标宋简体" panose="02010601030101010101" pitchFamily="2" charset="-122"/>
                <a:ea typeface="方正小标宋简体" panose="02010601030101010101" pitchFamily="2" charset="-122"/>
              </a:rPr>
              <a:t>2: </a:t>
            </a:r>
            <a:r>
              <a:rPr lang="en-US" altLang="zh-CN" sz="2000" i="0">
                <a:effectLst/>
                <a:latin typeface="方正小标宋简体" panose="02010601030101010101" pitchFamily="2" charset="-122"/>
                <a:ea typeface="方正小标宋简体" panose="02010601030101010101" pitchFamily="2" charset="-122"/>
              </a:rPr>
              <a:t>W2020</a:t>
            </a:r>
            <a:r>
              <a:rPr lang="zh-CN" altLang="en-US" sz="2000" i="0">
                <a:effectLst/>
                <a:latin typeface="方正小标宋简体" panose="02010601030101010101" pitchFamily="2" charset="-122"/>
                <a:ea typeface="方正小标宋简体" panose="02010601030101010101" pitchFamily="2" charset="-122"/>
              </a:rPr>
              <a:t>模型的线性松弛优于</a:t>
            </a:r>
            <a:r>
              <a:rPr lang="en-US" altLang="zh-CN" sz="2000" i="0">
                <a:effectLst/>
                <a:latin typeface="方正小标宋简体" panose="02010601030101010101" pitchFamily="2" charset="-122"/>
                <a:ea typeface="方正小标宋简体" panose="02010601030101010101" pitchFamily="2" charset="-122"/>
              </a:rPr>
              <a:t>H2017</a:t>
            </a:r>
            <a:r>
              <a:rPr lang="zh-CN" altLang="en-US" sz="2000" i="0">
                <a:effectLst/>
                <a:latin typeface="方正小标宋简体" panose="02010601030101010101" pitchFamily="2" charset="-122"/>
                <a:ea typeface="方正小标宋简体" panose="02010601030101010101" pitchFamily="2" charset="-122"/>
              </a:rPr>
              <a:t>模型。</a:t>
            </a:r>
          </a:p>
        </p:txBody>
      </p:sp>
    </p:spTree>
    <p:extLst>
      <p:ext uri="{BB962C8B-B14F-4D97-AF65-F5344CB8AC3E}">
        <p14:creationId xmlns:p14="http://schemas.microsoft.com/office/powerpoint/2010/main" val="111105184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A5C9E-2888-2C56-463C-95D4C172087D}"/>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43CBE7F-5994-D779-A247-804100E6BE11}"/>
              </a:ext>
            </a:extLst>
          </p:cNvPr>
          <p:cNvGrpSpPr/>
          <p:nvPr/>
        </p:nvGrpSpPr>
        <p:grpSpPr>
          <a:xfrm>
            <a:off x="1" y="-1"/>
            <a:ext cx="9144001" cy="858612"/>
            <a:chOff x="1" y="-1"/>
            <a:chExt cx="9144001" cy="858612"/>
          </a:xfrm>
        </p:grpSpPr>
        <p:sp>
          <p:nvSpPr>
            <p:cNvPr id="3" name="矩形 2">
              <a:extLst>
                <a:ext uri="{FF2B5EF4-FFF2-40B4-BE49-F238E27FC236}">
                  <a16:creationId xmlns:a16="http://schemas.microsoft.com/office/drawing/2014/main" id="{8659FC8A-73F6-D34B-A207-BC27225E6A73}"/>
                </a:ext>
              </a:extLst>
            </p:cNvPr>
            <p:cNvSpPr/>
            <p:nvPr/>
          </p:nvSpPr>
          <p:spPr>
            <a:xfrm rot="16200000">
              <a:off x="4142696" y="-4142696"/>
              <a:ext cx="858612" cy="9144001"/>
            </a:xfrm>
            <a:prstGeom prst="rect">
              <a:avLst/>
            </a:prstGeom>
            <a:gradFill flip="none" rotWithShape="1">
              <a:gsLst>
                <a:gs pos="20000">
                  <a:schemeClr val="accent1"/>
                </a:gs>
                <a:gs pos="95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文本框 3">
              <a:extLst>
                <a:ext uri="{FF2B5EF4-FFF2-40B4-BE49-F238E27FC236}">
                  <a16:creationId xmlns:a16="http://schemas.microsoft.com/office/drawing/2014/main" id="{A90EBD97-1279-246B-6959-75CD3B9828F4}"/>
                </a:ext>
              </a:extLst>
            </p:cNvPr>
            <p:cNvSpPr txBox="1"/>
            <p:nvPr/>
          </p:nvSpPr>
          <p:spPr>
            <a:xfrm>
              <a:off x="187890" y="106138"/>
              <a:ext cx="4916466" cy="646331"/>
            </a:xfrm>
            <a:prstGeom prst="rect">
              <a:avLst/>
            </a:prstGeom>
            <a:noFill/>
          </p:spPr>
          <p:txBody>
            <a:bodyPr wrap="square" rtlCol="0">
              <a:spAutoFit/>
            </a:bodyPr>
            <a:lstStyle/>
            <a:p>
              <a:r>
                <a:rPr lang="zh-CN" altLang="en-US" sz="3600">
                  <a:solidFill>
                    <a:schemeClr val="bg1"/>
                  </a:solidFill>
                  <a:latin typeface="方正小标宋简体" panose="02010601030101010101" pitchFamily="2" charset="-122"/>
                  <a:ea typeface="方正小标宋简体" panose="02010601030101010101" pitchFamily="2" charset="-122"/>
                </a:rPr>
                <a:t>方法框架</a:t>
              </a:r>
              <a:r>
                <a:rPr lang="en-US" altLang="zh-CN" sz="3600">
                  <a:solidFill>
                    <a:schemeClr val="bg1"/>
                  </a:solidFill>
                  <a:latin typeface="方正小标宋简体" panose="02010601030101010101" pitchFamily="2" charset="-122"/>
                  <a:ea typeface="方正小标宋简体" panose="02010601030101010101" pitchFamily="2" charset="-122"/>
                </a:rPr>
                <a:t>—</a:t>
              </a:r>
              <a:r>
                <a:rPr lang="zh-CN" altLang="en-US" sz="3600">
                  <a:solidFill>
                    <a:schemeClr val="bg1"/>
                  </a:solidFill>
                  <a:latin typeface="方正小标宋简体" panose="02010601030101010101" pitchFamily="2" charset="-122"/>
                  <a:ea typeface="方正小标宋简体" panose="02010601030101010101" pitchFamily="2" charset="-122"/>
                </a:rPr>
                <a:t>有效不等式</a:t>
              </a:r>
            </a:p>
          </p:txBody>
        </p:sp>
      </p:grpSp>
      <p:pic>
        <p:nvPicPr>
          <p:cNvPr id="5" name="图片 4">
            <a:extLst>
              <a:ext uri="{FF2B5EF4-FFF2-40B4-BE49-F238E27FC236}">
                <a16:creationId xmlns:a16="http://schemas.microsoft.com/office/drawing/2014/main" id="{2C3A65DD-06F1-B031-2557-BC41463BFB45}"/>
              </a:ext>
            </a:extLst>
          </p:cNvPr>
          <p:cNvPicPr>
            <a:picLocks noChangeAspect="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r:embed="rId4">
                    <a14:imgEffect>
                      <a14:colorTemperature colorTemp="1500"/>
                    </a14:imgEffect>
                    <a14:imgEffect>
                      <a14:saturation sat="0"/>
                    </a14:imgEffect>
                  </a14:imgLayer>
                </a14:imgProps>
              </a:ext>
              <a:ext uri="{28A0092B-C50C-407E-A947-70E740481C1C}">
                <a14:useLocalDpi xmlns:a14="http://schemas.microsoft.com/office/drawing/2010/main" val="0"/>
              </a:ext>
            </a:extLst>
          </a:blip>
          <a:stretch>
            <a:fillRect/>
          </a:stretch>
        </p:blipFill>
        <p:spPr>
          <a:xfrm>
            <a:off x="9045810" y="106138"/>
            <a:ext cx="3070066" cy="596957"/>
          </a:xfrm>
          <a:prstGeom prst="rect">
            <a:avLst/>
          </a:prstGeom>
        </p:spPr>
      </p:pic>
      <p:sp>
        <p:nvSpPr>
          <p:cNvPr id="7" name="文本框 6">
            <a:extLst>
              <a:ext uri="{FF2B5EF4-FFF2-40B4-BE49-F238E27FC236}">
                <a16:creationId xmlns:a16="http://schemas.microsoft.com/office/drawing/2014/main" id="{13DDC0B9-D8BD-7B7C-4577-E081E2D2EDF2}"/>
              </a:ext>
            </a:extLst>
          </p:cNvPr>
          <p:cNvSpPr txBox="1"/>
          <p:nvPr/>
        </p:nvSpPr>
        <p:spPr>
          <a:xfrm>
            <a:off x="82550" y="964751"/>
            <a:ext cx="7785100" cy="369332"/>
          </a:xfrm>
          <a:prstGeom prst="rect">
            <a:avLst/>
          </a:prstGeom>
          <a:noFill/>
        </p:spPr>
        <p:txBody>
          <a:bodyPr wrap="square">
            <a:spAutoFit/>
          </a:bodyPr>
          <a:lstStyle/>
          <a:p>
            <a:r>
              <a:rPr lang="zh-CN" altLang="en-US" b="0" i="0">
                <a:effectLst/>
                <a:latin typeface="方正小标宋简体" panose="02010601030101010101" pitchFamily="2" charset="-122"/>
                <a:ea typeface="方正小标宋简体" panose="02010601030101010101" pitchFamily="2" charset="-122"/>
              </a:rPr>
              <a:t>为了进一步收紧模型的</a:t>
            </a:r>
            <a:r>
              <a:rPr lang="en-US" altLang="zh-CN" b="0" i="0">
                <a:effectLst/>
                <a:latin typeface="方正小标宋简体" panose="02010601030101010101" pitchFamily="2" charset="-122"/>
                <a:ea typeface="方正小标宋简体" panose="02010601030101010101" pitchFamily="2" charset="-122"/>
              </a:rPr>
              <a:t>LP</a:t>
            </a:r>
            <a:r>
              <a:rPr lang="zh-CN" altLang="en-US" b="0" i="0">
                <a:effectLst/>
                <a:latin typeface="方正小标宋简体" panose="02010601030101010101" pitchFamily="2" charset="-122"/>
                <a:ea typeface="方正小标宋简体" panose="02010601030101010101" pitchFamily="2" charset="-122"/>
              </a:rPr>
              <a:t>松弛，论文为不同模型引入了多组有效不等式</a:t>
            </a:r>
            <a:endParaRPr lang="zh-CN" altLang="en-US">
              <a:latin typeface="方正小标宋简体" panose="02010601030101010101" pitchFamily="2" charset="-122"/>
              <a:ea typeface="方正小标宋简体" panose="02010601030101010101" pitchFamily="2" charset="-122"/>
            </a:endParaRPr>
          </a:p>
        </p:txBody>
      </p:sp>
      <p:grpSp>
        <p:nvGrpSpPr>
          <p:cNvPr id="6" name="组合 5">
            <a:extLst>
              <a:ext uri="{FF2B5EF4-FFF2-40B4-BE49-F238E27FC236}">
                <a16:creationId xmlns:a16="http://schemas.microsoft.com/office/drawing/2014/main" id="{51ED2D69-093A-8316-6600-B99807891D91}"/>
              </a:ext>
            </a:extLst>
          </p:cNvPr>
          <p:cNvGrpSpPr/>
          <p:nvPr/>
        </p:nvGrpSpPr>
        <p:grpSpPr>
          <a:xfrm>
            <a:off x="775574" y="1334083"/>
            <a:ext cx="4297374" cy="4962390"/>
            <a:chOff x="-107076" y="1334083"/>
            <a:chExt cx="4297374" cy="4962390"/>
          </a:xfrm>
        </p:grpSpPr>
        <p:sp>
          <p:nvSpPr>
            <p:cNvPr id="8" name="文本框 7">
              <a:extLst>
                <a:ext uri="{FF2B5EF4-FFF2-40B4-BE49-F238E27FC236}">
                  <a16:creationId xmlns:a16="http://schemas.microsoft.com/office/drawing/2014/main" id="{F6E9648F-C179-8009-3D3E-32630E66647E}"/>
                </a:ext>
              </a:extLst>
            </p:cNvPr>
            <p:cNvSpPr txBox="1"/>
            <p:nvPr/>
          </p:nvSpPr>
          <p:spPr>
            <a:xfrm>
              <a:off x="-107075" y="1334083"/>
              <a:ext cx="4297373" cy="369332"/>
            </a:xfrm>
            <a:prstGeom prst="rect">
              <a:avLst/>
            </a:prstGeom>
            <a:noFill/>
          </p:spPr>
          <p:txBody>
            <a:bodyPr wrap="square">
              <a:spAutoFit/>
            </a:bodyPr>
            <a:lstStyle/>
            <a:p>
              <a:r>
                <a:rPr lang="zh-CN" altLang="en-US">
                  <a:latin typeface="方正小标宋简体" panose="02010601030101010101" pitchFamily="2" charset="-122"/>
                  <a:ea typeface="方正小标宋简体" panose="02010601030101010101" pitchFamily="2" charset="-122"/>
                </a:rPr>
                <a:t>I3（</a:t>
              </a:r>
              <a:r>
                <a:rPr lang="en-US" altLang="zh-CN">
                  <a:latin typeface="方正小标宋简体" panose="02010601030101010101" pitchFamily="2" charset="-122"/>
                  <a:ea typeface="方正小标宋简体" panose="02010601030101010101" pitchFamily="2" charset="-122"/>
                </a:rPr>
                <a:t>H2017, W2020</a:t>
              </a:r>
              <a:r>
                <a:rPr lang="zh-CN" altLang="en-US">
                  <a:latin typeface="方正小标宋简体" panose="02010601030101010101" pitchFamily="2" charset="-122"/>
                  <a:ea typeface="方正小标宋简体" panose="02010601030101010101" pitchFamily="2" charset="-122"/>
                </a:rPr>
                <a:t>）模型的有效不等式</a:t>
              </a:r>
            </a:p>
          </p:txBody>
        </p:sp>
        <p:pic>
          <p:nvPicPr>
            <p:cNvPr id="10" name="图片 9">
              <a:extLst>
                <a:ext uri="{FF2B5EF4-FFF2-40B4-BE49-F238E27FC236}">
                  <a16:creationId xmlns:a16="http://schemas.microsoft.com/office/drawing/2014/main" id="{D9A4DBCF-DCDE-9B13-D2D2-AC3E2C346F2B}"/>
                </a:ext>
              </a:extLst>
            </p:cNvPr>
            <p:cNvPicPr>
              <a:picLocks noChangeAspect="1"/>
            </p:cNvPicPr>
            <p:nvPr/>
          </p:nvPicPr>
          <p:blipFill>
            <a:blip r:embed="rId5"/>
            <a:stretch>
              <a:fillRect/>
            </a:stretch>
          </p:blipFill>
          <p:spPr>
            <a:xfrm>
              <a:off x="378954" y="1703415"/>
              <a:ext cx="3325316" cy="1898953"/>
            </a:xfrm>
            <a:prstGeom prst="rect">
              <a:avLst/>
            </a:prstGeom>
            <a:ln>
              <a:noFill/>
            </a:ln>
            <a:effectLst>
              <a:outerShdw blurRad="190500" algn="tl" rotWithShape="0">
                <a:srgbClr val="000000">
                  <a:alpha val="70000"/>
                </a:srgbClr>
              </a:outerShdw>
            </a:effectLst>
          </p:spPr>
        </p:pic>
        <p:sp>
          <p:nvSpPr>
            <p:cNvPr id="11" name="文本框 10">
              <a:extLst>
                <a:ext uri="{FF2B5EF4-FFF2-40B4-BE49-F238E27FC236}">
                  <a16:creationId xmlns:a16="http://schemas.microsoft.com/office/drawing/2014/main" id="{715C0EE3-B1B9-3A8F-9BDE-37486564A256}"/>
                </a:ext>
              </a:extLst>
            </p:cNvPr>
            <p:cNvSpPr txBox="1"/>
            <p:nvPr/>
          </p:nvSpPr>
          <p:spPr>
            <a:xfrm>
              <a:off x="-107076" y="3843522"/>
              <a:ext cx="4297373" cy="369332"/>
            </a:xfrm>
            <a:prstGeom prst="rect">
              <a:avLst/>
            </a:prstGeom>
            <a:noFill/>
          </p:spPr>
          <p:txBody>
            <a:bodyPr wrap="square">
              <a:spAutoFit/>
            </a:bodyPr>
            <a:lstStyle/>
            <a:p>
              <a:r>
                <a:rPr lang="en-US" altLang="zh-CN">
                  <a:latin typeface="方正小标宋简体" panose="02010601030101010101" pitchFamily="2" charset="-122"/>
                  <a:ea typeface="方正小标宋简体" panose="02010601030101010101" pitchFamily="2" charset="-122"/>
                </a:rPr>
                <a:t>LO</a:t>
              </a:r>
              <a:r>
                <a:rPr lang="zh-CN" altLang="en-US">
                  <a:latin typeface="方正小标宋简体" panose="02010601030101010101" pitchFamily="2" charset="-122"/>
                  <a:ea typeface="方正小标宋简体" panose="02010601030101010101" pitchFamily="2" charset="-122"/>
                </a:rPr>
                <a:t>模型的有效不等式</a:t>
              </a:r>
            </a:p>
          </p:txBody>
        </p:sp>
        <p:pic>
          <p:nvPicPr>
            <p:cNvPr id="13" name="图片 12">
              <a:extLst>
                <a:ext uri="{FF2B5EF4-FFF2-40B4-BE49-F238E27FC236}">
                  <a16:creationId xmlns:a16="http://schemas.microsoft.com/office/drawing/2014/main" id="{7C10B83E-31CC-0AB2-8254-EB8C6B7D2857}"/>
                </a:ext>
              </a:extLst>
            </p:cNvPr>
            <p:cNvPicPr>
              <a:picLocks noChangeAspect="1"/>
            </p:cNvPicPr>
            <p:nvPr/>
          </p:nvPicPr>
          <p:blipFill>
            <a:blip r:embed="rId6"/>
            <a:stretch>
              <a:fillRect/>
            </a:stretch>
          </p:blipFill>
          <p:spPr>
            <a:xfrm>
              <a:off x="378954" y="4397520"/>
              <a:ext cx="3343774" cy="1898953"/>
            </a:xfrm>
            <a:prstGeom prst="rect">
              <a:avLst/>
            </a:prstGeom>
            <a:ln>
              <a:noFill/>
            </a:ln>
            <a:effectLst>
              <a:outerShdw blurRad="190500" algn="tl" rotWithShape="0">
                <a:srgbClr val="000000">
                  <a:alpha val="70000"/>
                </a:srgbClr>
              </a:outerShdw>
            </a:effectLst>
          </p:spPr>
        </p:pic>
      </p:grpSp>
      <p:grpSp>
        <p:nvGrpSpPr>
          <p:cNvPr id="9" name="组合 8">
            <a:extLst>
              <a:ext uri="{FF2B5EF4-FFF2-40B4-BE49-F238E27FC236}">
                <a16:creationId xmlns:a16="http://schemas.microsoft.com/office/drawing/2014/main" id="{4ED8B5F4-8017-6058-3C69-A76E6EB1724E}"/>
              </a:ext>
            </a:extLst>
          </p:cNvPr>
          <p:cNvGrpSpPr/>
          <p:nvPr/>
        </p:nvGrpSpPr>
        <p:grpSpPr>
          <a:xfrm>
            <a:off x="6437771" y="1703415"/>
            <a:ext cx="4297373" cy="4746481"/>
            <a:chOff x="5904371" y="1703415"/>
            <a:chExt cx="4297373" cy="4746481"/>
          </a:xfrm>
        </p:grpSpPr>
        <p:sp>
          <p:nvSpPr>
            <p:cNvPr id="14" name="文本框 13">
              <a:extLst>
                <a:ext uri="{FF2B5EF4-FFF2-40B4-BE49-F238E27FC236}">
                  <a16:creationId xmlns:a16="http://schemas.microsoft.com/office/drawing/2014/main" id="{9C084BC4-68F6-D8BD-CFE7-2B4BF146BB88}"/>
                </a:ext>
              </a:extLst>
            </p:cNvPr>
            <p:cNvSpPr txBox="1"/>
            <p:nvPr/>
          </p:nvSpPr>
          <p:spPr>
            <a:xfrm>
              <a:off x="5904371" y="3830214"/>
              <a:ext cx="4297373" cy="369332"/>
            </a:xfrm>
            <a:prstGeom prst="rect">
              <a:avLst/>
            </a:prstGeom>
            <a:noFill/>
          </p:spPr>
          <p:txBody>
            <a:bodyPr wrap="square">
              <a:spAutoFit/>
            </a:bodyPr>
            <a:lstStyle/>
            <a:p>
              <a:r>
                <a:rPr lang="en-US" altLang="zh-CN">
                  <a:latin typeface="方正小标宋简体" panose="02010601030101010101" pitchFamily="2" charset="-122"/>
                  <a:ea typeface="方正小标宋简体" panose="02010601030101010101" pitchFamily="2" charset="-122"/>
                </a:rPr>
                <a:t>PD</a:t>
              </a:r>
              <a:r>
                <a:rPr lang="zh-CN" altLang="en-US">
                  <a:latin typeface="方正小标宋简体" panose="02010601030101010101" pitchFamily="2" charset="-122"/>
                  <a:ea typeface="方正小标宋简体" panose="02010601030101010101" pitchFamily="2" charset="-122"/>
                </a:rPr>
                <a:t>模型的有效不等式和对称性破除约束</a:t>
              </a:r>
            </a:p>
          </p:txBody>
        </p:sp>
        <p:pic>
          <p:nvPicPr>
            <p:cNvPr id="16" name="图片 15">
              <a:extLst>
                <a:ext uri="{FF2B5EF4-FFF2-40B4-BE49-F238E27FC236}">
                  <a16:creationId xmlns:a16="http://schemas.microsoft.com/office/drawing/2014/main" id="{205D791C-42E4-1A9D-042F-958210751294}"/>
                </a:ext>
              </a:extLst>
            </p:cNvPr>
            <p:cNvPicPr>
              <a:picLocks noChangeAspect="1"/>
            </p:cNvPicPr>
            <p:nvPr/>
          </p:nvPicPr>
          <p:blipFill>
            <a:blip r:embed="rId7"/>
            <a:stretch>
              <a:fillRect/>
            </a:stretch>
          </p:blipFill>
          <p:spPr>
            <a:xfrm>
              <a:off x="5910507" y="1703415"/>
              <a:ext cx="4111072" cy="1980516"/>
            </a:xfrm>
            <a:prstGeom prst="rect">
              <a:avLst/>
            </a:prstGeom>
            <a:ln>
              <a:noFill/>
            </a:ln>
            <a:effectLst>
              <a:outerShdw blurRad="190500" algn="tl" rotWithShape="0">
                <a:srgbClr val="000000">
                  <a:alpha val="70000"/>
                </a:srgbClr>
              </a:outerShdw>
            </a:effectLst>
          </p:spPr>
        </p:pic>
        <p:pic>
          <p:nvPicPr>
            <p:cNvPr id="18" name="图片 17">
              <a:extLst>
                <a:ext uri="{FF2B5EF4-FFF2-40B4-BE49-F238E27FC236}">
                  <a16:creationId xmlns:a16="http://schemas.microsoft.com/office/drawing/2014/main" id="{A963BDC3-3896-50ED-31D2-9CEF7F46ECAD}"/>
                </a:ext>
              </a:extLst>
            </p:cNvPr>
            <p:cNvPicPr>
              <a:picLocks noChangeAspect="1"/>
            </p:cNvPicPr>
            <p:nvPr/>
          </p:nvPicPr>
          <p:blipFill>
            <a:blip r:embed="rId8"/>
            <a:stretch>
              <a:fillRect/>
            </a:stretch>
          </p:blipFill>
          <p:spPr>
            <a:xfrm>
              <a:off x="5904371" y="4345830"/>
              <a:ext cx="3857455" cy="2104066"/>
            </a:xfrm>
            <a:prstGeom prst="rect">
              <a:avLst/>
            </a:prstGeom>
            <a:ln>
              <a:noFill/>
            </a:ln>
            <a:effectLst>
              <a:outerShdw blurRad="190500" algn="tl" rotWithShape="0">
                <a:srgbClr val="000000">
                  <a:alpha val="70000"/>
                </a:srgbClr>
              </a:outerShdw>
            </a:effectLst>
          </p:spPr>
        </p:pic>
      </p:grpSp>
    </p:spTree>
    <p:extLst>
      <p:ext uri="{BB962C8B-B14F-4D97-AF65-F5344CB8AC3E}">
        <p14:creationId xmlns:p14="http://schemas.microsoft.com/office/powerpoint/2010/main" val="214586441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875F0-9F0B-F4DA-AC01-FF72B1A5A24A}"/>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12D0AFA6-54C3-F075-A7D7-D10A2CF8BAF8}"/>
              </a:ext>
            </a:extLst>
          </p:cNvPr>
          <p:cNvGrpSpPr/>
          <p:nvPr/>
        </p:nvGrpSpPr>
        <p:grpSpPr>
          <a:xfrm>
            <a:off x="1" y="-1"/>
            <a:ext cx="9144001" cy="858612"/>
            <a:chOff x="1" y="-1"/>
            <a:chExt cx="9144001" cy="858612"/>
          </a:xfrm>
        </p:grpSpPr>
        <p:sp>
          <p:nvSpPr>
            <p:cNvPr id="3" name="矩形 2">
              <a:extLst>
                <a:ext uri="{FF2B5EF4-FFF2-40B4-BE49-F238E27FC236}">
                  <a16:creationId xmlns:a16="http://schemas.microsoft.com/office/drawing/2014/main" id="{D6E5FD20-CF37-1B33-643B-7881BE5E5486}"/>
                </a:ext>
              </a:extLst>
            </p:cNvPr>
            <p:cNvSpPr/>
            <p:nvPr/>
          </p:nvSpPr>
          <p:spPr>
            <a:xfrm rot="16200000">
              <a:off x="4142696" y="-4142696"/>
              <a:ext cx="858612" cy="9144001"/>
            </a:xfrm>
            <a:prstGeom prst="rect">
              <a:avLst/>
            </a:prstGeom>
            <a:gradFill flip="none" rotWithShape="1">
              <a:gsLst>
                <a:gs pos="20000">
                  <a:schemeClr val="accent1"/>
                </a:gs>
                <a:gs pos="95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文本框 3">
              <a:extLst>
                <a:ext uri="{FF2B5EF4-FFF2-40B4-BE49-F238E27FC236}">
                  <a16:creationId xmlns:a16="http://schemas.microsoft.com/office/drawing/2014/main" id="{D792DDDE-D404-38D0-E516-558858587C1D}"/>
                </a:ext>
              </a:extLst>
            </p:cNvPr>
            <p:cNvSpPr txBox="1"/>
            <p:nvPr/>
          </p:nvSpPr>
          <p:spPr>
            <a:xfrm>
              <a:off x="187890" y="106138"/>
              <a:ext cx="4916466" cy="646331"/>
            </a:xfrm>
            <a:prstGeom prst="rect">
              <a:avLst/>
            </a:prstGeom>
            <a:noFill/>
          </p:spPr>
          <p:txBody>
            <a:bodyPr wrap="square" rtlCol="0">
              <a:spAutoFit/>
            </a:bodyPr>
            <a:lstStyle/>
            <a:p>
              <a:r>
                <a:rPr lang="zh-CN" altLang="en-US" sz="3600">
                  <a:solidFill>
                    <a:schemeClr val="bg1"/>
                  </a:solidFill>
                  <a:latin typeface="方正小标宋简体" panose="02010601030101010101" pitchFamily="2" charset="-122"/>
                  <a:ea typeface="方正小标宋简体" panose="02010601030101010101" pitchFamily="2" charset="-122"/>
                </a:rPr>
                <a:t>方法框架</a:t>
              </a:r>
              <a:r>
                <a:rPr lang="en-US" altLang="zh-CN" sz="3600">
                  <a:solidFill>
                    <a:schemeClr val="bg1"/>
                  </a:solidFill>
                  <a:latin typeface="方正小标宋简体" panose="02010601030101010101" pitchFamily="2" charset="-122"/>
                  <a:ea typeface="方正小标宋简体" panose="02010601030101010101" pitchFamily="2" charset="-122"/>
                </a:rPr>
                <a:t>—</a:t>
              </a:r>
              <a:r>
                <a:rPr lang="zh-CN" altLang="en-US" sz="3600">
                  <a:solidFill>
                    <a:schemeClr val="bg1"/>
                  </a:solidFill>
                  <a:latin typeface="方正小标宋简体" panose="02010601030101010101" pitchFamily="2" charset="-122"/>
                  <a:ea typeface="方正小标宋简体" panose="02010601030101010101" pitchFamily="2" charset="-122"/>
                </a:rPr>
                <a:t>有效不等式</a:t>
              </a:r>
            </a:p>
          </p:txBody>
        </p:sp>
      </p:grpSp>
      <p:pic>
        <p:nvPicPr>
          <p:cNvPr id="5" name="图片 4">
            <a:extLst>
              <a:ext uri="{FF2B5EF4-FFF2-40B4-BE49-F238E27FC236}">
                <a16:creationId xmlns:a16="http://schemas.microsoft.com/office/drawing/2014/main" id="{DD4A1D17-2A16-7867-89FC-794316286631}"/>
              </a:ext>
            </a:extLst>
          </p:cNvPr>
          <p:cNvPicPr>
            <a:picLocks noChangeAspect="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r:embed="rId4">
                    <a14:imgEffect>
                      <a14:colorTemperature colorTemp="1500"/>
                    </a14:imgEffect>
                    <a14:imgEffect>
                      <a14:saturation sat="0"/>
                    </a14:imgEffect>
                  </a14:imgLayer>
                </a14:imgProps>
              </a:ext>
              <a:ext uri="{28A0092B-C50C-407E-A947-70E740481C1C}">
                <a14:useLocalDpi xmlns:a14="http://schemas.microsoft.com/office/drawing/2010/main" val="0"/>
              </a:ext>
            </a:extLst>
          </a:blip>
          <a:stretch>
            <a:fillRect/>
          </a:stretch>
        </p:blipFill>
        <p:spPr>
          <a:xfrm>
            <a:off x="9045810" y="106138"/>
            <a:ext cx="3070066" cy="596957"/>
          </a:xfrm>
          <a:prstGeom prst="rect">
            <a:avLst/>
          </a:prstGeom>
        </p:spPr>
      </p:pic>
      <p:pic>
        <p:nvPicPr>
          <p:cNvPr id="6" name="图片 5">
            <a:extLst>
              <a:ext uri="{FF2B5EF4-FFF2-40B4-BE49-F238E27FC236}">
                <a16:creationId xmlns:a16="http://schemas.microsoft.com/office/drawing/2014/main" id="{82CEFB74-F06C-8FDD-2891-43F0E05875F5}"/>
              </a:ext>
            </a:extLst>
          </p:cNvPr>
          <p:cNvPicPr>
            <a:picLocks noChangeAspect="1"/>
          </p:cNvPicPr>
          <p:nvPr/>
        </p:nvPicPr>
        <p:blipFill>
          <a:blip r:embed="rId5"/>
          <a:stretch>
            <a:fillRect/>
          </a:stretch>
        </p:blipFill>
        <p:spPr>
          <a:xfrm>
            <a:off x="55436" y="2256066"/>
            <a:ext cx="12081127" cy="3132144"/>
          </a:xfrm>
          <a:prstGeom prst="rect">
            <a:avLst/>
          </a:prstGeom>
        </p:spPr>
      </p:pic>
      <p:sp>
        <p:nvSpPr>
          <p:cNvPr id="9" name="文本框 8">
            <a:extLst>
              <a:ext uri="{FF2B5EF4-FFF2-40B4-BE49-F238E27FC236}">
                <a16:creationId xmlns:a16="http://schemas.microsoft.com/office/drawing/2014/main" id="{A3B28A7A-856B-EF67-E3CA-415AE97290F0}"/>
              </a:ext>
            </a:extLst>
          </p:cNvPr>
          <p:cNvSpPr txBox="1"/>
          <p:nvPr/>
        </p:nvSpPr>
        <p:spPr>
          <a:xfrm>
            <a:off x="55436" y="858609"/>
            <a:ext cx="6097022" cy="369332"/>
          </a:xfrm>
          <a:prstGeom prst="rect">
            <a:avLst/>
          </a:prstGeom>
          <a:noFill/>
        </p:spPr>
        <p:txBody>
          <a:bodyPr wrap="square">
            <a:spAutoFit/>
          </a:bodyPr>
          <a:lstStyle/>
          <a:p>
            <a:r>
              <a:rPr lang="zh-CN" altLang="en-US" b="1" i="0">
                <a:effectLst/>
                <a:latin typeface="方正小标宋简体" panose="02010601030101010101" pitchFamily="2" charset="-122"/>
                <a:ea typeface="方正小标宋简体" panose="02010601030101010101" pitchFamily="2" charset="-122"/>
              </a:rPr>
              <a:t>不同模型</a:t>
            </a:r>
            <a:r>
              <a:rPr lang="en-US" altLang="zh-CN" b="1" i="0">
                <a:effectLst/>
                <a:latin typeface="方正小标宋简体" panose="02010601030101010101" pitchFamily="2" charset="-122"/>
                <a:ea typeface="方正小标宋简体" panose="02010601030101010101" pitchFamily="2" charset="-122"/>
              </a:rPr>
              <a:t>LP</a:t>
            </a:r>
            <a:r>
              <a:rPr lang="zh-CN" altLang="en-US" b="1" i="0">
                <a:effectLst/>
                <a:latin typeface="方正小标宋简体" panose="02010601030101010101" pitchFamily="2" charset="-122"/>
                <a:ea typeface="方正小标宋简体" panose="02010601030101010101" pitchFamily="2" charset="-122"/>
              </a:rPr>
              <a:t>松弛的相对差距</a:t>
            </a:r>
            <a:endParaRPr lang="zh-CN" altLang="en-US">
              <a:latin typeface="方正小标宋简体" panose="02010601030101010101" pitchFamily="2" charset="-122"/>
              <a:ea typeface="方正小标宋简体" panose="02010601030101010101" pitchFamily="2" charset="-122"/>
            </a:endParaRPr>
          </a:p>
        </p:txBody>
      </p:sp>
      <p:sp>
        <p:nvSpPr>
          <p:cNvPr id="8" name="矩形 7">
            <a:extLst>
              <a:ext uri="{FF2B5EF4-FFF2-40B4-BE49-F238E27FC236}">
                <a16:creationId xmlns:a16="http://schemas.microsoft.com/office/drawing/2014/main" id="{B38177F7-E6F7-E3F2-C9DD-0B8BD3779535}"/>
              </a:ext>
            </a:extLst>
          </p:cNvPr>
          <p:cNvSpPr/>
          <p:nvPr/>
        </p:nvSpPr>
        <p:spPr>
          <a:xfrm>
            <a:off x="5635413" y="4856480"/>
            <a:ext cx="6238240" cy="230293"/>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8803288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3700E-0AB3-D2E8-FAD1-63B4AF0C15F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E894673D-B068-78E2-5288-EE9D5BD905A9}"/>
              </a:ext>
            </a:extLst>
          </p:cNvPr>
          <p:cNvGrpSpPr/>
          <p:nvPr/>
        </p:nvGrpSpPr>
        <p:grpSpPr>
          <a:xfrm>
            <a:off x="1" y="-1"/>
            <a:ext cx="9144001" cy="858612"/>
            <a:chOff x="1" y="-1"/>
            <a:chExt cx="9144001" cy="858612"/>
          </a:xfrm>
        </p:grpSpPr>
        <p:sp>
          <p:nvSpPr>
            <p:cNvPr id="3" name="矩形 2">
              <a:extLst>
                <a:ext uri="{FF2B5EF4-FFF2-40B4-BE49-F238E27FC236}">
                  <a16:creationId xmlns:a16="http://schemas.microsoft.com/office/drawing/2014/main" id="{09BCF0C7-58D5-1426-779C-4DE1879CB9AF}"/>
                </a:ext>
              </a:extLst>
            </p:cNvPr>
            <p:cNvSpPr/>
            <p:nvPr/>
          </p:nvSpPr>
          <p:spPr>
            <a:xfrm rot="16200000">
              <a:off x="4142696" y="-4142696"/>
              <a:ext cx="858612" cy="9144001"/>
            </a:xfrm>
            <a:prstGeom prst="rect">
              <a:avLst/>
            </a:prstGeom>
            <a:gradFill flip="none" rotWithShape="1">
              <a:gsLst>
                <a:gs pos="20000">
                  <a:schemeClr val="accent1"/>
                </a:gs>
                <a:gs pos="95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文本框 3">
              <a:extLst>
                <a:ext uri="{FF2B5EF4-FFF2-40B4-BE49-F238E27FC236}">
                  <a16:creationId xmlns:a16="http://schemas.microsoft.com/office/drawing/2014/main" id="{7CDAED38-E56C-2A54-F178-5212665E6E8B}"/>
                </a:ext>
              </a:extLst>
            </p:cNvPr>
            <p:cNvSpPr txBox="1"/>
            <p:nvPr/>
          </p:nvSpPr>
          <p:spPr>
            <a:xfrm>
              <a:off x="187890" y="106138"/>
              <a:ext cx="3563655" cy="646331"/>
            </a:xfrm>
            <a:prstGeom prst="rect">
              <a:avLst/>
            </a:prstGeom>
            <a:noFill/>
          </p:spPr>
          <p:txBody>
            <a:bodyPr wrap="square" rtlCol="0">
              <a:spAutoFit/>
            </a:bodyPr>
            <a:lstStyle/>
            <a:p>
              <a:r>
                <a:rPr lang="zh-CN" altLang="en-US" sz="3600">
                  <a:solidFill>
                    <a:schemeClr val="bg1"/>
                  </a:solidFill>
                  <a:latin typeface="方正小标宋简体" panose="02010601030101010101" pitchFamily="2" charset="-122"/>
                  <a:ea typeface="方正小标宋简体" panose="02010601030101010101" pitchFamily="2" charset="-122"/>
                </a:rPr>
                <a:t>方法框架</a:t>
              </a:r>
              <a:r>
                <a:rPr lang="en-US" altLang="zh-CN" sz="3600">
                  <a:solidFill>
                    <a:schemeClr val="bg1"/>
                  </a:solidFill>
                  <a:latin typeface="方正小标宋简体" panose="02010601030101010101" pitchFamily="2" charset="-122"/>
                  <a:ea typeface="方正小标宋简体" panose="02010601030101010101" pitchFamily="2" charset="-122"/>
                </a:rPr>
                <a:t>—</a:t>
              </a:r>
              <a:r>
                <a:rPr lang="zh-CN" altLang="en-US" sz="3600">
                  <a:solidFill>
                    <a:schemeClr val="bg1"/>
                  </a:solidFill>
                  <a:latin typeface="方正小标宋简体" panose="02010601030101010101" pitchFamily="2" charset="-122"/>
                  <a:ea typeface="方正小标宋简体" panose="02010601030101010101" pitchFamily="2" charset="-122"/>
                </a:rPr>
                <a:t>下界</a:t>
              </a:r>
            </a:p>
          </p:txBody>
        </p:sp>
      </p:grpSp>
      <p:pic>
        <p:nvPicPr>
          <p:cNvPr id="5" name="图片 4">
            <a:extLst>
              <a:ext uri="{FF2B5EF4-FFF2-40B4-BE49-F238E27FC236}">
                <a16:creationId xmlns:a16="http://schemas.microsoft.com/office/drawing/2014/main" id="{0FD6B715-B20B-9A22-3517-16EF50DBB490}"/>
              </a:ext>
            </a:extLst>
          </p:cNvPr>
          <p:cNvPicPr>
            <a:picLocks noChangeAspect="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r:embed="rId4">
                    <a14:imgEffect>
                      <a14:colorTemperature colorTemp="1500"/>
                    </a14:imgEffect>
                    <a14:imgEffect>
                      <a14:saturation sat="0"/>
                    </a14:imgEffect>
                  </a14:imgLayer>
                </a14:imgProps>
              </a:ext>
              <a:ext uri="{28A0092B-C50C-407E-A947-70E740481C1C}">
                <a14:useLocalDpi xmlns:a14="http://schemas.microsoft.com/office/drawing/2010/main" val="0"/>
              </a:ext>
            </a:extLst>
          </a:blip>
          <a:stretch>
            <a:fillRect/>
          </a:stretch>
        </p:blipFill>
        <p:spPr>
          <a:xfrm>
            <a:off x="9045810" y="106138"/>
            <a:ext cx="3070066" cy="596957"/>
          </a:xfrm>
          <a:prstGeom prst="rect">
            <a:avLst/>
          </a:prstGeom>
        </p:spPr>
      </p:pic>
      <p:sp>
        <p:nvSpPr>
          <p:cNvPr id="11" name="文本框 10">
            <a:extLst>
              <a:ext uri="{FF2B5EF4-FFF2-40B4-BE49-F238E27FC236}">
                <a16:creationId xmlns:a16="http://schemas.microsoft.com/office/drawing/2014/main" id="{02DBF0A4-0AE3-9337-5663-C40FFC85D946}"/>
              </a:ext>
            </a:extLst>
          </p:cNvPr>
          <p:cNvSpPr txBox="1"/>
          <p:nvPr/>
        </p:nvSpPr>
        <p:spPr>
          <a:xfrm>
            <a:off x="274627" y="946340"/>
            <a:ext cx="10716583" cy="369332"/>
          </a:xfrm>
          <a:prstGeom prst="rect">
            <a:avLst/>
          </a:prstGeom>
          <a:noFill/>
        </p:spPr>
        <p:txBody>
          <a:bodyPr wrap="square">
            <a:spAutoFit/>
          </a:bodyPr>
          <a:lstStyle/>
          <a:p>
            <a:pPr algn="l">
              <a:buNone/>
            </a:pPr>
            <a:r>
              <a:rPr lang="zh-CN" altLang="en-US" b="1" i="0">
                <a:effectLst/>
                <a:latin typeface="方正小标宋简体" panose="02010601030101010101" pitchFamily="2" charset="-122"/>
                <a:ea typeface="方正小标宋简体" panose="02010601030101010101" pitchFamily="2" charset="-122"/>
              </a:rPr>
              <a:t>为了评估启发式算法和</a:t>
            </a:r>
            <a:r>
              <a:rPr lang="en-US" altLang="zh-CN" b="1" i="0">
                <a:effectLst/>
                <a:latin typeface="方正小标宋简体" panose="02010601030101010101" pitchFamily="2" charset="-122"/>
                <a:ea typeface="方正小标宋简体" panose="02010601030101010101" pitchFamily="2" charset="-122"/>
              </a:rPr>
              <a:t>LBBD</a:t>
            </a:r>
            <a:r>
              <a:rPr lang="zh-CN" altLang="en-US" b="1" i="0">
                <a:effectLst/>
                <a:latin typeface="方正小标宋简体" panose="02010601030101010101" pitchFamily="2" charset="-122"/>
                <a:ea typeface="方正小标宋简体" panose="02010601030101010101" pitchFamily="2" charset="-122"/>
              </a:rPr>
              <a:t>算法所得解的质量，论文采用了几种计算问题最优</a:t>
            </a:r>
            <a:r>
              <a:rPr lang="en-US" altLang="zh-CN" b="1" i="0">
                <a:effectLst/>
                <a:latin typeface="方正小标宋简体" panose="02010601030101010101" pitchFamily="2" charset="-122"/>
                <a:ea typeface="方正小标宋简体" panose="02010601030101010101" pitchFamily="2" charset="-122"/>
              </a:rPr>
              <a:t>makespan</a:t>
            </a:r>
            <a:r>
              <a:rPr lang="zh-CN" altLang="en-US" b="1" i="0">
                <a:effectLst/>
                <a:latin typeface="方正小标宋简体" panose="02010601030101010101" pitchFamily="2" charset="-122"/>
                <a:ea typeface="方正小标宋简体" panose="02010601030101010101" pitchFamily="2" charset="-122"/>
              </a:rPr>
              <a:t>下界的方法 </a:t>
            </a:r>
          </a:p>
        </p:txBody>
      </p:sp>
      <p:pic>
        <p:nvPicPr>
          <p:cNvPr id="23" name="图片 22">
            <a:extLst>
              <a:ext uri="{FF2B5EF4-FFF2-40B4-BE49-F238E27FC236}">
                <a16:creationId xmlns:a16="http://schemas.microsoft.com/office/drawing/2014/main" id="{676B786A-34E8-1F8D-6322-587889258CB0}"/>
              </a:ext>
            </a:extLst>
          </p:cNvPr>
          <p:cNvPicPr>
            <a:picLocks noChangeAspect="1"/>
          </p:cNvPicPr>
          <p:nvPr/>
        </p:nvPicPr>
        <p:blipFill>
          <a:blip r:embed="rId5"/>
          <a:stretch>
            <a:fillRect/>
          </a:stretch>
        </p:blipFill>
        <p:spPr>
          <a:xfrm>
            <a:off x="731568" y="1850753"/>
            <a:ext cx="4628312" cy="1142793"/>
          </a:xfrm>
          <a:prstGeom prst="rect">
            <a:avLst/>
          </a:prstGeom>
          <a:ln>
            <a:noFill/>
          </a:ln>
          <a:effectLst>
            <a:outerShdw blurRad="190500" algn="tl" rotWithShape="0">
              <a:srgbClr val="000000">
                <a:alpha val="70000"/>
              </a:srgbClr>
            </a:outerShdw>
          </a:effectLst>
        </p:spPr>
      </p:pic>
      <p:pic>
        <p:nvPicPr>
          <p:cNvPr id="21" name="图片 20">
            <a:extLst>
              <a:ext uri="{FF2B5EF4-FFF2-40B4-BE49-F238E27FC236}">
                <a16:creationId xmlns:a16="http://schemas.microsoft.com/office/drawing/2014/main" id="{B56104FB-92EF-6E69-C702-01C4756F82D4}"/>
              </a:ext>
            </a:extLst>
          </p:cNvPr>
          <p:cNvPicPr>
            <a:picLocks noChangeAspect="1"/>
          </p:cNvPicPr>
          <p:nvPr/>
        </p:nvPicPr>
        <p:blipFill>
          <a:blip r:embed="rId6"/>
          <a:stretch>
            <a:fillRect/>
          </a:stretch>
        </p:blipFill>
        <p:spPr>
          <a:xfrm>
            <a:off x="731568" y="2934966"/>
            <a:ext cx="4628571" cy="1133333"/>
          </a:xfrm>
          <a:prstGeom prst="rect">
            <a:avLst/>
          </a:prstGeom>
          <a:ln>
            <a:noFill/>
          </a:ln>
          <a:effectLst>
            <a:outerShdw blurRad="190500" algn="tl" rotWithShape="0">
              <a:srgbClr val="000000">
                <a:alpha val="70000"/>
              </a:srgbClr>
            </a:outerShdw>
          </a:effectLst>
        </p:spPr>
      </p:pic>
      <p:pic>
        <p:nvPicPr>
          <p:cNvPr id="19" name="图片 18">
            <a:extLst>
              <a:ext uri="{FF2B5EF4-FFF2-40B4-BE49-F238E27FC236}">
                <a16:creationId xmlns:a16="http://schemas.microsoft.com/office/drawing/2014/main" id="{4129A5EC-5564-0B02-893E-F4D128830160}"/>
              </a:ext>
            </a:extLst>
          </p:cNvPr>
          <p:cNvPicPr>
            <a:picLocks noChangeAspect="1"/>
          </p:cNvPicPr>
          <p:nvPr/>
        </p:nvPicPr>
        <p:blipFill>
          <a:blip r:embed="rId7"/>
          <a:stretch>
            <a:fillRect/>
          </a:stretch>
        </p:blipFill>
        <p:spPr>
          <a:xfrm>
            <a:off x="731568" y="3962036"/>
            <a:ext cx="4628314" cy="1190476"/>
          </a:xfrm>
          <a:prstGeom prst="rect">
            <a:avLst/>
          </a:prstGeom>
          <a:ln>
            <a:noFill/>
          </a:ln>
          <a:effectLst>
            <a:outerShdw blurRad="190500" algn="tl" rotWithShape="0">
              <a:srgbClr val="000000">
                <a:alpha val="70000"/>
              </a:srgbClr>
            </a:outerShdw>
          </a:effectLst>
        </p:spPr>
      </p:pic>
      <p:pic>
        <p:nvPicPr>
          <p:cNvPr id="25" name="图片 24">
            <a:extLst>
              <a:ext uri="{FF2B5EF4-FFF2-40B4-BE49-F238E27FC236}">
                <a16:creationId xmlns:a16="http://schemas.microsoft.com/office/drawing/2014/main" id="{458B5A3E-9059-BEFF-8B35-241925838065}"/>
              </a:ext>
            </a:extLst>
          </p:cNvPr>
          <p:cNvPicPr>
            <a:picLocks noChangeAspect="1"/>
          </p:cNvPicPr>
          <p:nvPr/>
        </p:nvPicPr>
        <p:blipFill>
          <a:blip r:embed="rId8"/>
          <a:stretch>
            <a:fillRect/>
          </a:stretch>
        </p:blipFill>
        <p:spPr>
          <a:xfrm>
            <a:off x="731311" y="5103393"/>
            <a:ext cx="4628313" cy="1097681"/>
          </a:xfrm>
          <a:prstGeom prst="rect">
            <a:avLst/>
          </a:prstGeom>
          <a:ln>
            <a:noFill/>
          </a:ln>
          <a:effectLst>
            <a:outerShdw blurRad="190500" algn="tl" rotWithShape="0">
              <a:srgbClr val="000000">
                <a:alpha val="70000"/>
              </a:srgbClr>
            </a:outerShdw>
          </a:effectLst>
        </p:spPr>
      </p:pic>
      <p:pic>
        <p:nvPicPr>
          <p:cNvPr id="27" name="图片 26">
            <a:extLst>
              <a:ext uri="{FF2B5EF4-FFF2-40B4-BE49-F238E27FC236}">
                <a16:creationId xmlns:a16="http://schemas.microsoft.com/office/drawing/2014/main" id="{0F084CE9-70DB-7DEF-4F3C-611B10F643F0}"/>
              </a:ext>
            </a:extLst>
          </p:cNvPr>
          <p:cNvPicPr>
            <a:picLocks noChangeAspect="1"/>
          </p:cNvPicPr>
          <p:nvPr/>
        </p:nvPicPr>
        <p:blipFill>
          <a:blip r:embed="rId9"/>
          <a:stretch>
            <a:fillRect/>
          </a:stretch>
        </p:blipFill>
        <p:spPr>
          <a:xfrm>
            <a:off x="6832119" y="3367726"/>
            <a:ext cx="4628313" cy="1028571"/>
          </a:xfrm>
          <a:prstGeom prst="rect">
            <a:avLst/>
          </a:prstGeom>
          <a:ln>
            <a:noFill/>
          </a:ln>
          <a:effectLst>
            <a:outerShdw blurRad="190500" algn="tl" rotWithShape="0">
              <a:srgbClr val="000000">
                <a:alpha val="70000"/>
              </a:srgbClr>
            </a:outerShdw>
          </a:effectLst>
        </p:spPr>
      </p:pic>
      <p:sp>
        <p:nvSpPr>
          <p:cNvPr id="7" name="文本框 6">
            <a:extLst>
              <a:ext uri="{FF2B5EF4-FFF2-40B4-BE49-F238E27FC236}">
                <a16:creationId xmlns:a16="http://schemas.microsoft.com/office/drawing/2014/main" id="{3EC5467D-8695-DC3B-58BE-82463C3A571D}"/>
              </a:ext>
            </a:extLst>
          </p:cNvPr>
          <p:cNvSpPr txBox="1"/>
          <p:nvPr/>
        </p:nvSpPr>
        <p:spPr>
          <a:xfrm>
            <a:off x="7518401" y="2162549"/>
            <a:ext cx="3581400" cy="830997"/>
          </a:xfrm>
          <a:prstGeom prst="rect">
            <a:avLst/>
          </a:prstGeom>
          <a:noFill/>
        </p:spPr>
        <p:txBody>
          <a:bodyPr wrap="square" rtlCol="0">
            <a:spAutoFit/>
          </a:bodyPr>
          <a:lstStyle/>
          <a:p>
            <a:r>
              <a:rPr lang="en-US" altLang="zh-CN" sz="2400">
                <a:latin typeface="方正小标宋简体" panose="02010601030101010101" pitchFamily="2" charset="-122"/>
                <a:ea typeface="方正小标宋简体" panose="02010601030101010101" pitchFamily="2" charset="-122"/>
              </a:rPr>
              <a:t>LB</a:t>
            </a:r>
            <a:r>
              <a:rPr lang="en-US" altLang="zh-CN">
                <a:latin typeface="方正小标宋简体" panose="02010601030101010101" pitchFamily="2" charset="-122"/>
                <a:ea typeface="方正小标宋简体" panose="02010601030101010101" pitchFamily="2" charset="-122"/>
              </a:rPr>
              <a:t>1</a:t>
            </a:r>
            <a:r>
              <a:rPr lang="zh-CN" altLang="en-US" sz="2400">
                <a:latin typeface="方正小标宋简体" panose="02010601030101010101" pitchFamily="2" charset="-122"/>
                <a:ea typeface="方正小标宋简体" panose="02010601030101010101" pitchFamily="2" charset="-122"/>
              </a:rPr>
              <a:t>总是大于或等于</a:t>
            </a:r>
            <a:r>
              <a:rPr lang="en-US" altLang="zh-CN" sz="2400">
                <a:latin typeface="方正小标宋简体" panose="02010601030101010101" pitchFamily="2" charset="-122"/>
                <a:ea typeface="方正小标宋简体" panose="02010601030101010101" pitchFamily="2" charset="-122"/>
              </a:rPr>
              <a:t>LB</a:t>
            </a:r>
            <a:r>
              <a:rPr lang="en-US" altLang="zh-CN">
                <a:latin typeface="方正小标宋简体" panose="02010601030101010101" pitchFamily="2" charset="-122"/>
                <a:ea typeface="方正小标宋简体" panose="02010601030101010101" pitchFamily="2" charset="-122"/>
              </a:rPr>
              <a:t>0</a:t>
            </a:r>
          </a:p>
          <a:p>
            <a:r>
              <a:rPr lang="zh-CN" altLang="en-US" sz="2400">
                <a:latin typeface="方正小标宋简体" panose="02010601030101010101" pitchFamily="2" charset="-122"/>
                <a:ea typeface="方正小标宋简体" panose="02010601030101010101" pitchFamily="2" charset="-122"/>
              </a:rPr>
              <a:t>因此</a:t>
            </a:r>
            <a:r>
              <a:rPr lang="en-US" altLang="zh-CN" sz="2400">
                <a:latin typeface="方正小标宋简体" panose="02010601030101010101" pitchFamily="2" charset="-122"/>
                <a:ea typeface="方正小标宋简体" panose="02010601030101010101" pitchFamily="2" charset="-122"/>
              </a:rPr>
              <a:t>LB</a:t>
            </a:r>
            <a:r>
              <a:rPr lang="en-US" altLang="zh-CN">
                <a:latin typeface="方正小标宋简体" panose="02010601030101010101" pitchFamily="2" charset="-122"/>
                <a:ea typeface="方正小标宋简体" panose="02010601030101010101" pitchFamily="2" charset="-122"/>
              </a:rPr>
              <a:t>0</a:t>
            </a:r>
            <a:r>
              <a:rPr lang="zh-CN" altLang="en-US" sz="2400">
                <a:latin typeface="方正小标宋简体" panose="02010601030101010101" pitchFamily="2" charset="-122"/>
                <a:ea typeface="方正小标宋简体" panose="02010601030101010101" pitchFamily="2" charset="-122"/>
              </a:rPr>
              <a:t>被取代</a:t>
            </a:r>
            <a:r>
              <a:rPr lang="en-US" altLang="zh-CN" sz="2400">
                <a:latin typeface="方正小标宋简体" panose="02010601030101010101" pitchFamily="2" charset="-122"/>
                <a:ea typeface="方正小标宋简体" panose="02010601030101010101" pitchFamily="2" charset="-122"/>
              </a:rPr>
              <a:t>LB</a:t>
            </a:r>
            <a:r>
              <a:rPr lang="en-US" altLang="zh-CN">
                <a:latin typeface="方正小标宋简体" panose="02010601030101010101" pitchFamily="2" charset="-122"/>
                <a:ea typeface="方正小标宋简体" panose="02010601030101010101" pitchFamily="2" charset="-122"/>
              </a:rPr>
              <a:t>1</a:t>
            </a:r>
            <a:endParaRPr lang="zh-CN" altLang="en-US" sz="2400">
              <a:latin typeface="方正小标宋简体" panose="02010601030101010101" pitchFamily="2" charset="-122"/>
              <a:ea typeface="方正小标宋简体" panose="02010601030101010101" pitchFamily="2" charset="-122"/>
            </a:endParaRPr>
          </a:p>
        </p:txBody>
      </p:sp>
    </p:spTree>
    <p:extLst>
      <p:ext uri="{BB962C8B-B14F-4D97-AF65-F5344CB8AC3E}">
        <p14:creationId xmlns:p14="http://schemas.microsoft.com/office/powerpoint/2010/main" val="366485881"/>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2BBA7-59C1-A527-5F8F-C2FBF326EB5E}"/>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52C3AAD3-BE14-83C5-629C-1705C32294C3}"/>
              </a:ext>
            </a:extLst>
          </p:cNvPr>
          <p:cNvGrpSpPr/>
          <p:nvPr/>
        </p:nvGrpSpPr>
        <p:grpSpPr>
          <a:xfrm>
            <a:off x="1" y="-1"/>
            <a:ext cx="9144001" cy="858612"/>
            <a:chOff x="1" y="-1"/>
            <a:chExt cx="9144001" cy="858612"/>
          </a:xfrm>
        </p:grpSpPr>
        <p:sp>
          <p:nvSpPr>
            <p:cNvPr id="3" name="矩形 2">
              <a:extLst>
                <a:ext uri="{FF2B5EF4-FFF2-40B4-BE49-F238E27FC236}">
                  <a16:creationId xmlns:a16="http://schemas.microsoft.com/office/drawing/2014/main" id="{63AD8A24-200A-290F-7947-0A737FD6D2E8}"/>
                </a:ext>
              </a:extLst>
            </p:cNvPr>
            <p:cNvSpPr/>
            <p:nvPr/>
          </p:nvSpPr>
          <p:spPr>
            <a:xfrm rot="16200000">
              <a:off x="4142696" y="-4142696"/>
              <a:ext cx="858612" cy="9144001"/>
            </a:xfrm>
            <a:prstGeom prst="rect">
              <a:avLst/>
            </a:prstGeom>
            <a:gradFill flip="none" rotWithShape="1">
              <a:gsLst>
                <a:gs pos="20000">
                  <a:schemeClr val="accent1"/>
                </a:gs>
                <a:gs pos="95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文本框 3">
              <a:extLst>
                <a:ext uri="{FF2B5EF4-FFF2-40B4-BE49-F238E27FC236}">
                  <a16:creationId xmlns:a16="http://schemas.microsoft.com/office/drawing/2014/main" id="{33ACAF67-9891-F5FC-1974-177989790705}"/>
                </a:ext>
              </a:extLst>
            </p:cNvPr>
            <p:cNvSpPr txBox="1"/>
            <p:nvPr/>
          </p:nvSpPr>
          <p:spPr>
            <a:xfrm>
              <a:off x="187890" y="106138"/>
              <a:ext cx="4578263" cy="646331"/>
            </a:xfrm>
            <a:prstGeom prst="rect">
              <a:avLst/>
            </a:prstGeom>
            <a:noFill/>
          </p:spPr>
          <p:txBody>
            <a:bodyPr wrap="square" rtlCol="0">
              <a:spAutoFit/>
            </a:bodyPr>
            <a:lstStyle/>
            <a:p>
              <a:r>
                <a:rPr lang="zh-CN" altLang="en-US" sz="3600">
                  <a:solidFill>
                    <a:schemeClr val="bg1"/>
                  </a:solidFill>
                  <a:latin typeface="方正小标宋简体" panose="02010601030101010101" pitchFamily="2" charset="-122"/>
                  <a:ea typeface="方正小标宋简体" panose="02010601030101010101" pitchFamily="2" charset="-122"/>
                </a:rPr>
                <a:t>方法框架</a:t>
              </a:r>
              <a:r>
                <a:rPr lang="en-US" altLang="zh-CN" sz="3600">
                  <a:solidFill>
                    <a:schemeClr val="bg1"/>
                  </a:solidFill>
                  <a:latin typeface="方正小标宋简体" panose="02010601030101010101" pitchFamily="2" charset="-122"/>
                  <a:ea typeface="方正小标宋简体" panose="02010601030101010101" pitchFamily="2" charset="-122"/>
                </a:rPr>
                <a:t>—</a:t>
              </a:r>
              <a:r>
                <a:rPr lang="zh-CN" altLang="en-US" sz="3600">
                  <a:solidFill>
                    <a:schemeClr val="bg1"/>
                  </a:solidFill>
                  <a:latin typeface="方正小标宋简体" panose="02010601030101010101" pitchFamily="2" charset="-122"/>
                  <a:ea typeface="方正小标宋简体" panose="02010601030101010101" pitchFamily="2" charset="-122"/>
                </a:rPr>
                <a:t>优化算法</a:t>
              </a:r>
            </a:p>
          </p:txBody>
        </p:sp>
      </p:grpSp>
      <p:sp>
        <p:nvSpPr>
          <p:cNvPr id="6" name="文本框 5">
            <a:extLst>
              <a:ext uri="{FF2B5EF4-FFF2-40B4-BE49-F238E27FC236}">
                <a16:creationId xmlns:a16="http://schemas.microsoft.com/office/drawing/2014/main" id="{EE642004-5759-BF8C-AF40-D27CE22FD377}"/>
              </a:ext>
            </a:extLst>
          </p:cNvPr>
          <p:cNvSpPr txBox="1"/>
          <p:nvPr/>
        </p:nvSpPr>
        <p:spPr>
          <a:xfrm>
            <a:off x="446461" y="964751"/>
            <a:ext cx="6097022" cy="369332"/>
          </a:xfrm>
          <a:prstGeom prst="rect">
            <a:avLst/>
          </a:prstGeom>
          <a:noFill/>
        </p:spPr>
        <p:txBody>
          <a:bodyPr wrap="square">
            <a:spAutoFit/>
          </a:bodyPr>
          <a:lstStyle/>
          <a:p>
            <a:pPr algn="l">
              <a:buNone/>
            </a:pPr>
            <a:r>
              <a:rPr lang="zh-CN" altLang="en-US" b="1" i="0">
                <a:effectLst/>
                <a:latin typeface="方正小标宋简体" panose="02010601030101010101" pitchFamily="2" charset="-122"/>
                <a:ea typeface="方正小标宋简体" panose="02010601030101010101" pitchFamily="2" charset="-122"/>
              </a:rPr>
              <a:t>基于逻辑的</a:t>
            </a:r>
            <a:r>
              <a:rPr lang="en-US" altLang="zh-CN" b="1" i="0">
                <a:effectLst/>
                <a:latin typeface="方正小标宋简体" panose="02010601030101010101" pitchFamily="2" charset="-122"/>
                <a:ea typeface="方正小标宋简体" panose="02010601030101010101" pitchFamily="2" charset="-122"/>
              </a:rPr>
              <a:t>Benders</a:t>
            </a:r>
            <a:r>
              <a:rPr lang="zh-CN" altLang="en-US" b="1" i="0">
                <a:effectLst/>
                <a:latin typeface="方正小标宋简体" panose="02010601030101010101" pitchFamily="2" charset="-122"/>
                <a:ea typeface="方正小标宋简体" panose="02010601030101010101" pitchFamily="2" charset="-122"/>
              </a:rPr>
              <a:t>分解 </a:t>
            </a:r>
            <a:r>
              <a:rPr lang="en-US" altLang="zh-CN" b="1" i="0">
                <a:effectLst/>
                <a:latin typeface="方正小标宋简体" panose="02010601030101010101" pitchFamily="2" charset="-122"/>
                <a:ea typeface="方正小标宋简体" panose="02010601030101010101" pitchFamily="2" charset="-122"/>
              </a:rPr>
              <a:t>(LBBD) </a:t>
            </a:r>
            <a:r>
              <a:rPr lang="zh-CN" altLang="en-US" b="1" i="0">
                <a:effectLst/>
                <a:latin typeface="方正小标宋简体" panose="02010601030101010101" pitchFamily="2" charset="-122"/>
                <a:ea typeface="方正小标宋简体" panose="02010601030101010101" pitchFamily="2" charset="-122"/>
              </a:rPr>
              <a:t>算法</a:t>
            </a:r>
          </a:p>
        </p:txBody>
      </p:sp>
      <p:pic>
        <p:nvPicPr>
          <p:cNvPr id="12" name="图片 11">
            <a:extLst>
              <a:ext uri="{FF2B5EF4-FFF2-40B4-BE49-F238E27FC236}">
                <a16:creationId xmlns:a16="http://schemas.microsoft.com/office/drawing/2014/main" id="{0D86945F-48FB-05A4-4561-759D165C17F6}"/>
              </a:ext>
            </a:extLst>
          </p:cNvPr>
          <p:cNvPicPr>
            <a:picLocks noChangeAspect="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r:embed="rId4">
                    <a14:imgEffect>
                      <a14:colorTemperature colorTemp="1500"/>
                    </a14:imgEffect>
                    <a14:imgEffect>
                      <a14:saturation sat="0"/>
                    </a14:imgEffect>
                  </a14:imgLayer>
                </a14:imgProps>
              </a:ext>
              <a:ext uri="{28A0092B-C50C-407E-A947-70E740481C1C}">
                <a14:useLocalDpi xmlns:a14="http://schemas.microsoft.com/office/drawing/2010/main" val="0"/>
              </a:ext>
            </a:extLst>
          </a:blip>
          <a:stretch>
            <a:fillRect/>
          </a:stretch>
        </p:blipFill>
        <p:spPr>
          <a:xfrm>
            <a:off x="9045810" y="106138"/>
            <a:ext cx="3070066" cy="596957"/>
          </a:xfrm>
          <a:prstGeom prst="rect">
            <a:avLst/>
          </a:prstGeom>
        </p:spPr>
      </p:pic>
      <p:grpSp>
        <p:nvGrpSpPr>
          <p:cNvPr id="75" name="组合 74">
            <a:extLst>
              <a:ext uri="{FF2B5EF4-FFF2-40B4-BE49-F238E27FC236}">
                <a16:creationId xmlns:a16="http://schemas.microsoft.com/office/drawing/2014/main" id="{80685666-9CEB-61E7-B3BE-7DD94732B852}"/>
              </a:ext>
            </a:extLst>
          </p:cNvPr>
          <p:cNvGrpSpPr/>
          <p:nvPr/>
        </p:nvGrpSpPr>
        <p:grpSpPr>
          <a:xfrm>
            <a:off x="2043767" y="1598384"/>
            <a:ext cx="3076307" cy="4834166"/>
            <a:chOff x="4854843" y="1401534"/>
            <a:chExt cx="2884888" cy="4644698"/>
          </a:xfrm>
        </p:grpSpPr>
        <p:sp>
          <p:nvSpPr>
            <p:cNvPr id="13" name="矩形: 圆角 12">
              <a:extLst>
                <a:ext uri="{FF2B5EF4-FFF2-40B4-BE49-F238E27FC236}">
                  <a16:creationId xmlns:a16="http://schemas.microsoft.com/office/drawing/2014/main" id="{48C9DE09-7118-67B7-9E10-35BBD734E75E}"/>
                </a:ext>
              </a:extLst>
            </p:cNvPr>
            <p:cNvSpPr/>
            <p:nvPr/>
          </p:nvSpPr>
          <p:spPr>
            <a:xfrm>
              <a:off x="5514975" y="1401534"/>
              <a:ext cx="1162050" cy="3693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方正小标宋简体" panose="02010601030101010101" pitchFamily="2" charset="-122"/>
                  <a:ea typeface="方正小标宋简体" panose="02010601030101010101" pitchFamily="2" charset="-122"/>
                </a:rPr>
                <a:t>初始化</a:t>
              </a:r>
            </a:p>
          </p:txBody>
        </p:sp>
        <p:cxnSp>
          <p:nvCxnSpPr>
            <p:cNvPr id="14" name="直接箭头连接符 13">
              <a:extLst>
                <a:ext uri="{FF2B5EF4-FFF2-40B4-BE49-F238E27FC236}">
                  <a16:creationId xmlns:a16="http://schemas.microsoft.com/office/drawing/2014/main" id="{9521215D-020C-604F-A3DF-E8881DF92525}"/>
                </a:ext>
              </a:extLst>
            </p:cNvPr>
            <p:cNvCxnSpPr>
              <a:cxnSpLocks/>
            </p:cNvCxnSpPr>
            <p:nvPr/>
          </p:nvCxnSpPr>
          <p:spPr>
            <a:xfrm>
              <a:off x="6096000" y="1770866"/>
              <a:ext cx="0" cy="41353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矩形 14">
              <a:extLst>
                <a:ext uri="{FF2B5EF4-FFF2-40B4-BE49-F238E27FC236}">
                  <a16:creationId xmlns:a16="http://schemas.microsoft.com/office/drawing/2014/main" id="{4C6A8F8B-7FEC-EF0A-DD61-A77804A25CC6}"/>
                </a:ext>
              </a:extLst>
            </p:cNvPr>
            <p:cNvSpPr/>
            <p:nvPr/>
          </p:nvSpPr>
          <p:spPr>
            <a:xfrm>
              <a:off x="5175250" y="2205839"/>
              <a:ext cx="1841499" cy="36933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方正小标宋简体" panose="02010601030101010101" pitchFamily="2" charset="-122"/>
                  <a:ea typeface="方正小标宋简体" panose="02010601030101010101" pitchFamily="2" charset="-122"/>
                </a:rPr>
                <a:t>主问题求解</a:t>
              </a:r>
            </a:p>
          </p:txBody>
        </p:sp>
        <p:cxnSp>
          <p:nvCxnSpPr>
            <p:cNvPr id="19" name="直接箭头连接符 18">
              <a:extLst>
                <a:ext uri="{FF2B5EF4-FFF2-40B4-BE49-F238E27FC236}">
                  <a16:creationId xmlns:a16="http://schemas.microsoft.com/office/drawing/2014/main" id="{683EB6FC-68F4-8BDD-366E-9321768BEEBD}"/>
                </a:ext>
              </a:extLst>
            </p:cNvPr>
            <p:cNvCxnSpPr>
              <a:cxnSpLocks/>
            </p:cNvCxnSpPr>
            <p:nvPr/>
          </p:nvCxnSpPr>
          <p:spPr>
            <a:xfrm>
              <a:off x="6095999" y="2575171"/>
              <a:ext cx="0" cy="41353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0" name="矩形 19">
              <a:extLst>
                <a:ext uri="{FF2B5EF4-FFF2-40B4-BE49-F238E27FC236}">
                  <a16:creationId xmlns:a16="http://schemas.microsoft.com/office/drawing/2014/main" id="{DC2108E8-A399-C892-1D21-E8612AF433A3}"/>
                </a:ext>
              </a:extLst>
            </p:cNvPr>
            <p:cNvSpPr/>
            <p:nvPr/>
          </p:nvSpPr>
          <p:spPr>
            <a:xfrm>
              <a:off x="4952999" y="2988705"/>
              <a:ext cx="2286000" cy="36933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方正小标宋简体" panose="02010601030101010101" pitchFamily="2" charset="-122"/>
                  <a:ea typeface="方正小标宋简体" panose="02010601030101010101" pitchFamily="2" charset="-122"/>
                </a:rPr>
                <a:t>子问题求解与上界更新</a:t>
              </a:r>
            </a:p>
          </p:txBody>
        </p:sp>
        <p:cxnSp>
          <p:nvCxnSpPr>
            <p:cNvPr id="56" name="直接箭头连接符 55">
              <a:extLst>
                <a:ext uri="{FF2B5EF4-FFF2-40B4-BE49-F238E27FC236}">
                  <a16:creationId xmlns:a16="http://schemas.microsoft.com/office/drawing/2014/main" id="{3DF2E21B-EBD6-DF43-BEBC-9039100BEF6D}"/>
                </a:ext>
              </a:extLst>
            </p:cNvPr>
            <p:cNvCxnSpPr>
              <a:cxnSpLocks/>
            </p:cNvCxnSpPr>
            <p:nvPr/>
          </p:nvCxnSpPr>
          <p:spPr>
            <a:xfrm>
              <a:off x="6095999" y="3358037"/>
              <a:ext cx="0" cy="41353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7" name="矩形 56">
              <a:extLst>
                <a:ext uri="{FF2B5EF4-FFF2-40B4-BE49-F238E27FC236}">
                  <a16:creationId xmlns:a16="http://schemas.microsoft.com/office/drawing/2014/main" id="{7F47E04F-0798-6C6D-BA8E-AA1FC40D0C73}"/>
                </a:ext>
              </a:extLst>
            </p:cNvPr>
            <p:cNvSpPr/>
            <p:nvPr/>
          </p:nvSpPr>
          <p:spPr>
            <a:xfrm>
              <a:off x="5175250" y="3771571"/>
              <a:ext cx="1924049" cy="36933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方正小标宋简体" panose="02010601030101010101" pitchFamily="2" charset="-122"/>
                  <a:ea typeface="方正小标宋简体" panose="02010601030101010101" pitchFamily="2" charset="-122"/>
                </a:rPr>
                <a:t>割平面生成与添加</a:t>
              </a:r>
            </a:p>
          </p:txBody>
        </p:sp>
        <p:cxnSp>
          <p:nvCxnSpPr>
            <p:cNvPr id="58" name="直接箭头连接符 57">
              <a:extLst>
                <a:ext uri="{FF2B5EF4-FFF2-40B4-BE49-F238E27FC236}">
                  <a16:creationId xmlns:a16="http://schemas.microsoft.com/office/drawing/2014/main" id="{9761C983-0A78-5266-0C9A-1C2B88C96E67}"/>
                </a:ext>
              </a:extLst>
            </p:cNvPr>
            <p:cNvCxnSpPr>
              <a:cxnSpLocks/>
            </p:cNvCxnSpPr>
            <p:nvPr/>
          </p:nvCxnSpPr>
          <p:spPr>
            <a:xfrm>
              <a:off x="6095999" y="4140903"/>
              <a:ext cx="0" cy="41353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0" name="直接箭头连接符 59">
              <a:extLst>
                <a:ext uri="{FF2B5EF4-FFF2-40B4-BE49-F238E27FC236}">
                  <a16:creationId xmlns:a16="http://schemas.microsoft.com/office/drawing/2014/main" id="{9FB271DB-451C-F3A8-B347-8230C6D6A99E}"/>
                </a:ext>
              </a:extLst>
            </p:cNvPr>
            <p:cNvCxnSpPr>
              <a:cxnSpLocks/>
            </p:cNvCxnSpPr>
            <p:nvPr/>
          </p:nvCxnSpPr>
          <p:spPr>
            <a:xfrm>
              <a:off x="6095998" y="5160764"/>
              <a:ext cx="0" cy="51613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1" name="流程图: 决策 60">
              <a:extLst>
                <a:ext uri="{FF2B5EF4-FFF2-40B4-BE49-F238E27FC236}">
                  <a16:creationId xmlns:a16="http://schemas.microsoft.com/office/drawing/2014/main" id="{CA1F913E-9E95-AC5A-9682-1CFA1A807374}"/>
                </a:ext>
              </a:extLst>
            </p:cNvPr>
            <p:cNvSpPr/>
            <p:nvPr/>
          </p:nvSpPr>
          <p:spPr>
            <a:xfrm>
              <a:off x="4854843" y="4554437"/>
              <a:ext cx="2482311" cy="606327"/>
            </a:xfrm>
            <a:prstGeom prst="flowChartDecision">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latin typeface="方正小标宋简体" panose="02010601030101010101" pitchFamily="2" charset="-122"/>
                  <a:ea typeface="方正小标宋简体" panose="02010601030101010101" pitchFamily="2" charset="-122"/>
                </a:rPr>
                <a:t>检查收敛性</a:t>
              </a:r>
            </a:p>
          </p:txBody>
        </p:sp>
        <p:cxnSp>
          <p:nvCxnSpPr>
            <p:cNvPr id="62" name="直接连接符 61">
              <a:extLst>
                <a:ext uri="{FF2B5EF4-FFF2-40B4-BE49-F238E27FC236}">
                  <a16:creationId xmlns:a16="http://schemas.microsoft.com/office/drawing/2014/main" id="{81224281-8938-C690-E7E9-6A6AFB7FB1DA}"/>
                </a:ext>
              </a:extLst>
            </p:cNvPr>
            <p:cNvCxnSpPr>
              <a:cxnSpLocks/>
            </p:cNvCxnSpPr>
            <p:nvPr/>
          </p:nvCxnSpPr>
          <p:spPr>
            <a:xfrm>
              <a:off x="7319298" y="4857600"/>
              <a:ext cx="420433" cy="0"/>
            </a:xfrm>
            <a:prstGeom prst="line">
              <a:avLst/>
            </a:prstGeom>
          </p:spPr>
          <p:style>
            <a:lnRef idx="3">
              <a:schemeClr val="dk1"/>
            </a:lnRef>
            <a:fillRef idx="0">
              <a:schemeClr val="dk1"/>
            </a:fillRef>
            <a:effectRef idx="2">
              <a:schemeClr val="dk1"/>
            </a:effectRef>
            <a:fontRef idx="minor">
              <a:schemeClr val="tx1"/>
            </a:fontRef>
          </p:style>
        </p:cxnSp>
        <p:cxnSp>
          <p:nvCxnSpPr>
            <p:cNvPr id="63" name="直接连接符 62">
              <a:extLst>
                <a:ext uri="{FF2B5EF4-FFF2-40B4-BE49-F238E27FC236}">
                  <a16:creationId xmlns:a16="http://schemas.microsoft.com/office/drawing/2014/main" id="{83DF1BF8-70CB-CC5A-9138-02AAAD1000C6}"/>
                </a:ext>
              </a:extLst>
            </p:cNvPr>
            <p:cNvCxnSpPr>
              <a:cxnSpLocks/>
            </p:cNvCxnSpPr>
            <p:nvPr/>
          </p:nvCxnSpPr>
          <p:spPr>
            <a:xfrm flipV="1">
              <a:off x="7733296" y="2406086"/>
              <a:ext cx="0" cy="2451664"/>
            </a:xfrm>
            <a:prstGeom prst="line">
              <a:avLst/>
            </a:prstGeom>
          </p:spPr>
          <p:style>
            <a:lnRef idx="3">
              <a:schemeClr val="dk1"/>
            </a:lnRef>
            <a:fillRef idx="0">
              <a:schemeClr val="dk1"/>
            </a:fillRef>
            <a:effectRef idx="2">
              <a:schemeClr val="dk1"/>
            </a:effectRef>
            <a:fontRef idx="minor">
              <a:schemeClr val="tx1"/>
            </a:fontRef>
          </p:style>
        </p:cxnSp>
        <p:cxnSp>
          <p:nvCxnSpPr>
            <p:cNvPr id="64" name="直接箭头连接符 63">
              <a:extLst>
                <a:ext uri="{FF2B5EF4-FFF2-40B4-BE49-F238E27FC236}">
                  <a16:creationId xmlns:a16="http://schemas.microsoft.com/office/drawing/2014/main" id="{CA2E5973-A764-2D97-C283-FEA30FCE3519}"/>
                </a:ext>
              </a:extLst>
            </p:cNvPr>
            <p:cNvCxnSpPr>
              <a:cxnSpLocks/>
            </p:cNvCxnSpPr>
            <p:nvPr/>
          </p:nvCxnSpPr>
          <p:spPr>
            <a:xfrm flipH="1">
              <a:off x="7016749" y="2406086"/>
              <a:ext cx="71654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4" name="矩形: 圆角 73">
              <a:extLst>
                <a:ext uri="{FF2B5EF4-FFF2-40B4-BE49-F238E27FC236}">
                  <a16:creationId xmlns:a16="http://schemas.microsoft.com/office/drawing/2014/main" id="{720E527F-CBD3-70A2-711B-A97105141518}"/>
                </a:ext>
              </a:extLst>
            </p:cNvPr>
            <p:cNvSpPr/>
            <p:nvPr/>
          </p:nvSpPr>
          <p:spPr>
            <a:xfrm>
              <a:off x="5514975" y="5676900"/>
              <a:ext cx="1162050" cy="36933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方正小标宋简体" panose="02010601030101010101" pitchFamily="2" charset="-122"/>
                  <a:ea typeface="方正小标宋简体" panose="02010601030101010101" pitchFamily="2" charset="-122"/>
                </a:rPr>
                <a:t>终止</a:t>
              </a:r>
            </a:p>
          </p:txBody>
        </p:sp>
      </p:grpSp>
      <p:pic>
        <p:nvPicPr>
          <p:cNvPr id="84" name="图片 83">
            <a:extLst>
              <a:ext uri="{FF2B5EF4-FFF2-40B4-BE49-F238E27FC236}">
                <a16:creationId xmlns:a16="http://schemas.microsoft.com/office/drawing/2014/main" id="{1BCE92F4-458F-5492-8DF1-95A5753CC10B}"/>
              </a:ext>
            </a:extLst>
          </p:cNvPr>
          <p:cNvPicPr>
            <a:picLocks noChangeAspect="1"/>
          </p:cNvPicPr>
          <p:nvPr/>
        </p:nvPicPr>
        <p:blipFill>
          <a:blip r:embed="rId5"/>
          <a:stretch>
            <a:fillRect/>
          </a:stretch>
        </p:blipFill>
        <p:spPr>
          <a:xfrm>
            <a:off x="6540683" y="2003307"/>
            <a:ext cx="4130867" cy="3705881"/>
          </a:xfrm>
          <a:prstGeom prst="rect">
            <a:avLst/>
          </a:prstGeom>
          <a:ln>
            <a:noFill/>
          </a:ln>
          <a:effectLst>
            <a:outerShdw blurRad="190500" algn="tl" rotWithShape="0">
              <a:srgbClr val="000000">
                <a:alpha val="70000"/>
              </a:srgbClr>
            </a:outerShdw>
          </a:effectLst>
        </p:spPr>
      </p:pic>
      <p:sp>
        <p:nvSpPr>
          <p:cNvPr id="5" name="文本框 4">
            <a:extLst>
              <a:ext uri="{FF2B5EF4-FFF2-40B4-BE49-F238E27FC236}">
                <a16:creationId xmlns:a16="http://schemas.microsoft.com/office/drawing/2014/main" id="{C4727C72-5E7B-CD85-DDC8-FB9935E5CBCF}"/>
              </a:ext>
            </a:extLst>
          </p:cNvPr>
          <p:cNvSpPr txBox="1"/>
          <p:nvPr/>
        </p:nvSpPr>
        <p:spPr>
          <a:xfrm>
            <a:off x="2820418" y="5585472"/>
            <a:ext cx="528320" cy="307777"/>
          </a:xfrm>
          <a:prstGeom prst="rect">
            <a:avLst/>
          </a:prstGeom>
          <a:noFill/>
        </p:spPr>
        <p:txBody>
          <a:bodyPr wrap="square" rtlCol="0">
            <a:spAutoFit/>
          </a:bodyPr>
          <a:lstStyle/>
          <a:p>
            <a:r>
              <a:rPr lang="en-US" altLang="zh-CN" sz="1400">
                <a:latin typeface="方正小标宋简体" panose="02010601030101010101" pitchFamily="2" charset="-122"/>
                <a:ea typeface="方正小标宋简体" panose="02010601030101010101" pitchFamily="2" charset="-122"/>
              </a:rPr>
              <a:t>YES</a:t>
            </a:r>
            <a:endParaRPr lang="zh-CN" altLang="en-US" sz="1400">
              <a:latin typeface="方正小标宋简体" panose="02010601030101010101" pitchFamily="2" charset="-122"/>
              <a:ea typeface="方正小标宋简体" panose="02010601030101010101" pitchFamily="2" charset="-122"/>
            </a:endParaRPr>
          </a:p>
        </p:txBody>
      </p:sp>
      <p:sp>
        <p:nvSpPr>
          <p:cNvPr id="7" name="文本框 6">
            <a:extLst>
              <a:ext uri="{FF2B5EF4-FFF2-40B4-BE49-F238E27FC236}">
                <a16:creationId xmlns:a16="http://schemas.microsoft.com/office/drawing/2014/main" id="{8E9D8F19-4550-BA0A-C20B-F91AE97120E2}"/>
              </a:ext>
            </a:extLst>
          </p:cNvPr>
          <p:cNvSpPr txBox="1"/>
          <p:nvPr/>
        </p:nvSpPr>
        <p:spPr>
          <a:xfrm>
            <a:off x="5154831" y="3645969"/>
            <a:ext cx="528320" cy="307777"/>
          </a:xfrm>
          <a:prstGeom prst="rect">
            <a:avLst/>
          </a:prstGeom>
          <a:noFill/>
        </p:spPr>
        <p:txBody>
          <a:bodyPr wrap="square" rtlCol="0">
            <a:spAutoFit/>
          </a:bodyPr>
          <a:lstStyle/>
          <a:p>
            <a:r>
              <a:rPr lang="en-US" altLang="zh-CN" sz="1400">
                <a:latin typeface="方正小标宋简体" panose="02010601030101010101" pitchFamily="2" charset="-122"/>
                <a:ea typeface="方正小标宋简体" panose="02010601030101010101" pitchFamily="2" charset="-122"/>
              </a:rPr>
              <a:t>NO</a:t>
            </a:r>
            <a:endParaRPr lang="zh-CN" altLang="en-US" sz="1400">
              <a:latin typeface="方正小标宋简体" panose="02010601030101010101" pitchFamily="2" charset="-122"/>
              <a:ea typeface="方正小标宋简体" panose="02010601030101010101" pitchFamily="2" charset="-122"/>
            </a:endParaRPr>
          </a:p>
        </p:txBody>
      </p:sp>
    </p:spTree>
    <p:extLst>
      <p:ext uri="{BB962C8B-B14F-4D97-AF65-F5344CB8AC3E}">
        <p14:creationId xmlns:p14="http://schemas.microsoft.com/office/powerpoint/2010/main" val="225235734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BA146-3DDE-D5B7-C4A1-081AD6F01E78}"/>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F130D172-3DFA-7406-8BBA-B9BC33E901D5}"/>
              </a:ext>
            </a:extLst>
          </p:cNvPr>
          <p:cNvGrpSpPr/>
          <p:nvPr/>
        </p:nvGrpSpPr>
        <p:grpSpPr>
          <a:xfrm>
            <a:off x="1" y="-1"/>
            <a:ext cx="9144001" cy="858612"/>
            <a:chOff x="1" y="-1"/>
            <a:chExt cx="9144001" cy="858612"/>
          </a:xfrm>
        </p:grpSpPr>
        <p:sp>
          <p:nvSpPr>
            <p:cNvPr id="3" name="矩形 2">
              <a:extLst>
                <a:ext uri="{FF2B5EF4-FFF2-40B4-BE49-F238E27FC236}">
                  <a16:creationId xmlns:a16="http://schemas.microsoft.com/office/drawing/2014/main" id="{2E8D824F-591F-307A-1224-1D5C8FD3330F}"/>
                </a:ext>
              </a:extLst>
            </p:cNvPr>
            <p:cNvSpPr/>
            <p:nvPr/>
          </p:nvSpPr>
          <p:spPr>
            <a:xfrm rot="16200000">
              <a:off x="4142696" y="-4142696"/>
              <a:ext cx="858612" cy="9144001"/>
            </a:xfrm>
            <a:prstGeom prst="rect">
              <a:avLst/>
            </a:prstGeom>
            <a:gradFill flip="none" rotWithShape="1">
              <a:gsLst>
                <a:gs pos="20000">
                  <a:schemeClr val="accent1"/>
                </a:gs>
                <a:gs pos="95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文本框 3">
              <a:extLst>
                <a:ext uri="{FF2B5EF4-FFF2-40B4-BE49-F238E27FC236}">
                  <a16:creationId xmlns:a16="http://schemas.microsoft.com/office/drawing/2014/main" id="{CB8D92BF-54B5-D351-C05A-B05943DD1EC2}"/>
                </a:ext>
              </a:extLst>
            </p:cNvPr>
            <p:cNvSpPr txBox="1"/>
            <p:nvPr/>
          </p:nvSpPr>
          <p:spPr>
            <a:xfrm>
              <a:off x="187890" y="106138"/>
              <a:ext cx="4578263" cy="646331"/>
            </a:xfrm>
            <a:prstGeom prst="rect">
              <a:avLst/>
            </a:prstGeom>
            <a:noFill/>
          </p:spPr>
          <p:txBody>
            <a:bodyPr wrap="square" rtlCol="0">
              <a:spAutoFit/>
            </a:bodyPr>
            <a:lstStyle/>
            <a:p>
              <a:r>
                <a:rPr lang="zh-CN" altLang="en-US" sz="3600">
                  <a:solidFill>
                    <a:schemeClr val="bg1"/>
                  </a:solidFill>
                  <a:latin typeface="方正小标宋简体" panose="02010601030101010101" pitchFamily="2" charset="-122"/>
                  <a:ea typeface="方正小标宋简体" panose="02010601030101010101" pitchFamily="2" charset="-122"/>
                </a:rPr>
                <a:t>方法框架</a:t>
              </a:r>
              <a:r>
                <a:rPr lang="en-US" altLang="zh-CN" sz="3600">
                  <a:solidFill>
                    <a:schemeClr val="bg1"/>
                  </a:solidFill>
                  <a:latin typeface="方正小标宋简体" panose="02010601030101010101" pitchFamily="2" charset="-122"/>
                  <a:ea typeface="方正小标宋简体" panose="02010601030101010101" pitchFamily="2" charset="-122"/>
                </a:rPr>
                <a:t>—</a:t>
              </a:r>
              <a:r>
                <a:rPr lang="zh-CN" altLang="en-US" sz="3600">
                  <a:solidFill>
                    <a:schemeClr val="bg1"/>
                  </a:solidFill>
                  <a:latin typeface="方正小标宋简体" panose="02010601030101010101" pitchFamily="2" charset="-122"/>
                  <a:ea typeface="方正小标宋简体" panose="02010601030101010101" pitchFamily="2" charset="-122"/>
                </a:rPr>
                <a:t>优化算法</a:t>
              </a:r>
            </a:p>
          </p:txBody>
        </p:sp>
      </p:grpSp>
      <p:sp>
        <p:nvSpPr>
          <p:cNvPr id="6" name="文本框 5">
            <a:extLst>
              <a:ext uri="{FF2B5EF4-FFF2-40B4-BE49-F238E27FC236}">
                <a16:creationId xmlns:a16="http://schemas.microsoft.com/office/drawing/2014/main" id="{07F75D26-AEAE-4B38-0E8B-B9D6DD6E1FB9}"/>
              </a:ext>
            </a:extLst>
          </p:cNvPr>
          <p:cNvSpPr txBox="1"/>
          <p:nvPr/>
        </p:nvSpPr>
        <p:spPr>
          <a:xfrm>
            <a:off x="446461" y="964751"/>
            <a:ext cx="6097022" cy="369332"/>
          </a:xfrm>
          <a:prstGeom prst="rect">
            <a:avLst/>
          </a:prstGeom>
          <a:noFill/>
        </p:spPr>
        <p:txBody>
          <a:bodyPr wrap="square">
            <a:spAutoFit/>
          </a:bodyPr>
          <a:lstStyle/>
          <a:p>
            <a:pPr algn="l">
              <a:buNone/>
            </a:pPr>
            <a:r>
              <a:rPr lang="zh-CN" altLang="en-US" b="1" i="0">
                <a:effectLst/>
                <a:latin typeface="方正小标宋简体" panose="02010601030101010101" pitchFamily="2" charset="-122"/>
                <a:ea typeface="方正小标宋简体" panose="02010601030101010101" pitchFamily="2" charset="-122"/>
              </a:rPr>
              <a:t>初始化</a:t>
            </a:r>
          </a:p>
        </p:txBody>
      </p:sp>
      <p:pic>
        <p:nvPicPr>
          <p:cNvPr id="12" name="图片 11">
            <a:extLst>
              <a:ext uri="{FF2B5EF4-FFF2-40B4-BE49-F238E27FC236}">
                <a16:creationId xmlns:a16="http://schemas.microsoft.com/office/drawing/2014/main" id="{C6BEEEBB-6DEB-A932-5760-1A4A93E5AD46}"/>
              </a:ext>
            </a:extLst>
          </p:cNvPr>
          <p:cNvPicPr>
            <a:picLocks noChangeAspect="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r:embed="rId4">
                    <a14:imgEffect>
                      <a14:colorTemperature colorTemp="1500"/>
                    </a14:imgEffect>
                    <a14:imgEffect>
                      <a14:saturation sat="0"/>
                    </a14:imgEffect>
                  </a14:imgLayer>
                </a14:imgProps>
              </a:ext>
              <a:ext uri="{28A0092B-C50C-407E-A947-70E740481C1C}">
                <a14:useLocalDpi xmlns:a14="http://schemas.microsoft.com/office/drawing/2010/main" val="0"/>
              </a:ext>
            </a:extLst>
          </a:blip>
          <a:stretch>
            <a:fillRect/>
          </a:stretch>
        </p:blipFill>
        <p:spPr>
          <a:xfrm>
            <a:off x="9045810" y="106138"/>
            <a:ext cx="3070066" cy="596957"/>
          </a:xfrm>
          <a:prstGeom prst="rect">
            <a:avLst/>
          </a:prstGeom>
        </p:spPr>
      </p:pic>
      <p:sp>
        <p:nvSpPr>
          <p:cNvPr id="8" name="文本框 7">
            <a:extLst>
              <a:ext uri="{FF2B5EF4-FFF2-40B4-BE49-F238E27FC236}">
                <a16:creationId xmlns:a16="http://schemas.microsoft.com/office/drawing/2014/main" id="{F02AD130-A2D0-C56C-2B41-1F0F8125B9FF}"/>
              </a:ext>
            </a:extLst>
          </p:cNvPr>
          <p:cNvSpPr txBox="1"/>
          <p:nvPr/>
        </p:nvSpPr>
        <p:spPr>
          <a:xfrm>
            <a:off x="679450" y="1440223"/>
            <a:ext cx="2940050" cy="369332"/>
          </a:xfrm>
          <a:prstGeom prst="rect">
            <a:avLst/>
          </a:prstGeom>
          <a:noFill/>
        </p:spPr>
        <p:txBody>
          <a:bodyPr wrap="square">
            <a:spAutoFit/>
          </a:bodyPr>
          <a:lstStyle/>
          <a:p>
            <a:r>
              <a:rPr lang="zh-CN" altLang="en-US" b="1" i="0">
                <a:effectLst/>
                <a:latin typeface="方正小标宋简体" panose="02010601030101010101" pitchFamily="2" charset="-122"/>
                <a:ea typeface="方正小标宋简体" panose="02010601030101010101" pitchFamily="2" charset="-122"/>
              </a:rPr>
              <a:t>两阶段启发式算法 </a:t>
            </a:r>
            <a:r>
              <a:rPr lang="en-US" altLang="zh-CN" b="1" i="0">
                <a:effectLst/>
                <a:latin typeface="方正小标宋简体" panose="02010601030101010101" pitchFamily="2" charset="-122"/>
                <a:ea typeface="方正小标宋简体" panose="02010601030101010101" pitchFamily="2" charset="-122"/>
              </a:rPr>
              <a:t>(TSH)</a:t>
            </a:r>
            <a:endParaRPr lang="zh-CN" altLang="en-US">
              <a:latin typeface="方正小标宋简体" panose="02010601030101010101" pitchFamily="2" charset="-122"/>
              <a:ea typeface="方正小标宋简体" panose="02010601030101010101" pitchFamily="2" charset="-122"/>
            </a:endParaRPr>
          </a:p>
        </p:txBody>
      </p:sp>
      <p:sp>
        <p:nvSpPr>
          <p:cNvPr id="10" name="文本框 9">
            <a:extLst>
              <a:ext uri="{FF2B5EF4-FFF2-40B4-BE49-F238E27FC236}">
                <a16:creationId xmlns:a16="http://schemas.microsoft.com/office/drawing/2014/main" id="{207A445C-BB7C-6A33-A911-DCFEAC63178E}"/>
              </a:ext>
            </a:extLst>
          </p:cNvPr>
          <p:cNvSpPr txBox="1"/>
          <p:nvPr/>
        </p:nvSpPr>
        <p:spPr>
          <a:xfrm>
            <a:off x="1841650" y="2056884"/>
            <a:ext cx="2438400" cy="369332"/>
          </a:xfrm>
          <a:prstGeom prst="rect">
            <a:avLst/>
          </a:prstGeom>
          <a:noFill/>
        </p:spPr>
        <p:txBody>
          <a:bodyPr wrap="square">
            <a:spAutoFit/>
          </a:bodyPr>
          <a:lstStyle/>
          <a:p>
            <a:r>
              <a:rPr lang="zh-CN" altLang="en-US" b="1" i="0">
                <a:effectLst/>
                <a:latin typeface="方正小标宋简体" panose="02010601030101010101" pitchFamily="2" charset="-122"/>
                <a:ea typeface="方正小标宋简体" panose="02010601030101010101" pitchFamily="2" charset="-122"/>
              </a:rPr>
              <a:t>第一阶段：机器选址</a:t>
            </a:r>
            <a:endParaRPr lang="zh-CN" altLang="en-US">
              <a:latin typeface="方正小标宋简体" panose="02010601030101010101" pitchFamily="2" charset="-122"/>
              <a:ea typeface="方正小标宋简体" panose="02010601030101010101" pitchFamily="2" charset="-122"/>
            </a:endParaRPr>
          </a:p>
        </p:txBody>
      </p:sp>
      <p:pic>
        <p:nvPicPr>
          <p:cNvPr id="16" name="图片 15">
            <a:extLst>
              <a:ext uri="{FF2B5EF4-FFF2-40B4-BE49-F238E27FC236}">
                <a16:creationId xmlns:a16="http://schemas.microsoft.com/office/drawing/2014/main" id="{5D5AD072-3DFA-597B-E509-AE843DE1A558}"/>
              </a:ext>
            </a:extLst>
          </p:cNvPr>
          <p:cNvPicPr>
            <a:picLocks noChangeAspect="1"/>
          </p:cNvPicPr>
          <p:nvPr/>
        </p:nvPicPr>
        <p:blipFill>
          <a:blip r:embed="rId5"/>
          <a:stretch>
            <a:fillRect/>
          </a:stretch>
        </p:blipFill>
        <p:spPr>
          <a:xfrm>
            <a:off x="4940600" y="1624889"/>
            <a:ext cx="3924000" cy="1378071"/>
          </a:xfrm>
          <a:prstGeom prst="rect">
            <a:avLst/>
          </a:prstGeom>
          <a:ln>
            <a:noFill/>
          </a:ln>
          <a:effectLst>
            <a:outerShdw blurRad="190500" algn="tl" rotWithShape="0">
              <a:srgbClr val="000000">
                <a:alpha val="70000"/>
              </a:srgbClr>
            </a:outerShdw>
          </a:effectLst>
        </p:spPr>
      </p:pic>
      <p:sp>
        <p:nvSpPr>
          <p:cNvPr id="18" name="文本框 17">
            <a:extLst>
              <a:ext uri="{FF2B5EF4-FFF2-40B4-BE49-F238E27FC236}">
                <a16:creationId xmlns:a16="http://schemas.microsoft.com/office/drawing/2014/main" id="{22B9FDDA-1C18-8CD1-1F61-D5CE196C65F6}"/>
              </a:ext>
            </a:extLst>
          </p:cNvPr>
          <p:cNvSpPr txBox="1"/>
          <p:nvPr/>
        </p:nvSpPr>
        <p:spPr>
          <a:xfrm>
            <a:off x="1733550" y="4062453"/>
            <a:ext cx="3352800" cy="369332"/>
          </a:xfrm>
          <a:prstGeom prst="rect">
            <a:avLst/>
          </a:prstGeom>
          <a:noFill/>
        </p:spPr>
        <p:txBody>
          <a:bodyPr wrap="square">
            <a:spAutoFit/>
          </a:bodyPr>
          <a:lstStyle/>
          <a:p>
            <a:r>
              <a:rPr lang="zh-CN" altLang="en-US" b="1" i="0">
                <a:effectLst/>
                <a:latin typeface="方正小标宋简体" panose="02010601030101010101" pitchFamily="2" charset="-122"/>
                <a:ea typeface="方正小标宋简体" panose="02010601030101010101" pitchFamily="2" charset="-122"/>
              </a:rPr>
              <a:t>第二阶段：作业分配与排序</a:t>
            </a:r>
            <a:endParaRPr lang="zh-CN" altLang="en-US">
              <a:latin typeface="方正小标宋简体" panose="02010601030101010101" pitchFamily="2" charset="-122"/>
              <a:ea typeface="方正小标宋简体" panose="02010601030101010101" pitchFamily="2" charset="-122"/>
            </a:endParaRPr>
          </a:p>
        </p:txBody>
      </p:sp>
      <p:pic>
        <p:nvPicPr>
          <p:cNvPr id="22" name="图片 21">
            <a:extLst>
              <a:ext uri="{FF2B5EF4-FFF2-40B4-BE49-F238E27FC236}">
                <a16:creationId xmlns:a16="http://schemas.microsoft.com/office/drawing/2014/main" id="{BD2A598D-CAFB-0338-AB1B-CDF541DB1C54}"/>
              </a:ext>
            </a:extLst>
          </p:cNvPr>
          <p:cNvPicPr>
            <a:picLocks noChangeAspect="1"/>
          </p:cNvPicPr>
          <p:nvPr/>
        </p:nvPicPr>
        <p:blipFill>
          <a:blip r:embed="rId6"/>
          <a:stretch>
            <a:fillRect/>
          </a:stretch>
        </p:blipFill>
        <p:spPr>
          <a:xfrm>
            <a:off x="5314950" y="3293766"/>
            <a:ext cx="3053403" cy="3085817"/>
          </a:xfrm>
          <a:prstGeom prst="rect">
            <a:avLst/>
          </a:prstGeom>
          <a:ln>
            <a:noFill/>
          </a:ln>
          <a:effectLst>
            <a:outerShdw blurRad="190500" algn="tl" rotWithShape="0">
              <a:srgbClr val="000000">
                <a:alpha val="70000"/>
              </a:srgbClr>
            </a:outerShdw>
          </a:effectLst>
        </p:spPr>
      </p:pic>
      <p:sp>
        <p:nvSpPr>
          <p:cNvPr id="5" name="文本框 4">
            <a:extLst>
              <a:ext uri="{FF2B5EF4-FFF2-40B4-BE49-F238E27FC236}">
                <a16:creationId xmlns:a16="http://schemas.microsoft.com/office/drawing/2014/main" id="{66792DD2-ED1B-6852-66A9-A525DAA2163C}"/>
              </a:ext>
            </a:extLst>
          </p:cNvPr>
          <p:cNvSpPr txBox="1"/>
          <p:nvPr/>
        </p:nvSpPr>
        <p:spPr>
          <a:xfrm>
            <a:off x="8515350" y="2426216"/>
            <a:ext cx="1606850" cy="369332"/>
          </a:xfrm>
          <a:prstGeom prst="rect">
            <a:avLst/>
          </a:prstGeom>
          <a:solidFill>
            <a:schemeClr val="bg1"/>
          </a:solidFill>
        </p:spPr>
        <p:txBody>
          <a:bodyPr wrap="square" rtlCol="0">
            <a:spAutoFit/>
          </a:bodyPr>
          <a:lstStyle/>
          <a:p>
            <a:r>
              <a:rPr lang="zh-CN" altLang="en-US">
                <a:latin typeface="方正小标宋简体" panose="02010601030101010101" pitchFamily="2" charset="-122"/>
                <a:ea typeface="方正小标宋简体" panose="02010601030101010101" pitchFamily="2" charset="-122"/>
              </a:rPr>
              <a:t>负载平衡约束</a:t>
            </a:r>
          </a:p>
        </p:txBody>
      </p:sp>
      <p:sp>
        <p:nvSpPr>
          <p:cNvPr id="7" name="文本框 6">
            <a:extLst>
              <a:ext uri="{FF2B5EF4-FFF2-40B4-BE49-F238E27FC236}">
                <a16:creationId xmlns:a16="http://schemas.microsoft.com/office/drawing/2014/main" id="{BC44D6C3-F1BF-1912-7C67-EA0F8D0F5E41}"/>
              </a:ext>
            </a:extLst>
          </p:cNvPr>
          <p:cNvSpPr txBox="1"/>
          <p:nvPr/>
        </p:nvSpPr>
        <p:spPr>
          <a:xfrm>
            <a:off x="8864600" y="3826025"/>
            <a:ext cx="1751798" cy="369332"/>
          </a:xfrm>
          <a:prstGeom prst="rect">
            <a:avLst/>
          </a:prstGeom>
          <a:noFill/>
        </p:spPr>
        <p:txBody>
          <a:bodyPr wrap="square" rtlCol="0">
            <a:spAutoFit/>
          </a:bodyPr>
          <a:lstStyle/>
          <a:p>
            <a:r>
              <a:rPr lang="zh-CN" altLang="en-US">
                <a:latin typeface="方正小标宋简体" panose="02010601030101010101" pitchFamily="2" charset="-122"/>
                <a:ea typeface="方正小标宋简体" panose="02010601030101010101" pitchFamily="2" charset="-122"/>
              </a:rPr>
              <a:t>构造性分配</a:t>
            </a:r>
          </a:p>
        </p:txBody>
      </p:sp>
      <p:sp>
        <p:nvSpPr>
          <p:cNvPr id="9" name="文本框 8">
            <a:extLst>
              <a:ext uri="{FF2B5EF4-FFF2-40B4-BE49-F238E27FC236}">
                <a16:creationId xmlns:a16="http://schemas.microsoft.com/office/drawing/2014/main" id="{87039ED1-D7D8-EB36-5259-9A6B8543937A}"/>
              </a:ext>
            </a:extLst>
          </p:cNvPr>
          <p:cNvSpPr txBox="1"/>
          <p:nvPr/>
        </p:nvSpPr>
        <p:spPr>
          <a:xfrm>
            <a:off x="8864600" y="5387755"/>
            <a:ext cx="1751798" cy="369332"/>
          </a:xfrm>
          <a:prstGeom prst="rect">
            <a:avLst/>
          </a:prstGeom>
          <a:noFill/>
        </p:spPr>
        <p:txBody>
          <a:bodyPr wrap="square" rtlCol="0">
            <a:spAutoFit/>
          </a:bodyPr>
          <a:lstStyle/>
          <a:p>
            <a:r>
              <a:rPr lang="zh-CN" altLang="en-US">
                <a:latin typeface="方正小标宋简体" panose="02010601030101010101" pitchFamily="2" charset="-122"/>
                <a:ea typeface="方正小标宋简体" panose="02010601030101010101" pitchFamily="2" charset="-122"/>
              </a:rPr>
              <a:t>局部搜索改进</a:t>
            </a:r>
          </a:p>
        </p:txBody>
      </p:sp>
      <p:sp>
        <p:nvSpPr>
          <p:cNvPr id="11" name="左大括号 10">
            <a:extLst>
              <a:ext uri="{FF2B5EF4-FFF2-40B4-BE49-F238E27FC236}">
                <a16:creationId xmlns:a16="http://schemas.microsoft.com/office/drawing/2014/main" id="{A52E5B1A-948C-136B-4C38-8E51A01DEC9D}"/>
              </a:ext>
            </a:extLst>
          </p:cNvPr>
          <p:cNvSpPr/>
          <p:nvPr/>
        </p:nvSpPr>
        <p:spPr>
          <a:xfrm>
            <a:off x="8515350" y="3804287"/>
            <a:ext cx="342510" cy="1952800"/>
          </a:xfrm>
          <a:prstGeom prst="leftBrace">
            <a:avLst>
              <a:gd name="adj1" fmla="val 123552"/>
              <a:gd name="adj2" fmla="val 50000"/>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759368717"/>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FC688-9FCB-7438-A163-7F4C3025E601}"/>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88F3D2E-A5AC-5FD7-70FA-F50F859CB684}"/>
              </a:ext>
            </a:extLst>
          </p:cNvPr>
          <p:cNvGrpSpPr/>
          <p:nvPr/>
        </p:nvGrpSpPr>
        <p:grpSpPr>
          <a:xfrm>
            <a:off x="1" y="-1"/>
            <a:ext cx="9144001" cy="858612"/>
            <a:chOff x="1" y="-1"/>
            <a:chExt cx="9144001" cy="858612"/>
          </a:xfrm>
        </p:grpSpPr>
        <p:sp>
          <p:nvSpPr>
            <p:cNvPr id="3" name="矩形 2">
              <a:extLst>
                <a:ext uri="{FF2B5EF4-FFF2-40B4-BE49-F238E27FC236}">
                  <a16:creationId xmlns:a16="http://schemas.microsoft.com/office/drawing/2014/main" id="{80EAFEE0-BEF7-1BCE-4BF1-8E58191C9556}"/>
                </a:ext>
              </a:extLst>
            </p:cNvPr>
            <p:cNvSpPr/>
            <p:nvPr/>
          </p:nvSpPr>
          <p:spPr>
            <a:xfrm rot="16200000">
              <a:off x="4142696" y="-4142696"/>
              <a:ext cx="858612" cy="9144001"/>
            </a:xfrm>
            <a:prstGeom prst="rect">
              <a:avLst/>
            </a:prstGeom>
            <a:gradFill flip="none" rotWithShape="1">
              <a:gsLst>
                <a:gs pos="20000">
                  <a:schemeClr val="accent1"/>
                </a:gs>
                <a:gs pos="95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文本框 3">
              <a:extLst>
                <a:ext uri="{FF2B5EF4-FFF2-40B4-BE49-F238E27FC236}">
                  <a16:creationId xmlns:a16="http://schemas.microsoft.com/office/drawing/2014/main" id="{9523DC11-5563-0A56-DA0F-AA560F084ADA}"/>
                </a:ext>
              </a:extLst>
            </p:cNvPr>
            <p:cNvSpPr txBox="1"/>
            <p:nvPr/>
          </p:nvSpPr>
          <p:spPr>
            <a:xfrm>
              <a:off x="187890" y="106138"/>
              <a:ext cx="4578263" cy="646331"/>
            </a:xfrm>
            <a:prstGeom prst="rect">
              <a:avLst/>
            </a:prstGeom>
            <a:noFill/>
          </p:spPr>
          <p:txBody>
            <a:bodyPr wrap="square" rtlCol="0">
              <a:spAutoFit/>
            </a:bodyPr>
            <a:lstStyle/>
            <a:p>
              <a:r>
                <a:rPr lang="zh-CN" altLang="en-US" sz="3600">
                  <a:solidFill>
                    <a:schemeClr val="bg1"/>
                  </a:solidFill>
                  <a:latin typeface="方正小标宋简体" panose="02010601030101010101" pitchFamily="2" charset="-122"/>
                  <a:ea typeface="方正小标宋简体" panose="02010601030101010101" pitchFamily="2" charset="-122"/>
                </a:rPr>
                <a:t>方法框架</a:t>
              </a:r>
              <a:r>
                <a:rPr lang="en-US" altLang="zh-CN" sz="3600">
                  <a:solidFill>
                    <a:schemeClr val="bg1"/>
                  </a:solidFill>
                  <a:latin typeface="方正小标宋简体" panose="02010601030101010101" pitchFamily="2" charset="-122"/>
                  <a:ea typeface="方正小标宋简体" panose="02010601030101010101" pitchFamily="2" charset="-122"/>
                </a:rPr>
                <a:t>—</a:t>
              </a:r>
              <a:r>
                <a:rPr lang="zh-CN" altLang="en-US" sz="3600">
                  <a:solidFill>
                    <a:schemeClr val="bg1"/>
                  </a:solidFill>
                  <a:latin typeface="方正小标宋简体" panose="02010601030101010101" pitchFamily="2" charset="-122"/>
                  <a:ea typeface="方正小标宋简体" panose="02010601030101010101" pitchFamily="2" charset="-122"/>
                </a:rPr>
                <a:t>优化算法</a:t>
              </a:r>
            </a:p>
          </p:txBody>
        </p:sp>
      </p:grpSp>
      <p:sp>
        <p:nvSpPr>
          <p:cNvPr id="6" name="文本框 5">
            <a:extLst>
              <a:ext uri="{FF2B5EF4-FFF2-40B4-BE49-F238E27FC236}">
                <a16:creationId xmlns:a16="http://schemas.microsoft.com/office/drawing/2014/main" id="{CD09A981-2D89-9E70-A4C2-052EC42C2EBE}"/>
              </a:ext>
            </a:extLst>
          </p:cNvPr>
          <p:cNvSpPr txBox="1"/>
          <p:nvPr/>
        </p:nvSpPr>
        <p:spPr>
          <a:xfrm>
            <a:off x="2248676" y="1776945"/>
            <a:ext cx="6097022" cy="461665"/>
          </a:xfrm>
          <a:prstGeom prst="rect">
            <a:avLst/>
          </a:prstGeom>
          <a:noFill/>
        </p:spPr>
        <p:txBody>
          <a:bodyPr wrap="square">
            <a:spAutoFit/>
          </a:bodyPr>
          <a:lstStyle/>
          <a:p>
            <a:pPr algn="l">
              <a:buNone/>
            </a:pPr>
            <a:r>
              <a:rPr lang="zh-CN" altLang="en-US" sz="2400" b="1">
                <a:latin typeface="方正小标宋简体" panose="02010601030101010101" pitchFamily="2" charset="-122"/>
                <a:ea typeface="方正小标宋简体" panose="02010601030101010101" pitchFamily="2" charset="-122"/>
              </a:rPr>
              <a:t>主问题求解</a:t>
            </a:r>
            <a:endParaRPr lang="zh-CN" altLang="en-US" sz="2400" b="1" i="0">
              <a:effectLst/>
              <a:latin typeface="方正小标宋简体" panose="02010601030101010101" pitchFamily="2" charset="-122"/>
              <a:ea typeface="方正小标宋简体" panose="02010601030101010101" pitchFamily="2" charset="-122"/>
            </a:endParaRPr>
          </a:p>
        </p:txBody>
      </p:sp>
      <p:pic>
        <p:nvPicPr>
          <p:cNvPr id="12" name="图片 11">
            <a:extLst>
              <a:ext uri="{FF2B5EF4-FFF2-40B4-BE49-F238E27FC236}">
                <a16:creationId xmlns:a16="http://schemas.microsoft.com/office/drawing/2014/main" id="{4B840F0A-488A-3BAD-76A6-DF3837D24BBE}"/>
              </a:ext>
            </a:extLst>
          </p:cNvPr>
          <p:cNvPicPr>
            <a:picLocks noChangeAspect="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r:embed="rId4">
                    <a14:imgEffect>
                      <a14:colorTemperature colorTemp="1500"/>
                    </a14:imgEffect>
                    <a14:imgEffect>
                      <a14:saturation sat="0"/>
                    </a14:imgEffect>
                  </a14:imgLayer>
                </a14:imgProps>
              </a:ext>
              <a:ext uri="{28A0092B-C50C-407E-A947-70E740481C1C}">
                <a14:useLocalDpi xmlns:a14="http://schemas.microsoft.com/office/drawing/2010/main" val="0"/>
              </a:ext>
            </a:extLst>
          </a:blip>
          <a:stretch>
            <a:fillRect/>
          </a:stretch>
        </p:blipFill>
        <p:spPr>
          <a:xfrm>
            <a:off x="9045810" y="106138"/>
            <a:ext cx="3070066" cy="596957"/>
          </a:xfrm>
          <a:prstGeom prst="rect">
            <a:avLst/>
          </a:prstGeom>
        </p:spPr>
      </p:pic>
      <p:pic>
        <p:nvPicPr>
          <p:cNvPr id="8" name="图片 7">
            <a:extLst>
              <a:ext uri="{FF2B5EF4-FFF2-40B4-BE49-F238E27FC236}">
                <a16:creationId xmlns:a16="http://schemas.microsoft.com/office/drawing/2014/main" id="{536FF0B2-0398-D987-CD68-516D6FF4B008}"/>
              </a:ext>
            </a:extLst>
          </p:cNvPr>
          <p:cNvPicPr>
            <a:picLocks noChangeAspect="1"/>
          </p:cNvPicPr>
          <p:nvPr/>
        </p:nvPicPr>
        <p:blipFill>
          <a:blip r:embed="rId5"/>
          <a:stretch>
            <a:fillRect/>
          </a:stretch>
        </p:blipFill>
        <p:spPr>
          <a:xfrm>
            <a:off x="7089918" y="2759790"/>
            <a:ext cx="4108170" cy="2574105"/>
          </a:xfrm>
          <a:prstGeom prst="rect">
            <a:avLst/>
          </a:prstGeom>
          <a:ln>
            <a:noFill/>
          </a:ln>
          <a:effectLst>
            <a:outerShdw blurRad="190500" algn="tl" rotWithShape="0">
              <a:srgbClr val="000000">
                <a:alpha val="70000"/>
              </a:srgbClr>
            </a:outerShdw>
          </a:effectLst>
        </p:spPr>
      </p:pic>
      <p:grpSp>
        <p:nvGrpSpPr>
          <p:cNvPr id="13" name="组合 12">
            <a:extLst>
              <a:ext uri="{FF2B5EF4-FFF2-40B4-BE49-F238E27FC236}">
                <a16:creationId xmlns:a16="http://schemas.microsoft.com/office/drawing/2014/main" id="{A16C3D09-B622-5521-2ADB-9C560238CCBD}"/>
              </a:ext>
            </a:extLst>
          </p:cNvPr>
          <p:cNvGrpSpPr/>
          <p:nvPr/>
        </p:nvGrpSpPr>
        <p:grpSpPr>
          <a:xfrm>
            <a:off x="7608013" y="1657770"/>
            <a:ext cx="6096000" cy="752471"/>
            <a:chOff x="6847617" y="964751"/>
            <a:chExt cx="6096000" cy="752471"/>
          </a:xfrm>
        </p:grpSpPr>
        <p:sp>
          <p:nvSpPr>
            <p:cNvPr id="5" name="文本框 4">
              <a:extLst>
                <a:ext uri="{FF2B5EF4-FFF2-40B4-BE49-F238E27FC236}">
                  <a16:creationId xmlns:a16="http://schemas.microsoft.com/office/drawing/2014/main" id="{E91873A2-87CC-0F14-4936-14606225BFF4}"/>
                </a:ext>
              </a:extLst>
            </p:cNvPr>
            <p:cNvSpPr txBox="1"/>
            <p:nvPr/>
          </p:nvSpPr>
          <p:spPr>
            <a:xfrm>
              <a:off x="6847617" y="964751"/>
              <a:ext cx="2717800" cy="646331"/>
            </a:xfrm>
            <a:prstGeom prst="rect">
              <a:avLst/>
            </a:prstGeom>
            <a:noFill/>
          </p:spPr>
          <p:txBody>
            <a:bodyPr wrap="square">
              <a:spAutoFit/>
            </a:bodyPr>
            <a:lstStyle/>
            <a:p>
              <a:r>
                <a:rPr lang="zh-CN" altLang="en-US" b="1">
                  <a:latin typeface="方正小标宋简体" panose="02010601030101010101" pitchFamily="2" charset="-122"/>
                  <a:ea typeface="方正小标宋简体" panose="02010601030101010101" pitchFamily="2" charset="-122"/>
                </a:rPr>
                <a:t>子问题求解与上界更新</a:t>
              </a:r>
              <a:r>
                <a:rPr lang="zh-CN" altLang="en-US" b="1" i="0">
                  <a:solidFill>
                    <a:srgbClr val="FFFFFF"/>
                  </a:solidFill>
                  <a:effectLst/>
                  <a:latin typeface="方正小标宋简体" panose="02010601030101010101" pitchFamily="2" charset="-122"/>
                  <a:ea typeface="方正小标宋简体" panose="02010601030101010101" pitchFamily="2" charset="-122"/>
                </a:rPr>
                <a:t>子问题求解与上界更新</a:t>
              </a:r>
              <a:endParaRPr lang="zh-CN" altLang="en-US">
                <a:latin typeface="方正小标宋简体" panose="02010601030101010101" pitchFamily="2" charset="-122"/>
                <a:ea typeface="方正小标宋简体" panose="02010601030101010101" pitchFamily="2" charset="-122"/>
              </a:endParaRPr>
            </a:p>
          </p:txBody>
        </p:sp>
        <p:sp>
          <p:nvSpPr>
            <p:cNvPr id="9" name="文本框 8">
              <a:extLst>
                <a:ext uri="{FF2B5EF4-FFF2-40B4-BE49-F238E27FC236}">
                  <a16:creationId xmlns:a16="http://schemas.microsoft.com/office/drawing/2014/main" id="{2A2EF376-0274-654B-CCD3-A7FB4074AA67}"/>
                </a:ext>
              </a:extLst>
            </p:cNvPr>
            <p:cNvSpPr txBox="1"/>
            <p:nvPr/>
          </p:nvSpPr>
          <p:spPr>
            <a:xfrm>
              <a:off x="6847617" y="1347890"/>
              <a:ext cx="6096000" cy="369332"/>
            </a:xfrm>
            <a:prstGeom prst="rect">
              <a:avLst/>
            </a:prstGeom>
            <a:noFill/>
          </p:spPr>
          <p:txBody>
            <a:bodyPr wrap="square">
              <a:spAutoFit/>
            </a:bodyPr>
            <a:lstStyle/>
            <a:p>
              <a:r>
                <a:rPr lang="en-US" altLang="zh-CN" i="0">
                  <a:effectLst/>
                  <a:latin typeface="方正小标宋简体" panose="02010601030101010101" pitchFamily="2" charset="-122"/>
                  <a:ea typeface="方正小标宋简体" panose="02010601030101010101" pitchFamily="2" charset="-122"/>
                </a:rPr>
                <a:t>ERD</a:t>
              </a:r>
              <a:r>
                <a:rPr lang="zh-CN" altLang="en-US" i="0">
                  <a:effectLst/>
                  <a:latin typeface="方正小标宋简体" panose="02010601030101010101" pitchFamily="2" charset="-122"/>
                  <a:ea typeface="方正小标宋简体" panose="02010601030101010101" pitchFamily="2" charset="-122"/>
                </a:rPr>
                <a:t>规则的最优求解（算法</a:t>
              </a:r>
              <a:r>
                <a:rPr lang="en-US" altLang="zh-CN" i="0">
                  <a:effectLst/>
                  <a:latin typeface="方正小标宋简体" panose="02010601030101010101" pitchFamily="2" charset="-122"/>
                  <a:ea typeface="方正小标宋简体" panose="02010601030101010101" pitchFamily="2" charset="-122"/>
                </a:rPr>
                <a:t>3</a:t>
              </a:r>
              <a:r>
                <a:rPr lang="zh-CN" altLang="en-US" i="0">
                  <a:effectLst/>
                  <a:latin typeface="方正小标宋简体" panose="02010601030101010101" pitchFamily="2" charset="-122"/>
                  <a:ea typeface="方正小标宋简体" panose="02010601030101010101" pitchFamily="2" charset="-122"/>
                </a:rPr>
                <a:t>）</a:t>
              </a:r>
              <a:endParaRPr lang="zh-CN" altLang="en-US">
                <a:latin typeface="方正小标宋简体" panose="02010601030101010101" pitchFamily="2" charset="-122"/>
                <a:ea typeface="方正小标宋简体" panose="02010601030101010101" pitchFamily="2" charset="-122"/>
              </a:endParaRPr>
            </a:p>
          </p:txBody>
        </p:sp>
      </p:grpSp>
      <p:grpSp>
        <p:nvGrpSpPr>
          <p:cNvPr id="11" name="组合 10">
            <a:extLst>
              <a:ext uri="{FF2B5EF4-FFF2-40B4-BE49-F238E27FC236}">
                <a16:creationId xmlns:a16="http://schemas.microsoft.com/office/drawing/2014/main" id="{AF00BBC2-BA9A-811A-4953-F0F140D5344A}"/>
              </a:ext>
            </a:extLst>
          </p:cNvPr>
          <p:cNvGrpSpPr/>
          <p:nvPr/>
        </p:nvGrpSpPr>
        <p:grpSpPr>
          <a:xfrm>
            <a:off x="590840" y="2759790"/>
            <a:ext cx="5376823" cy="2574105"/>
            <a:chOff x="446461" y="2082982"/>
            <a:chExt cx="4592153" cy="2251637"/>
          </a:xfrm>
        </p:grpSpPr>
        <p:pic>
          <p:nvPicPr>
            <p:cNvPr id="7" name="图片 6">
              <a:extLst>
                <a:ext uri="{FF2B5EF4-FFF2-40B4-BE49-F238E27FC236}">
                  <a16:creationId xmlns:a16="http://schemas.microsoft.com/office/drawing/2014/main" id="{70744ED2-1E89-590F-02E1-F2760CD1D160}"/>
                </a:ext>
              </a:extLst>
            </p:cNvPr>
            <p:cNvPicPr>
              <a:picLocks noChangeAspect="1"/>
            </p:cNvPicPr>
            <p:nvPr/>
          </p:nvPicPr>
          <p:blipFill>
            <a:blip r:embed="rId6"/>
            <a:stretch>
              <a:fillRect/>
            </a:stretch>
          </p:blipFill>
          <p:spPr>
            <a:xfrm>
              <a:off x="446461" y="2082982"/>
              <a:ext cx="4592153" cy="2251637"/>
            </a:xfrm>
            <a:prstGeom prst="rect">
              <a:avLst/>
            </a:prstGeom>
            <a:ln>
              <a:noFill/>
            </a:ln>
            <a:effectLst>
              <a:outerShdw blurRad="190500" algn="tl" rotWithShape="0">
                <a:srgbClr val="000000">
                  <a:alpha val="70000"/>
                </a:srgbClr>
              </a:outerShdw>
            </a:effectLst>
          </p:spPr>
        </p:pic>
        <p:sp>
          <p:nvSpPr>
            <p:cNvPr id="10" name="椭圆 9">
              <a:extLst>
                <a:ext uri="{FF2B5EF4-FFF2-40B4-BE49-F238E27FC236}">
                  <a16:creationId xmlns:a16="http://schemas.microsoft.com/office/drawing/2014/main" id="{FD5F8794-9537-1079-600A-61795775A499}"/>
                </a:ext>
              </a:extLst>
            </p:cNvPr>
            <p:cNvSpPr/>
            <p:nvPr/>
          </p:nvSpPr>
          <p:spPr>
            <a:xfrm>
              <a:off x="914400" y="3429000"/>
              <a:ext cx="921890" cy="421105"/>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667552697"/>
      </p:ext>
    </p:extLst>
  </p:cSld>
  <p:clrMapOvr>
    <a:masterClrMapping/>
  </p:clrMapOvr>
  <p:transition spd="slow">
    <p:wipe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1453F-6648-64C7-432D-6465289549A4}"/>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74225817-7F87-0D73-B83E-78034A736C33}"/>
              </a:ext>
            </a:extLst>
          </p:cNvPr>
          <p:cNvGrpSpPr/>
          <p:nvPr/>
        </p:nvGrpSpPr>
        <p:grpSpPr>
          <a:xfrm>
            <a:off x="1" y="-1"/>
            <a:ext cx="9144001" cy="858612"/>
            <a:chOff x="1" y="-1"/>
            <a:chExt cx="9144001" cy="858612"/>
          </a:xfrm>
        </p:grpSpPr>
        <p:sp>
          <p:nvSpPr>
            <p:cNvPr id="3" name="矩形 2">
              <a:extLst>
                <a:ext uri="{FF2B5EF4-FFF2-40B4-BE49-F238E27FC236}">
                  <a16:creationId xmlns:a16="http://schemas.microsoft.com/office/drawing/2014/main" id="{C55C7FC3-295F-4B66-57AC-EC0ED603D880}"/>
                </a:ext>
              </a:extLst>
            </p:cNvPr>
            <p:cNvSpPr/>
            <p:nvPr/>
          </p:nvSpPr>
          <p:spPr>
            <a:xfrm rot="16200000">
              <a:off x="4142696" y="-4142696"/>
              <a:ext cx="858612" cy="9144001"/>
            </a:xfrm>
            <a:prstGeom prst="rect">
              <a:avLst/>
            </a:prstGeom>
            <a:gradFill flip="none" rotWithShape="1">
              <a:gsLst>
                <a:gs pos="20000">
                  <a:schemeClr val="accent1"/>
                </a:gs>
                <a:gs pos="95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文本框 3">
              <a:extLst>
                <a:ext uri="{FF2B5EF4-FFF2-40B4-BE49-F238E27FC236}">
                  <a16:creationId xmlns:a16="http://schemas.microsoft.com/office/drawing/2014/main" id="{EBF4C619-B671-F7FA-3FAD-406EF7D77118}"/>
                </a:ext>
              </a:extLst>
            </p:cNvPr>
            <p:cNvSpPr txBox="1"/>
            <p:nvPr/>
          </p:nvSpPr>
          <p:spPr>
            <a:xfrm>
              <a:off x="187890" y="106138"/>
              <a:ext cx="4578263" cy="646331"/>
            </a:xfrm>
            <a:prstGeom prst="rect">
              <a:avLst/>
            </a:prstGeom>
            <a:noFill/>
          </p:spPr>
          <p:txBody>
            <a:bodyPr wrap="square" rtlCol="0">
              <a:spAutoFit/>
            </a:bodyPr>
            <a:lstStyle/>
            <a:p>
              <a:r>
                <a:rPr lang="zh-CN" altLang="en-US" sz="3600">
                  <a:solidFill>
                    <a:schemeClr val="bg1"/>
                  </a:solidFill>
                  <a:latin typeface="方正小标宋简体" panose="02010601030101010101" pitchFamily="2" charset="-122"/>
                  <a:ea typeface="方正小标宋简体" panose="02010601030101010101" pitchFamily="2" charset="-122"/>
                </a:rPr>
                <a:t>方法框架</a:t>
              </a:r>
              <a:r>
                <a:rPr lang="en-US" altLang="zh-CN" sz="3600">
                  <a:solidFill>
                    <a:schemeClr val="bg1"/>
                  </a:solidFill>
                  <a:latin typeface="方正小标宋简体" panose="02010601030101010101" pitchFamily="2" charset="-122"/>
                  <a:ea typeface="方正小标宋简体" panose="02010601030101010101" pitchFamily="2" charset="-122"/>
                </a:rPr>
                <a:t>—</a:t>
              </a:r>
              <a:r>
                <a:rPr lang="zh-CN" altLang="en-US" sz="3600">
                  <a:solidFill>
                    <a:schemeClr val="bg1"/>
                  </a:solidFill>
                  <a:latin typeface="方正小标宋简体" panose="02010601030101010101" pitchFamily="2" charset="-122"/>
                  <a:ea typeface="方正小标宋简体" panose="02010601030101010101" pitchFamily="2" charset="-122"/>
                </a:rPr>
                <a:t>优化算法</a:t>
              </a:r>
            </a:p>
          </p:txBody>
        </p:sp>
      </p:grpSp>
      <p:sp>
        <p:nvSpPr>
          <p:cNvPr id="6" name="文本框 5">
            <a:extLst>
              <a:ext uri="{FF2B5EF4-FFF2-40B4-BE49-F238E27FC236}">
                <a16:creationId xmlns:a16="http://schemas.microsoft.com/office/drawing/2014/main" id="{B2AA826B-A3AA-C148-5244-ED2196CF5320}"/>
              </a:ext>
            </a:extLst>
          </p:cNvPr>
          <p:cNvSpPr txBox="1"/>
          <p:nvPr/>
        </p:nvSpPr>
        <p:spPr>
          <a:xfrm>
            <a:off x="446461" y="964751"/>
            <a:ext cx="6097022" cy="369332"/>
          </a:xfrm>
          <a:prstGeom prst="rect">
            <a:avLst/>
          </a:prstGeom>
          <a:noFill/>
        </p:spPr>
        <p:txBody>
          <a:bodyPr wrap="square">
            <a:spAutoFit/>
          </a:bodyPr>
          <a:lstStyle/>
          <a:p>
            <a:pPr algn="l">
              <a:buNone/>
            </a:pPr>
            <a:r>
              <a:rPr lang="zh-CN" altLang="en-US" b="1" i="0">
                <a:effectLst/>
                <a:latin typeface="方正小标宋简体" panose="02010601030101010101" pitchFamily="2" charset="-122"/>
                <a:ea typeface="方正小标宋简体" panose="02010601030101010101" pitchFamily="2" charset="-122"/>
              </a:rPr>
              <a:t>割平面生成与添加</a:t>
            </a:r>
          </a:p>
        </p:txBody>
      </p:sp>
      <p:pic>
        <p:nvPicPr>
          <p:cNvPr id="12" name="图片 11">
            <a:extLst>
              <a:ext uri="{FF2B5EF4-FFF2-40B4-BE49-F238E27FC236}">
                <a16:creationId xmlns:a16="http://schemas.microsoft.com/office/drawing/2014/main" id="{B452DC5F-764B-AC90-4C16-F61995157071}"/>
              </a:ext>
            </a:extLst>
          </p:cNvPr>
          <p:cNvPicPr>
            <a:picLocks noChangeAspect="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r:embed="rId4">
                    <a14:imgEffect>
                      <a14:colorTemperature colorTemp="1500"/>
                    </a14:imgEffect>
                    <a14:imgEffect>
                      <a14:saturation sat="0"/>
                    </a14:imgEffect>
                  </a14:imgLayer>
                </a14:imgProps>
              </a:ext>
              <a:ext uri="{28A0092B-C50C-407E-A947-70E740481C1C}">
                <a14:useLocalDpi xmlns:a14="http://schemas.microsoft.com/office/drawing/2010/main" val="0"/>
              </a:ext>
            </a:extLst>
          </a:blip>
          <a:stretch>
            <a:fillRect/>
          </a:stretch>
        </p:blipFill>
        <p:spPr>
          <a:xfrm>
            <a:off x="9045810" y="106138"/>
            <a:ext cx="3070066" cy="596957"/>
          </a:xfrm>
          <a:prstGeom prst="rect">
            <a:avLst/>
          </a:prstGeom>
        </p:spPr>
      </p:pic>
      <p:pic>
        <p:nvPicPr>
          <p:cNvPr id="7" name="图片 6">
            <a:extLst>
              <a:ext uri="{FF2B5EF4-FFF2-40B4-BE49-F238E27FC236}">
                <a16:creationId xmlns:a16="http://schemas.microsoft.com/office/drawing/2014/main" id="{93B6AA0B-1F97-EA38-42EA-2B959B53FD9B}"/>
              </a:ext>
            </a:extLst>
          </p:cNvPr>
          <p:cNvPicPr>
            <a:picLocks noChangeAspect="1"/>
          </p:cNvPicPr>
          <p:nvPr/>
        </p:nvPicPr>
        <p:blipFill>
          <a:blip r:embed="rId5"/>
          <a:stretch>
            <a:fillRect/>
          </a:stretch>
        </p:blipFill>
        <p:spPr>
          <a:xfrm>
            <a:off x="446461" y="2300482"/>
            <a:ext cx="4799307" cy="3007565"/>
          </a:xfrm>
          <a:prstGeom prst="rect">
            <a:avLst/>
          </a:prstGeom>
          <a:ln>
            <a:noFill/>
          </a:ln>
          <a:effectLst>
            <a:outerShdw blurRad="190500" algn="tl" rotWithShape="0">
              <a:srgbClr val="000000">
                <a:alpha val="70000"/>
              </a:srgbClr>
            </a:outerShdw>
          </a:effectLst>
        </p:spPr>
      </p:pic>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C406BE3-166C-D8EE-CADE-92E51194AAC6}"/>
                  </a:ext>
                </a:extLst>
              </p:cNvPr>
              <p:cNvSpPr txBox="1"/>
              <p:nvPr/>
            </p:nvSpPr>
            <p:spPr>
              <a:xfrm>
                <a:off x="5850355" y="5754749"/>
                <a:ext cx="148617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m:rPr>
                              <m:sty m:val="p"/>
                            </m:rPr>
                            <a:rPr lang="en-US" altLang="zh-CN" i="1">
                              <a:latin typeface="Cambria Math" panose="02040503050406030204" pitchFamily="18" charset="0"/>
                            </a:rPr>
                            <m:t>C</m:t>
                          </m:r>
                        </m:e>
                        <m:sub>
                          <m:r>
                            <a:rPr lang="en-US" altLang="zh-CN" b="0" i="1" smtClean="0">
                              <a:latin typeface="Cambria Math" panose="02040503050406030204" pitchFamily="18" charset="0"/>
                            </a:rPr>
                            <m:t>𝑚𝑎𝑥</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&lt;</m:t>
                      </m:r>
                      <m:r>
                        <a:rPr lang="en-US" altLang="zh-CN" b="0" i="1" smtClean="0">
                          <a:latin typeface="Cambria Math" panose="02040503050406030204" pitchFamily="18" charset="0"/>
                          <a:ea typeface="Cambria Math" panose="02040503050406030204" pitchFamily="18" charset="0"/>
                        </a:rPr>
                        <m:t>𝑈</m:t>
                      </m:r>
                    </m:oMath>
                  </m:oMathPara>
                </a14:m>
                <a:endParaRPr lang="zh-CN" altLang="en-US"/>
              </a:p>
            </p:txBody>
          </p:sp>
        </mc:Choice>
        <mc:Fallback xmlns="">
          <p:sp>
            <p:nvSpPr>
              <p:cNvPr id="11" name="文本框 10">
                <a:extLst>
                  <a:ext uri="{FF2B5EF4-FFF2-40B4-BE49-F238E27FC236}">
                    <a16:creationId xmlns:a16="http://schemas.microsoft.com/office/drawing/2014/main" id="{AC406BE3-166C-D8EE-CADE-92E51194AAC6}"/>
                  </a:ext>
                </a:extLst>
              </p:cNvPr>
              <p:cNvSpPr txBox="1">
                <a:spLocks noRot="1" noChangeAspect="1" noMove="1" noResize="1" noEditPoints="1" noAdjustHandles="1" noChangeArrowheads="1" noChangeShapeType="1" noTextEdit="1"/>
              </p:cNvSpPr>
              <p:nvPr/>
            </p:nvSpPr>
            <p:spPr>
              <a:xfrm>
                <a:off x="5850355" y="5754749"/>
                <a:ext cx="1486176" cy="276999"/>
              </a:xfrm>
              <a:prstGeom prst="rect">
                <a:avLst/>
              </a:prstGeom>
              <a:blipFill>
                <a:blip r:embed="rId6"/>
                <a:stretch>
                  <a:fillRect l="-3292" t="-2222" r="-2881" b="-35556"/>
                </a:stretch>
              </a:blipFill>
            </p:spPr>
            <p:txBody>
              <a:bodyPr/>
              <a:lstStyle/>
              <a:p>
                <a:r>
                  <a:rPr lang="zh-CN" altLang="en-US">
                    <a:noFill/>
                  </a:rPr>
                  <a:t> </a:t>
                </a:r>
              </a:p>
            </p:txBody>
          </p:sp>
        </mc:Fallback>
      </mc:AlternateContent>
      <p:sp>
        <p:nvSpPr>
          <p:cNvPr id="13" name="左大括号 12">
            <a:extLst>
              <a:ext uri="{FF2B5EF4-FFF2-40B4-BE49-F238E27FC236}">
                <a16:creationId xmlns:a16="http://schemas.microsoft.com/office/drawing/2014/main" id="{F0B5B76B-BC36-E77F-0C2E-E75C1B09FE71}"/>
              </a:ext>
            </a:extLst>
          </p:cNvPr>
          <p:cNvSpPr/>
          <p:nvPr/>
        </p:nvSpPr>
        <p:spPr>
          <a:xfrm>
            <a:off x="5245768" y="1440223"/>
            <a:ext cx="490287" cy="4453025"/>
          </a:xfrm>
          <a:prstGeom prst="leftBrace">
            <a:avLst>
              <a:gd name="adj1" fmla="val 85697"/>
              <a:gd name="adj2" fmla="val 47028"/>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grpSp>
        <p:nvGrpSpPr>
          <p:cNvPr id="18" name="组合 17">
            <a:extLst>
              <a:ext uri="{FF2B5EF4-FFF2-40B4-BE49-F238E27FC236}">
                <a16:creationId xmlns:a16="http://schemas.microsoft.com/office/drawing/2014/main" id="{9B02029B-CB3A-54AB-51EB-E17503C16D24}"/>
              </a:ext>
            </a:extLst>
          </p:cNvPr>
          <p:cNvGrpSpPr/>
          <p:nvPr/>
        </p:nvGrpSpPr>
        <p:grpSpPr>
          <a:xfrm>
            <a:off x="5850355" y="1121679"/>
            <a:ext cx="2047352" cy="637088"/>
            <a:chOff x="5850355" y="1334083"/>
            <a:chExt cx="2153528" cy="637088"/>
          </a:xfrm>
        </p:grpSpPr>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1B270785-F8B2-A78A-33F0-169670C95675}"/>
                    </a:ext>
                  </a:extLst>
                </p:cNvPr>
                <p:cNvSpPr txBox="1"/>
                <p:nvPr/>
              </p:nvSpPr>
              <p:spPr>
                <a:xfrm>
                  <a:off x="5850355" y="1334083"/>
                  <a:ext cx="148617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m:rPr>
                                <m:sty m:val="p"/>
                              </m:rPr>
                              <a:rPr lang="en-US" altLang="zh-CN" i="1">
                                <a:latin typeface="Cambria Math" panose="02040503050406030204" pitchFamily="18" charset="0"/>
                              </a:rPr>
                              <m:t>C</m:t>
                            </m:r>
                          </m:e>
                          <m:sub>
                            <m:r>
                              <a:rPr lang="en-US" altLang="zh-CN" b="0" i="1" smtClean="0">
                                <a:latin typeface="Cambria Math" panose="02040503050406030204" pitchFamily="18" charset="0"/>
                              </a:rPr>
                              <m:t>𝑚𝑎𝑥</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𝑈</m:t>
                        </m:r>
                      </m:oMath>
                    </m:oMathPara>
                  </a14:m>
                  <a:endParaRPr lang="zh-CN" altLang="en-US"/>
                </a:p>
              </p:txBody>
            </p:sp>
          </mc:Choice>
          <mc:Fallback xmlns="">
            <p:sp>
              <p:nvSpPr>
                <p:cNvPr id="8" name="文本框 7">
                  <a:extLst>
                    <a:ext uri="{FF2B5EF4-FFF2-40B4-BE49-F238E27FC236}">
                      <a16:creationId xmlns:a16="http://schemas.microsoft.com/office/drawing/2014/main" id="{1B270785-F8B2-A78A-33F0-169670C95675}"/>
                    </a:ext>
                  </a:extLst>
                </p:cNvPr>
                <p:cNvSpPr txBox="1">
                  <a:spLocks noRot="1" noChangeAspect="1" noMove="1" noResize="1" noEditPoints="1" noAdjustHandles="1" noChangeArrowheads="1" noChangeShapeType="1" noTextEdit="1"/>
                </p:cNvSpPr>
                <p:nvPr/>
              </p:nvSpPr>
              <p:spPr>
                <a:xfrm>
                  <a:off x="5850355" y="1334083"/>
                  <a:ext cx="1486176" cy="276999"/>
                </a:xfrm>
                <a:prstGeom prst="rect">
                  <a:avLst/>
                </a:prstGeom>
                <a:blipFill>
                  <a:blip r:embed="rId7"/>
                  <a:stretch>
                    <a:fillRect l="-6061" t="-2222" r="-5628" b="-35556"/>
                  </a:stretch>
                </a:blipFill>
              </p:spPr>
              <p:txBody>
                <a:bodyPr/>
                <a:lstStyle/>
                <a:p>
                  <a:r>
                    <a:rPr lang="zh-CN" altLang="en-US">
                      <a:noFill/>
                    </a:rPr>
                    <a:t> </a:t>
                  </a:r>
                </a:p>
              </p:txBody>
            </p:sp>
          </mc:Fallback>
        </mc:AlternateContent>
        <p:sp>
          <p:nvSpPr>
            <p:cNvPr id="17" name="文本框 16">
              <a:extLst>
                <a:ext uri="{FF2B5EF4-FFF2-40B4-BE49-F238E27FC236}">
                  <a16:creationId xmlns:a16="http://schemas.microsoft.com/office/drawing/2014/main" id="{12A5664D-F1D9-E12D-0766-C3BD7B256388}"/>
                </a:ext>
              </a:extLst>
            </p:cNvPr>
            <p:cNvSpPr txBox="1"/>
            <p:nvPr/>
          </p:nvSpPr>
          <p:spPr>
            <a:xfrm>
              <a:off x="5961492" y="1663394"/>
              <a:ext cx="2042391" cy="307777"/>
            </a:xfrm>
            <a:prstGeom prst="rect">
              <a:avLst/>
            </a:prstGeom>
            <a:noFill/>
          </p:spPr>
          <p:txBody>
            <a:bodyPr wrap="square" rtlCol="0">
              <a:spAutoFit/>
            </a:bodyPr>
            <a:lstStyle/>
            <a:p>
              <a:r>
                <a:rPr lang="zh-CN" altLang="en-US" sz="1400">
                  <a:latin typeface="方正小标宋简体" panose="02010601030101010101" pitchFamily="2" charset="-122"/>
                  <a:ea typeface="方正小标宋简体" panose="02010601030101010101" pitchFamily="2" charset="-122"/>
                </a:rPr>
                <a:t>组合</a:t>
              </a:r>
              <a:r>
                <a:rPr lang="en-US" altLang="zh-CN" sz="1400">
                  <a:latin typeface="方正小标宋简体" panose="02010601030101010101" pitchFamily="2" charset="-122"/>
                  <a:ea typeface="方正小标宋简体" panose="02010601030101010101" pitchFamily="2" charset="-122"/>
                </a:rPr>
                <a:t>Benders</a:t>
              </a:r>
              <a:r>
                <a:rPr lang="zh-CN" altLang="en-US" sz="1400">
                  <a:latin typeface="方正小标宋简体" panose="02010601030101010101" pitchFamily="2" charset="-122"/>
                  <a:ea typeface="方正小标宋简体" panose="02010601030101010101" pitchFamily="2" charset="-122"/>
                </a:rPr>
                <a:t>割</a:t>
              </a:r>
            </a:p>
          </p:txBody>
        </p:sp>
      </p:grpSp>
      <p:pic>
        <p:nvPicPr>
          <p:cNvPr id="20" name="图片 19">
            <a:extLst>
              <a:ext uri="{FF2B5EF4-FFF2-40B4-BE49-F238E27FC236}">
                <a16:creationId xmlns:a16="http://schemas.microsoft.com/office/drawing/2014/main" id="{36B328D1-FE61-B393-7D93-613F62BF0DCB}"/>
              </a:ext>
            </a:extLst>
          </p:cNvPr>
          <p:cNvPicPr>
            <a:picLocks noChangeAspect="1"/>
          </p:cNvPicPr>
          <p:nvPr/>
        </p:nvPicPr>
        <p:blipFill>
          <a:blip r:embed="rId8"/>
          <a:stretch>
            <a:fillRect/>
          </a:stretch>
        </p:blipFill>
        <p:spPr>
          <a:xfrm>
            <a:off x="7791335" y="1110143"/>
            <a:ext cx="3216777" cy="601849"/>
          </a:xfrm>
          <a:prstGeom prst="rect">
            <a:avLst/>
          </a:prstGeom>
        </p:spPr>
      </p:pic>
      <p:sp>
        <p:nvSpPr>
          <p:cNvPr id="21" name="左大括号 20">
            <a:extLst>
              <a:ext uri="{FF2B5EF4-FFF2-40B4-BE49-F238E27FC236}">
                <a16:creationId xmlns:a16="http://schemas.microsoft.com/office/drawing/2014/main" id="{2F582B6E-4C2F-5396-7931-7CB94D39078D}"/>
              </a:ext>
            </a:extLst>
          </p:cNvPr>
          <p:cNvSpPr/>
          <p:nvPr/>
        </p:nvSpPr>
        <p:spPr>
          <a:xfrm>
            <a:off x="7238072" y="1047371"/>
            <a:ext cx="490287" cy="2244470"/>
          </a:xfrm>
          <a:prstGeom prst="leftBrace">
            <a:avLst>
              <a:gd name="adj1" fmla="val 85697"/>
              <a:gd name="adj2" fmla="val 16850"/>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pic>
        <p:nvPicPr>
          <p:cNvPr id="23" name="图片 22">
            <a:extLst>
              <a:ext uri="{FF2B5EF4-FFF2-40B4-BE49-F238E27FC236}">
                <a16:creationId xmlns:a16="http://schemas.microsoft.com/office/drawing/2014/main" id="{96106DC5-B08B-360F-3884-19F76EA7B766}"/>
              </a:ext>
            </a:extLst>
          </p:cNvPr>
          <p:cNvPicPr>
            <a:picLocks noChangeAspect="1"/>
          </p:cNvPicPr>
          <p:nvPr/>
        </p:nvPicPr>
        <p:blipFill>
          <a:blip r:embed="rId9"/>
          <a:stretch>
            <a:fillRect/>
          </a:stretch>
        </p:blipFill>
        <p:spPr>
          <a:xfrm>
            <a:off x="7854311" y="1800286"/>
            <a:ext cx="3242460" cy="794925"/>
          </a:xfrm>
          <a:prstGeom prst="rect">
            <a:avLst/>
          </a:prstGeom>
        </p:spPr>
      </p:pic>
      <p:pic>
        <p:nvPicPr>
          <p:cNvPr id="25" name="图片 24">
            <a:extLst>
              <a:ext uri="{FF2B5EF4-FFF2-40B4-BE49-F238E27FC236}">
                <a16:creationId xmlns:a16="http://schemas.microsoft.com/office/drawing/2014/main" id="{5ECD64FE-0BFC-AB3C-5082-9EFE8C623A78}"/>
              </a:ext>
            </a:extLst>
          </p:cNvPr>
          <p:cNvPicPr>
            <a:picLocks noChangeAspect="1"/>
          </p:cNvPicPr>
          <p:nvPr/>
        </p:nvPicPr>
        <p:blipFill>
          <a:blip r:embed="rId10"/>
          <a:stretch>
            <a:fillRect/>
          </a:stretch>
        </p:blipFill>
        <p:spPr>
          <a:xfrm>
            <a:off x="7791335" y="2424165"/>
            <a:ext cx="3242460" cy="757977"/>
          </a:xfrm>
          <a:prstGeom prst="rect">
            <a:avLst/>
          </a:prstGeom>
        </p:spPr>
      </p:pic>
      <p:sp>
        <p:nvSpPr>
          <p:cNvPr id="26" name="左大括号 25">
            <a:extLst>
              <a:ext uri="{FF2B5EF4-FFF2-40B4-BE49-F238E27FC236}">
                <a16:creationId xmlns:a16="http://schemas.microsoft.com/office/drawing/2014/main" id="{6A0BC05D-DFF9-2D62-8033-E06791DA4317}"/>
              </a:ext>
            </a:extLst>
          </p:cNvPr>
          <p:cNvSpPr/>
          <p:nvPr/>
        </p:nvSpPr>
        <p:spPr>
          <a:xfrm>
            <a:off x="7238072" y="3981450"/>
            <a:ext cx="490287" cy="2778338"/>
          </a:xfrm>
          <a:prstGeom prst="leftBrace">
            <a:avLst>
              <a:gd name="adj1" fmla="val 85697"/>
              <a:gd name="adj2" fmla="val 73416"/>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59165881-853F-0829-A235-6F4009EFBD77}"/>
              </a:ext>
            </a:extLst>
          </p:cNvPr>
          <p:cNvSpPr txBox="1"/>
          <p:nvPr/>
        </p:nvSpPr>
        <p:spPr>
          <a:xfrm>
            <a:off x="5956013" y="6031748"/>
            <a:ext cx="1380518" cy="307777"/>
          </a:xfrm>
          <a:prstGeom prst="rect">
            <a:avLst/>
          </a:prstGeom>
          <a:noFill/>
        </p:spPr>
        <p:txBody>
          <a:bodyPr wrap="square">
            <a:spAutoFit/>
          </a:bodyPr>
          <a:lstStyle/>
          <a:p>
            <a:pPr algn="l">
              <a:buNone/>
            </a:pPr>
            <a:r>
              <a:rPr lang="zh-CN" altLang="en-US" sz="1400" i="0">
                <a:effectLst/>
                <a:latin typeface="方正小标宋简体" panose="02010601030101010101" pitchFamily="2" charset="-122"/>
                <a:ea typeface="方正小标宋简体" panose="02010601030101010101" pitchFamily="2" charset="-122"/>
              </a:rPr>
              <a:t>解析</a:t>
            </a:r>
            <a:r>
              <a:rPr lang="en-US" altLang="zh-CN" sz="1400" i="0">
                <a:effectLst/>
                <a:latin typeface="方正小标宋简体" panose="02010601030101010101" pitchFamily="2" charset="-122"/>
                <a:ea typeface="方正小标宋简体" panose="02010601030101010101" pitchFamily="2" charset="-122"/>
              </a:rPr>
              <a:t>Benders</a:t>
            </a:r>
            <a:r>
              <a:rPr lang="zh-CN" altLang="en-US" sz="1400" i="0">
                <a:effectLst/>
                <a:latin typeface="方正小标宋简体" panose="02010601030101010101" pitchFamily="2" charset="-122"/>
                <a:ea typeface="方正小标宋简体" panose="02010601030101010101" pitchFamily="2" charset="-122"/>
              </a:rPr>
              <a:t>割</a:t>
            </a:r>
          </a:p>
        </p:txBody>
      </p:sp>
      <p:pic>
        <p:nvPicPr>
          <p:cNvPr id="30" name="图片 29">
            <a:extLst>
              <a:ext uri="{FF2B5EF4-FFF2-40B4-BE49-F238E27FC236}">
                <a16:creationId xmlns:a16="http://schemas.microsoft.com/office/drawing/2014/main" id="{837B337D-8E01-21A2-1FBB-ECC9FAD22636}"/>
              </a:ext>
            </a:extLst>
          </p:cNvPr>
          <p:cNvPicPr>
            <a:picLocks noChangeAspect="1"/>
          </p:cNvPicPr>
          <p:nvPr/>
        </p:nvPicPr>
        <p:blipFill>
          <a:blip r:embed="rId11"/>
          <a:stretch>
            <a:fillRect/>
          </a:stretch>
        </p:blipFill>
        <p:spPr>
          <a:xfrm>
            <a:off x="7728359" y="4768799"/>
            <a:ext cx="3321097" cy="690098"/>
          </a:xfrm>
          <a:prstGeom prst="rect">
            <a:avLst/>
          </a:prstGeom>
        </p:spPr>
      </p:pic>
      <p:pic>
        <p:nvPicPr>
          <p:cNvPr id="32" name="图片 31">
            <a:extLst>
              <a:ext uri="{FF2B5EF4-FFF2-40B4-BE49-F238E27FC236}">
                <a16:creationId xmlns:a16="http://schemas.microsoft.com/office/drawing/2014/main" id="{740693F9-BCA7-DD2A-793C-DF85D103CED0}"/>
              </a:ext>
            </a:extLst>
          </p:cNvPr>
          <p:cNvPicPr>
            <a:picLocks noChangeAspect="1"/>
          </p:cNvPicPr>
          <p:nvPr/>
        </p:nvPicPr>
        <p:blipFill>
          <a:blip r:embed="rId12"/>
          <a:stretch>
            <a:fillRect/>
          </a:stretch>
        </p:blipFill>
        <p:spPr>
          <a:xfrm>
            <a:off x="7743681" y="5517999"/>
            <a:ext cx="3476002" cy="1027497"/>
          </a:xfrm>
          <a:prstGeom prst="rect">
            <a:avLst/>
          </a:prstGeom>
        </p:spPr>
      </p:pic>
      <p:pic>
        <p:nvPicPr>
          <p:cNvPr id="34" name="图片 33">
            <a:extLst>
              <a:ext uri="{FF2B5EF4-FFF2-40B4-BE49-F238E27FC236}">
                <a16:creationId xmlns:a16="http://schemas.microsoft.com/office/drawing/2014/main" id="{30763370-F9BF-3C2F-EE19-9BF6C8AC3F2D}"/>
              </a:ext>
            </a:extLst>
          </p:cNvPr>
          <p:cNvPicPr>
            <a:picLocks noChangeAspect="1"/>
          </p:cNvPicPr>
          <p:nvPr/>
        </p:nvPicPr>
        <p:blipFill>
          <a:blip r:embed="rId13"/>
          <a:stretch>
            <a:fillRect/>
          </a:stretch>
        </p:blipFill>
        <p:spPr>
          <a:xfrm>
            <a:off x="7743681" y="4033261"/>
            <a:ext cx="3353090" cy="676436"/>
          </a:xfrm>
          <a:prstGeom prst="rect">
            <a:avLst/>
          </a:prstGeom>
        </p:spPr>
      </p:pic>
      <p:sp>
        <p:nvSpPr>
          <p:cNvPr id="10" name="文本框 9">
            <a:extLst>
              <a:ext uri="{FF2B5EF4-FFF2-40B4-BE49-F238E27FC236}">
                <a16:creationId xmlns:a16="http://schemas.microsoft.com/office/drawing/2014/main" id="{F470AB2C-ACF9-8CED-500B-E661F8BC4EDD}"/>
              </a:ext>
            </a:extLst>
          </p:cNvPr>
          <p:cNvSpPr txBox="1"/>
          <p:nvPr/>
        </p:nvSpPr>
        <p:spPr>
          <a:xfrm>
            <a:off x="7518285" y="1213355"/>
            <a:ext cx="546100" cy="307777"/>
          </a:xfrm>
          <a:prstGeom prst="rect">
            <a:avLst/>
          </a:prstGeom>
          <a:noFill/>
        </p:spPr>
        <p:txBody>
          <a:bodyPr wrap="square" rtlCol="0">
            <a:spAutoFit/>
          </a:bodyPr>
          <a:lstStyle/>
          <a:p>
            <a:r>
              <a:rPr lang="en-US" altLang="zh-CN" sz="1400">
                <a:latin typeface="方正小标宋简体" panose="02010601030101010101" pitchFamily="2" charset="-122"/>
                <a:ea typeface="方正小标宋简体" panose="02010601030101010101" pitchFamily="2" charset="-122"/>
              </a:rPr>
              <a:t>V1</a:t>
            </a:r>
            <a:endParaRPr lang="zh-CN" altLang="en-US" sz="1400">
              <a:latin typeface="方正小标宋简体" panose="02010601030101010101" pitchFamily="2" charset="-122"/>
              <a:ea typeface="方正小标宋简体" panose="02010601030101010101" pitchFamily="2" charset="-122"/>
            </a:endParaRPr>
          </a:p>
        </p:txBody>
      </p:sp>
      <p:sp>
        <p:nvSpPr>
          <p:cNvPr id="14" name="文本框 13">
            <a:extLst>
              <a:ext uri="{FF2B5EF4-FFF2-40B4-BE49-F238E27FC236}">
                <a16:creationId xmlns:a16="http://schemas.microsoft.com/office/drawing/2014/main" id="{95DBBB8F-F0DF-79BF-CF83-BA06839D0EEC}"/>
              </a:ext>
            </a:extLst>
          </p:cNvPr>
          <p:cNvSpPr txBox="1"/>
          <p:nvPr/>
        </p:nvSpPr>
        <p:spPr>
          <a:xfrm>
            <a:off x="7518285" y="1993057"/>
            <a:ext cx="546100" cy="307777"/>
          </a:xfrm>
          <a:prstGeom prst="rect">
            <a:avLst/>
          </a:prstGeom>
          <a:solidFill>
            <a:schemeClr val="bg1"/>
          </a:solidFill>
        </p:spPr>
        <p:txBody>
          <a:bodyPr wrap="square" rtlCol="0">
            <a:spAutoFit/>
          </a:bodyPr>
          <a:lstStyle>
            <a:defPPr>
              <a:defRPr lang="zh-CN"/>
            </a:defPPr>
            <a:lvl1pPr>
              <a:defRPr sz="1400">
                <a:latin typeface="方正小标宋简体" panose="02010601030101010101" pitchFamily="2" charset="-122"/>
                <a:ea typeface="方正小标宋简体" panose="02010601030101010101" pitchFamily="2" charset="-122"/>
              </a:defRPr>
            </a:lvl1pPr>
          </a:lstStyle>
          <a:p>
            <a:r>
              <a:rPr lang="en-US" altLang="zh-CN"/>
              <a:t>V2</a:t>
            </a:r>
            <a:endParaRPr lang="zh-CN" altLang="en-US"/>
          </a:p>
        </p:txBody>
      </p:sp>
      <p:sp>
        <p:nvSpPr>
          <p:cNvPr id="19" name="文本框 18">
            <a:extLst>
              <a:ext uri="{FF2B5EF4-FFF2-40B4-BE49-F238E27FC236}">
                <a16:creationId xmlns:a16="http://schemas.microsoft.com/office/drawing/2014/main" id="{D009A82C-3454-B4B3-1FB3-62F9A4DA5AEA}"/>
              </a:ext>
            </a:extLst>
          </p:cNvPr>
          <p:cNvSpPr txBox="1"/>
          <p:nvPr/>
        </p:nvSpPr>
        <p:spPr>
          <a:xfrm>
            <a:off x="7518285" y="2649264"/>
            <a:ext cx="546100" cy="307777"/>
          </a:xfrm>
          <a:prstGeom prst="rect">
            <a:avLst/>
          </a:prstGeom>
          <a:solidFill>
            <a:schemeClr val="bg1"/>
          </a:solidFill>
        </p:spPr>
        <p:txBody>
          <a:bodyPr wrap="square" rtlCol="0">
            <a:spAutoFit/>
          </a:bodyPr>
          <a:lstStyle>
            <a:defPPr>
              <a:defRPr lang="zh-CN"/>
            </a:defPPr>
            <a:lvl1pPr>
              <a:defRPr sz="1400">
                <a:latin typeface="方正小标宋简体" panose="02010601030101010101" pitchFamily="2" charset="-122"/>
                <a:ea typeface="方正小标宋简体" panose="02010601030101010101" pitchFamily="2" charset="-122"/>
              </a:defRPr>
            </a:lvl1pPr>
          </a:lstStyle>
          <a:p>
            <a:r>
              <a:rPr lang="en-US" altLang="zh-CN"/>
              <a:t>V3</a:t>
            </a:r>
            <a:endParaRPr lang="zh-CN" altLang="en-US"/>
          </a:p>
        </p:txBody>
      </p:sp>
      <p:sp>
        <p:nvSpPr>
          <p:cNvPr id="24" name="文本框 23">
            <a:extLst>
              <a:ext uri="{FF2B5EF4-FFF2-40B4-BE49-F238E27FC236}">
                <a16:creationId xmlns:a16="http://schemas.microsoft.com/office/drawing/2014/main" id="{F0703B96-6DB0-2D72-A11F-A2077001D835}"/>
              </a:ext>
            </a:extLst>
          </p:cNvPr>
          <p:cNvSpPr txBox="1"/>
          <p:nvPr/>
        </p:nvSpPr>
        <p:spPr>
          <a:xfrm>
            <a:off x="7518285" y="4218788"/>
            <a:ext cx="546100" cy="307777"/>
          </a:xfrm>
          <a:prstGeom prst="rect">
            <a:avLst/>
          </a:prstGeom>
          <a:solidFill>
            <a:schemeClr val="bg1"/>
          </a:solidFill>
        </p:spPr>
        <p:txBody>
          <a:bodyPr wrap="square" rtlCol="0">
            <a:spAutoFit/>
          </a:bodyPr>
          <a:lstStyle>
            <a:defPPr>
              <a:defRPr lang="zh-CN"/>
            </a:defPPr>
            <a:lvl1pPr>
              <a:defRPr sz="1400">
                <a:latin typeface="方正小标宋简体" panose="02010601030101010101" pitchFamily="2" charset="-122"/>
                <a:ea typeface="方正小标宋简体" panose="02010601030101010101" pitchFamily="2" charset="-122"/>
              </a:defRPr>
            </a:lvl1pPr>
          </a:lstStyle>
          <a:p>
            <a:r>
              <a:rPr lang="en-US" altLang="zh-CN"/>
              <a:t>V4</a:t>
            </a:r>
            <a:endParaRPr lang="zh-CN" altLang="en-US"/>
          </a:p>
        </p:txBody>
      </p:sp>
      <p:sp>
        <p:nvSpPr>
          <p:cNvPr id="27" name="文本框 26">
            <a:extLst>
              <a:ext uri="{FF2B5EF4-FFF2-40B4-BE49-F238E27FC236}">
                <a16:creationId xmlns:a16="http://schemas.microsoft.com/office/drawing/2014/main" id="{E400DDE5-2369-D368-3622-3DE2BA4DA41C}"/>
              </a:ext>
            </a:extLst>
          </p:cNvPr>
          <p:cNvSpPr txBox="1"/>
          <p:nvPr/>
        </p:nvSpPr>
        <p:spPr>
          <a:xfrm>
            <a:off x="7518285" y="4937574"/>
            <a:ext cx="546100" cy="307777"/>
          </a:xfrm>
          <a:prstGeom prst="rect">
            <a:avLst/>
          </a:prstGeom>
          <a:solidFill>
            <a:schemeClr val="bg1"/>
          </a:solidFill>
        </p:spPr>
        <p:txBody>
          <a:bodyPr wrap="square" rtlCol="0">
            <a:spAutoFit/>
          </a:bodyPr>
          <a:lstStyle/>
          <a:p>
            <a:r>
              <a:rPr lang="en-US" altLang="zh-CN" sz="1400">
                <a:latin typeface="方正小标宋简体" panose="02010601030101010101" pitchFamily="2" charset="-122"/>
                <a:ea typeface="方正小标宋简体" panose="02010601030101010101" pitchFamily="2" charset="-122"/>
              </a:rPr>
              <a:t>V5</a:t>
            </a:r>
            <a:endParaRPr lang="zh-CN" altLang="en-US" sz="1400">
              <a:latin typeface="方正小标宋简体" panose="02010601030101010101" pitchFamily="2" charset="-122"/>
              <a:ea typeface="方正小标宋简体" panose="02010601030101010101" pitchFamily="2" charset="-122"/>
            </a:endParaRPr>
          </a:p>
        </p:txBody>
      </p:sp>
      <p:sp>
        <p:nvSpPr>
          <p:cNvPr id="29" name="文本框 28">
            <a:extLst>
              <a:ext uri="{FF2B5EF4-FFF2-40B4-BE49-F238E27FC236}">
                <a16:creationId xmlns:a16="http://schemas.microsoft.com/office/drawing/2014/main" id="{F01ACC89-F2D9-6868-38D9-14966EE093E9}"/>
              </a:ext>
            </a:extLst>
          </p:cNvPr>
          <p:cNvSpPr txBox="1"/>
          <p:nvPr/>
        </p:nvSpPr>
        <p:spPr>
          <a:xfrm>
            <a:off x="7518285" y="5663667"/>
            <a:ext cx="546100" cy="307777"/>
          </a:xfrm>
          <a:prstGeom prst="rect">
            <a:avLst/>
          </a:prstGeom>
          <a:solidFill>
            <a:schemeClr val="bg1"/>
          </a:solidFill>
        </p:spPr>
        <p:txBody>
          <a:bodyPr wrap="square" rtlCol="0">
            <a:spAutoFit/>
          </a:bodyPr>
          <a:lstStyle/>
          <a:p>
            <a:r>
              <a:rPr lang="en-US" altLang="zh-CN" sz="1400">
                <a:latin typeface="方正小标宋简体" panose="02010601030101010101" pitchFamily="2" charset="-122"/>
                <a:ea typeface="方正小标宋简体" panose="02010601030101010101" pitchFamily="2" charset="-122"/>
              </a:rPr>
              <a:t>V6</a:t>
            </a:r>
            <a:endParaRPr lang="zh-CN" altLang="en-US" sz="1400">
              <a:latin typeface="方正小标宋简体" panose="02010601030101010101" pitchFamily="2" charset="-122"/>
              <a:ea typeface="方正小标宋简体" panose="02010601030101010101" pitchFamily="2" charset="-122"/>
            </a:endParaRPr>
          </a:p>
        </p:txBody>
      </p:sp>
      <p:sp>
        <p:nvSpPr>
          <p:cNvPr id="31" name="文本框 30">
            <a:extLst>
              <a:ext uri="{FF2B5EF4-FFF2-40B4-BE49-F238E27FC236}">
                <a16:creationId xmlns:a16="http://schemas.microsoft.com/office/drawing/2014/main" id="{42828EFA-153E-FAC3-8E2E-9B2003BC4C53}"/>
              </a:ext>
            </a:extLst>
          </p:cNvPr>
          <p:cNvSpPr txBox="1"/>
          <p:nvPr/>
        </p:nvSpPr>
        <p:spPr>
          <a:xfrm>
            <a:off x="7518285" y="5993858"/>
            <a:ext cx="546100" cy="307777"/>
          </a:xfrm>
          <a:prstGeom prst="rect">
            <a:avLst/>
          </a:prstGeom>
          <a:solidFill>
            <a:schemeClr val="bg1"/>
          </a:solidFill>
        </p:spPr>
        <p:txBody>
          <a:bodyPr wrap="square" rtlCol="0">
            <a:spAutoFit/>
          </a:bodyPr>
          <a:lstStyle/>
          <a:p>
            <a:r>
              <a:rPr lang="en-US" altLang="zh-CN" sz="1400">
                <a:latin typeface="方正小标宋简体" panose="02010601030101010101" pitchFamily="2" charset="-122"/>
                <a:ea typeface="方正小标宋简体" panose="02010601030101010101" pitchFamily="2" charset="-122"/>
              </a:rPr>
              <a:t>V7</a:t>
            </a:r>
            <a:endParaRPr lang="zh-CN" altLang="en-US" sz="1400">
              <a:latin typeface="方正小标宋简体" panose="02010601030101010101" pitchFamily="2" charset="-122"/>
              <a:ea typeface="方正小标宋简体" panose="02010601030101010101" pitchFamily="2" charset="-122"/>
            </a:endParaRPr>
          </a:p>
        </p:txBody>
      </p:sp>
    </p:spTree>
    <p:extLst>
      <p:ext uri="{BB962C8B-B14F-4D97-AF65-F5344CB8AC3E}">
        <p14:creationId xmlns:p14="http://schemas.microsoft.com/office/powerpoint/2010/main" val="22974334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86C51-17A8-A14F-9D53-91EB08A57A05}"/>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B2D3EDB1-8685-139C-3DD2-82A83DD709FF}"/>
              </a:ext>
            </a:extLst>
          </p:cNvPr>
          <p:cNvGrpSpPr/>
          <p:nvPr/>
        </p:nvGrpSpPr>
        <p:grpSpPr>
          <a:xfrm>
            <a:off x="1" y="-1"/>
            <a:ext cx="9144001" cy="858612"/>
            <a:chOff x="1" y="-1"/>
            <a:chExt cx="9144001" cy="858612"/>
          </a:xfrm>
        </p:grpSpPr>
        <p:sp>
          <p:nvSpPr>
            <p:cNvPr id="3" name="矩形 2">
              <a:extLst>
                <a:ext uri="{FF2B5EF4-FFF2-40B4-BE49-F238E27FC236}">
                  <a16:creationId xmlns:a16="http://schemas.microsoft.com/office/drawing/2014/main" id="{97212CF2-C0AD-4C48-A45C-0BAB84A5E682}"/>
                </a:ext>
              </a:extLst>
            </p:cNvPr>
            <p:cNvSpPr/>
            <p:nvPr/>
          </p:nvSpPr>
          <p:spPr>
            <a:xfrm rot="16200000">
              <a:off x="4142696" y="-4142696"/>
              <a:ext cx="858612" cy="9144001"/>
            </a:xfrm>
            <a:prstGeom prst="rect">
              <a:avLst/>
            </a:prstGeom>
            <a:gradFill flip="none" rotWithShape="1">
              <a:gsLst>
                <a:gs pos="20000">
                  <a:schemeClr val="accent1"/>
                </a:gs>
                <a:gs pos="95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文本框 3">
              <a:extLst>
                <a:ext uri="{FF2B5EF4-FFF2-40B4-BE49-F238E27FC236}">
                  <a16:creationId xmlns:a16="http://schemas.microsoft.com/office/drawing/2014/main" id="{DC6D235F-7292-3C09-4561-583F876604D2}"/>
                </a:ext>
              </a:extLst>
            </p:cNvPr>
            <p:cNvSpPr txBox="1"/>
            <p:nvPr/>
          </p:nvSpPr>
          <p:spPr>
            <a:xfrm>
              <a:off x="187890" y="106138"/>
              <a:ext cx="4578263" cy="646331"/>
            </a:xfrm>
            <a:prstGeom prst="rect">
              <a:avLst/>
            </a:prstGeom>
            <a:noFill/>
          </p:spPr>
          <p:txBody>
            <a:bodyPr wrap="square" rtlCol="0">
              <a:spAutoFit/>
            </a:bodyPr>
            <a:lstStyle/>
            <a:p>
              <a:r>
                <a:rPr lang="zh-CN" altLang="en-US" sz="3600">
                  <a:solidFill>
                    <a:schemeClr val="bg1"/>
                  </a:solidFill>
                  <a:latin typeface="方正小标宋简体" panose="02010601030101010101" pitchFamily="2" charset="-122"/>
                  <a:ea typeface="方正小标宋简体" panose="02010601030101010101" pitchFamily="2" charset="-122"/>
                </a:rPr>
                <a:t>论文创新</a:t>
              </a:r>
            </a:p>
          </p:txBody>
        </p:sp>
      </p:grpSp>
      <p:sp>
        <p:nvSpPr>
          <p:cNvPr id="6" name="文本框 5">
            <a:extLst>
              <a:ext uri="{FF2B5EF4-FFF2-40B4-BE49-F238E27FC236}">
                <a16:creationId xmlns:a16="http://schemas.microsoft.com/office/drawing/2014/main" id="{0BDE951B-DCF3-317B-69BD-18B307FAADC5}"/>
              </a:ext>
            </a:extLst>
          </p:cNvPr>
          <p:cNvSpPr txBox="1"/>
          <p:nvPr/>
        </p:nvSpPr>
        <p:spPr>
          <a:xfrm>
            <a:off x="361689" y="964751"/>
            <a:ext cx="6097044" cy="369332"/>
          </a:xfrm>
          <a:prstGeom prst="rect">
            <a:avLst/>
          </a:prstGeom>
          <a:noFill/>
        </p:spPr>
        <p:txBody>
          <a:bodyPr wrap="square">
            <a:spAutoFit/>
          </a:bodyPr>
          <a:lstStyle/>
          <a:p>
            <a:pPr algn="l">
              <a:buNone/>
            </a:pPr>
            <a:r>
              <a:rPr lang="zh-CN" altLang="en-US" b="1" i="0">
                <a:effectLst/>
                <a:latin typeface="方正小标宋简体" panose="02010601030101010101" pitchFamily="2" charset="-122"/>
                <a:ea typeface="方正小标宋简体" panose="02010601030101010101" pitchFamily="2" charset="-122"/>
              </a:rPr>
              <a:t>数学模型构建的创新</a:t>
            </a:r>
          </a:p>
        </p:txBody>
      </p:sp>
      <p:pic>
        <p:nvPicPr>
          <p:cNvPr id="8" name="图片 7">
            <a:extLst>
              <a:ext uri="{FF2B5EF4-FFF2-40B4-BE49-F238E27FC236}">
                <a16:creationId xmlns:a16="http://schemas.microsoft.com/office/drawing/2014/main" id="{DA3D71BF-D269-666C-AB20-5450E56A8E14}"/>
              </a:ext>
            </a:extLst>
          </p:cNvPr>
          <p:cNvPicPr>
            <a:picLocks noChangeAspect="1"/>
          </p:cNvPicPr>
          <p:nvPr/>
        </p:nvPicPr>
        <p:blipFill>
          <a:blip r:embed="rId3"/>
          <a:stretch>
            <a:fillRect/>
          </a:stretch>
        </p:blipFill>
        <p:spPr>
          <a:xfrm>
            <a:off x="1" y="1440223"/>
            <a:ext cx="12192000" cy="2615318"/>
          </a:xfrm>
          <a:prstGeom prst="rect">
            <a:avLst/>
          </a:prstGeom>
          <a:ln>
            <a:noFill/>
          </a:ln>
          <a:effectLst>
            <a:softEdge rad="112500"/>
          </a:effectLst>
        </p:spPr>
      </p:pic>
      <p:pic>
        <p:nvPicPr>
          <p:cNvPr id="10" name="图片 9">
            <a:extLst>
              <a:ext uri="{FF2B5EF4-FFF2-40B4-BE49-F238E27FC236}">
                <a16:creationId xmlns:a16="http://schemas.microsoft.com/office/drawing/2014/main" id="{BE8B4C63-6F9B-DC18-CA39-BD0D1B0F8327}"/>
              </a:ext>
            </a:extLst>
          </p:cNvPr>
          <p:cNvPicPr>
            <a:picLocks noChangeAspect="1"/>
          </p:cNvPicPr>
          <p:nvPr/>
        </p:nvPicPr>
        <p:blipFill>
          <a:blip r:embed="rId4"/>
          <a:stretch>
            <a:fillRect/>
          </a:stretch>
        </p:blipFill>
        <p:spPr>
          <a:xfrm>
            <a:off x="0" y="4017208"/>
            <a:ext cx="12192000" cy="2734654"/>
          </a:xfrm>
          <a:prstGeom prst="rect">
            <a:avLst/>
          </a:prstGeom>
          <a:ln>
            <a:noFill/>
          </a:ln>
          <a:effectLst>
            <a:softEdge rad="112500"/>
          </a:effectLst>
        </p:spPr>
      </p:pic>
      <p:pic>
        <p:nvPicPr>
          <p:cNvPr id="11" name="图片 10">
            <a:extLst>
              <a:ext uri="{FF2B5EF4-FFF2-40B4-BE49-F238E27FC236}">
                <a16:creationId xmlns:a16="http://schemas.microsoft.com/office/drawing/2014/main" id="{5B7858AA-06C3-93AE-D940-1FC978A6474E}"/>
              </a:ext>
            </a:extLst>
          </p:cNvPr>
          <p:cNvPicPr>
            <a:picLocks noChangeAspect="1"/>
          </p:cNvPicPr>
          <p:nvPr/>
        </p:nvPicPr>
        <p:blipFill>
          <a:blip r:embed="rId5">
            <a:duotone>
              <a:prstClr val="black"/>
              <a:schemeClr val="accent1">
                <a:tint val="45000"/>
                <a:satMod val="400000"/>
              </a:schemeClr>
            </a:duotone>
            <a:extLst>
              <a:ext uri="{BEBA8EAE-BF5A-486C-A8C5-ECC9F3942E4B}">
                <a14:imgProps xmlns:a14="http://schemas.microsoft.com/office/drawing/2010/main">
                  <a14:imgLayer r:embed="rId6">
                    <a14:imgEffect>
                      <a14:colorTemperature colorTemp="1500"/>
                    </a14:imgEffect>
                    <a14:imgEffect>
                      <a14:saturation sat="0"/>
                    </a14:imgEffect>
                  </a14:imgLayer>
                </a14:imgProps>
              </a:ext>
              <a:ext uri="{28A0092B-C50C-407E-A947-70E740481C1C}">
                <a14:useLocalDpi xmlns:a14="http://schemas.microsoft.com/office/drawing/2010/main" val="0"/>
              </a:ext>
            </a:extLst>
          </a:blip>
          <a:stretch>
            <a:fillRect/>
          </a:stretch>
        </p:blipFill>
        <p:spPr>
          <a:xfrm>
            <a:off x="9045810" y="106138"/>
            <a:ext cx="3070066" cy="596957"/>
          </a:xfrm>
          <a:prstGeom prst="rect">
            <a:avLst/>
          </a:prstGeom>
        </p:spPr>
      </p:pic>
      <p:sp>
        <p:nvSpPr>
          <p:cNvPr id="7" name="文本框 6">
            <a:extLst>
              <a:ext uri="{FF2B5EF4-FFF2-40B4-BE49-F238E27FC236}">
                <a16:creationId xmlns:a16="http://schemas.microsoft.com/office/drawing/2014/main" id="{760CE824-CC20-3BFD-01B5-660977D6E544}"/>
              </a:ext>
            </a:extLst>
          </p:cNvPr>
          <p:cNvSpPr txBox="1"/>
          <p:nvPr/>
        </p:nvSpPr>
        <p:spPr>
          <a:xfrm>
            <a:off x="6175075" y="1440223"/>
            <a:ext cx="5278988" cy="369332"/>
          </a:xfrm>
          <a:prstGeom prst="rect">
            <a:avLst/>
          </a:prstGeom>
          <a:noFill/>
        </p:spPr>
        <p:txBody>
          <a:bodyPr wrap="square">
            <a:spAutoFit/>
          </a:bodyPr>
          <a:lstStyle/>
          <a:p>
            <a:r>
              <a:rPr lang="zh-CN" altLang="en-US" b="1" i="0">
                <a:effectLst/>
                <a:latin typeface="方正小标宋简体" panose="02010601030101010101" pitchFamily="2" charset="-122"/>
                <a:ea typeface="方正小标宋简体" panose="02010601030101010101" pitchFamily="2" charset="-122"/>
              </a:rPr>
              <a:t>不同数学模型的性能比较（未添加有效不等式） </a:t>
            </a:r>
            <a:endParaRPr lang="zh-CN" altLang="en-US">
              <a:latin typeface="方正小标宋简体" panose="02010601030101010101" pitchFamily="2" charset="-122"/>
              <a:ea typeface="方正小标宋简体" panose="02010601030101010101" pitchFamily="2" charset="-122"/>
            </a:endParaRPr>
          </a:p>
        </p:txBody>
      </p:sp>
      <p:sp>
        <p:nvSpPr>
          <p:cNvPr id="16" name="矩形 15">
            <a:extLst>
              <a:ext uri="{FF2B5EF4-FFF2-40B4-BE49-F238E27FC236}">
                <a16:creationId xmlns:a16="http://schemas.microsoft.com/office/drawing/2014/main" id="{A2604B02-7F4B-B203-2612-3EFF81DE11EB}"/>
              </a:ext>
            </a:extLst>
          </p:cNvPr>
          <p:cNvSpPr/>
          <p:nvPr/>
        </p:nvSpPr>
        <p:spPr>
          <a:xfrm>
            <a:off x="1318661" y="3507923"/>
            <a:ext cx="5727032" cy="255555"/>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BC04E14A-1300-ADBF-0788-750AF7528782}"/>
              </a:ext>
            </a:extLst>
          </p:cNvPr>
          <p:cNvSpPr/>
          <p:nvPr/>
        </p:nvSpPr>
        <p:spPr>
          <a:xfrm>
            <a:off x="7440328" y="3507923"/>
            <a:ext cx="4600876" cy="255555"/>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C2C7E72D-C304-57D7-98FA-0B62C975E218}"/>
              </a:ext>
            </a:extLst>
          </p:cNvPr>
          <p:cNvSpPr txBox="1"/>
          <p:nvPr/>
        </p:nvSpPr>
        <p:spPr>
          <a:xfrm>
            <a:off x="3409931" y="3870875"/>
            <a:ext cx="6097604" cy="369332"/>
          </a:xfrm>
          <a:prstGeom prst="rect">
            <a:avLst/>
          </a:prstGeom>
          <a:noFill/>
        </p:spPr>
        <p:txBody>
          <a:bodyPr wrap="square">
            <a:spAutoFit/>
          </a:bodyPr>
          <a:lstStyle/>
          <a:p>
            <a:r>
              <a:rPr lang="zh-CN" altLang="en-US" b="1" i="0">
                <a:effectLst/>
                <a:latin typeface="方正小标宋简体" panose="02010601030101010101" pitchFamily="2" charset="-122"/>
                <a:ea typeface="方正小标宋简体" panose="02010601030101010101" pitchFamily="2" charset="-122"/>
              </a:rPr>
              <a:t>不同数学模型（含有效不等式）与</a:t>
            </a:r>
            <a:r>
              <a:rPr lang="en-US" altLang="zh-CN" b="1" i="0">
                <a:effectLst/>
                <a:latin typeface="方正小标宋简体" panose="02010601030101010101" pitchFamily="2" charset="-122"/>
                <a:ea typeface="方正小标宋简体" panose="02010601030101010101" pitchFamily="2" charset="-122"/>
              </a:rPr>
              <a:t>LBBD (V3) </a:t>
            </a:r>
            <a:r>
              <a:rPr lang="zh-CN" altLang="en-US" b="1" i="0">
                <a:effectLst/>
                <a:latin typeface="方正小标宋简体" panose="02010601030101010101" pitchFamily="2" charset="-122"/>
                <a:ea typeface="方正小标宋简体" panose="02010601030101010101" pitchFamily="2" charset="-122"/>
              </a:rPr>
              <a:t>的性能比较</a:t>
            </a:r>
            <a:endParaRPr lang="zh-CN" altLang="en-US">
              <a:latin typeface="方正小标宋简体" panose="02010601030101010101" pitchFamily="2" charset="-122"/>
              <a:ea typeface="方正小标宋简体" panose="02010601030101010101" pitchFamily="2" charset="-122"/>
            </a:endParaRPr>
          </a:p>
        </p:txBody>
      </p:sp>
      <p:sp>
        <p:nvSpPr>
          <p:cNvPr id="20" name="矩形 19">
            <a:extLst>
              <a:ext uri="{FF2B5EF4-FFF2-40B4-BE49-F238E27FC236}">
                <a16:creationId xmlns:a16="http://schemas.microsoft.com/office/drawing/2014/main" id="{B65A2300-39C2-44EE-C050-23B748C1E70C}"/>
              </a:ext>
            </a:extLst>
          </p:cNvPr>
          <p:cNvSpPr/>
          <p:nvPr/>
        </p:nvSpPr>
        <p:spPr>
          <a:xfrm>
            <a:off x="1318661" y="6116861"/>
            <a:ext cx="5727032" cy="255555"/>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F2359E0C-9AD6-86AC-FC8F-761012999E52}"/>
              </a:ext>
            </a:extLst>
          </p:cNvPr>
          <p:cNvSpPr/>
          <p:nvPr/>
        </p:nvSpPr>
        <p:spPr>
          <a:xfrm>
            <a:off x="7257448" y="6123241"/>
            <a:ext cx="4783756" cy="255555"/>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99721945"/>
      </p:ext>
    </p:extLst>
  </p:cSld>
  <p:clrMapOvr>
    <a:masterClrMapping/>
  </p:clrMapOvr>
  <p:transition spd="slow">
    <p:wipe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0B4ED-C453-9ED6-44B3-E94AD6A68029}"/>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9C3970D-7C31-90EC-EA35-7C1D60923194}"/>
              </a:ext>
            </a:extLst>
          </p:cNvPr>
          <p:cNvGrpSpPr/>
          <p:nvPr/>
        </p:nvGrpSpPr>
        <p:grpSpPr>
          <a:xfrm>
            <a:off x="1" y="-1"/>
            <a:ext cx="9144001" cy="858612"/>
            <a:chOff x="1" y="-1"/>
            <a:chExt cx="9144001" cy="858612"/>
          </a:xfrm>
        </p:grpSpPr>
        <p:sp>
          <p:nvSpPr>
            <p:cNvPr id="3" name="矩形 2">
              <a:extLst>
                <a:ext uri="{FF2B5EF4-FFF2-40B4-BE49-F238E27FC236}">
                  <a16:creationId xmlns:a16="http://schemas.microsoft.com/office/drawing/2014/main" id="{7AE92444-7AD8-18FD-5CAF-77D264DE17BA}"/>
                </a:ext>
              </a:extLst>
            </p:cNvPr>
            <p:cNvSpPr/>
            <p:nvPr/>
          </p:nvSpPr>
          <p:spPr>
            <a:xfrm rot="16200000">
              <a:off x="4142696" y="-4142696"/>
              <a:ext cx="858612" cy="9144001"/>
            </a:xfrm>
            <a:prstGeom prst="rect">
              <a:avLst/>
            </a:prstGeom>
            <a:gradFill flip="none" rotWithShape="1">
              <a:gsLst>
                <a:gs pos="20000">
                  <a:schemeClr val="accent1"/>
                </a:gs>
                <a:gs pos="95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文本框 3">
              <a:extLst>
                <a:ext uri="{FF2B5EF4-FFF2-40B4-BE49-F238E27FC236}">
                  <a16:creationId xmlns:a16="http://schemas.microsoft.com/office/drawing/2014/main" id="{107FAA58-8A0B-3C02-EBDA-471982A1E1CB}"/>
                </a:ext>
              </a:extLst>
            </p:cNvPr>
            <p:cNvSpPr txBox="1"/>
            <p:nvPr/>
          </p:nvSpPr>
          <p:spPr>
            <a:xfrm>
              <a:off x="187890" y="106138"/>
              <a:ext cx="4578263" cy="646331"/>
            </a:xfrm>
            <a:prstGeom prst="rect">
              <a:avLst/>
            </a:prstGeom>
            <a:noFill/>
          </p:spPr>
          <p:txBody>
            <a:bodyPr wrap="square" rtlCol="0">
              <a:spAutoFit/>
            </a:bodyPr>
            <a:lstStyle/>
            <a:p>
              <a:r>
                <a:rPr lang="zh-CN" altLang="en-US" sz="3600">
                  <a:solidFill>
                    <a:schemeClr val="bg1"/>
                  </a:solidFill>
                  <a:latin typeface="方正小标宋简体" panose="02010601030101010101" pitchFamily="2" charset="-122"/>
                  <a:ea typeface="方正小标宋简体" panose="02010601030101010101" pitchFamily="2" charset="-122"/>
                </a:rPr>
                <a:t>论文创新</a:t>
              </a:r>
            </a:p>
          </p:txBody>
        </p:sp>
      </p:grpSp>
      <p:sp>
        <p:nvSpPr>
          <p:cNvPr id="6" name="文本框 5">
            <a:extLst>
              <a:ext uri="{FF2B5EF4-FFF2-40B4-BE49-F238E27FC236}">
                <a16:creationId xmlns:a16="http://schemas.microsoft.com/office/drawing/2014/main" id="{6322E85F-1CE2-3D01-D8DB-3FD854BBB891}"/>
              </a:ext>
            </a:extLst>
          </p:cNvPr>
          <p:cNvSpPr txBox="1"/>
          <p:nvPr/>
        </p:nvSpPr>
        <p:spPr>
          <a:xfrm>
            <a:off x="361689" y="964751"/>
            <a:ext cx="6097044" cy="369332"/>
          </a:xfrm>
          <a:prstGeom prst="rect">
            <a:avLst/>
          </a:prstGeom>
          <a:noFill/>
        </p:spPr>
        <p:txBody>
          <a:bodyPr wrap="square">
            <a:spAutoFit/>
          </a:bodyPr>
          <a:lstStyle/>
          <a:p>
            <a:pPr algn="l">
              <a:buNone/>
            </a:pPr>
            <a:r>
              <a:rPr lang="zh-CN" altLang="en-US" b="1" i="0">
                <a:effectLst/>
                <a:latin typeface="方正小标宋简体" panose="02010601030101010101" pitchFamily="2" charset="-122"/>
                <a:ea typeface="方正小标宋简体" panose="02010601030101010101" pitchFamily="2" charset="-122"/>
              </a:rPr>
              <a:t> 算法设计的创新</a:t>
            </a:r>
          </a:p>
        </p:txBody>
      </p:sp>
      <p:pic>
        <p:nvPicPr>
          <p:cNvPr id="11" name="图片 10">
            <a:extLst>
              <a:ext uri="{FF2B5EF4-FFF2-40B4-BE49-F238E27FC236}">
                <a16:creationId xmlns:a16="http://schemas.microsoft.com/office/drawing/2014/main" id="{C883F699-FC27-368B-383A-4EDA882D33F4}"/>
              </a:ext>
            </a:extLst>
          </p:cNvPr>
          <p:cNvPicPr>
            <a:picLocks noChangeAspect="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r:embed="rId4">
                    <a14:imgEffect>
                      <a14:colorTemperature colorTemp="1500"/>
                    </a14:imgEffect>
                    <a14:imgEffect>
                      <a14:saturation sat="0"/>
                    </a14:imgEffect>
                  </a14:imgLayer>
                </a14:imgProps>
              </a:ext>
              <a:ext uri="{28A0092B-C50C-407E-A947-70E740481C1C}">
                <a14:useLocalDpi xmlns:a14="http://schemas.microsoft.com/office/drawing/2010/main" val="0"/>
              </a:ext>
            </a:extLst>
          </a:blip>
          <a:stretch>
            <a:fillRect/>
          </a:stretch>
        </p:blipFill>
        <p:spPr>
          <a:xfrm>
            <a:off x="9045810" y="106138"/>
            <a:ext cx="3070066" cy="596957"/>
          </a:xfrm>
          <a:prstGeom prst="rect">
            <a:avLst/>
          </a:prstGeom>
        </p:spPr>
      </p:pic>
      <p:pic>
        <p:nvPicPr>
          <p:cNvPr id="7" name="图片 6">
            <a:extLst>
              <a:ext uri="{FF2B5EF4-FFF2-40B4-BE49-F238E27FC236}">
                <a16:creationId xmlns:a16="http://schemas.microsoft.com/office/drawing/2014/main" id="{9CA35C55-AEF4-897B-B0DF-C707A9364DE0}"/>
              </a:ext>
            </a:extLst>
          </p:cNvPr>
          <p:cNvPicPr>
            <a:picLocks/>
          </p:cNvPicPr>
          <p:nvPr/>
        </p:nvPicPr>
        <p:blipFill>
          <a:blip r:embed="rId5"/>
          <a:stretch>
            <a:fillRect/>
          </a:stretch>
        </p:blipFill>
        <p:spPr>
          <a:xfrm>
            <a:off x="77737" y="1556744"/>
            <a:ext cx="3600000" cy="2160000"/>
          </a:xfrm>
          <a:prstGeom prst="rect">
            <a:avLst/>
          </a:prstGeom>
          <a:ln>
            <a:noFill/>
          </a:ln>
          <a:effectLst>
            <a:outerShdw blurRad="190500" algn="tl" rotWithShape="0">
              <a:srgbClr val="000000">
                <a:alpha val="70000"/>
              </a:srgbClr>
            </a:outerShdw>
          </a:effectLst>
        </p:spPr>
      </p:pic>
      <p:pic>
        <p:nvPicPr>
          <p:cNvPr id="12" name="图片 11">
            <a:extLst>
              <a:ext uri="{FF2B5EF4-FFF2-40B4-BE49-F238E27FC236}">
                <a16:creationId xmlns:a16="http://schemas.microsoft.com/office/drawing/2014/main" id="{1D035990-DDB5-9AE4-51CF-9324E4C1B52A}"/>
              </a:ext>
            </a:extLst>
          </p:cNvPr>
          <p:cNvPicPr>
            <a:picLocks/>
          </p:cNvPicPr>
          <p:nvPr/>
        </p:nvPicPr>
        <p:blipFill>
          <a:blip r:embed="rId6"/>
          <a:stretch>
            <a:fillRect/>
          </a:stretch>
        </p:blipFill>
        <p:spPr>
          <a:xfrm>
            <a:off x="4072071" y="1556744"/>
            <a:ext cx="3600000" cy="2160000"/>
          </a:xfrm>
          <a:prstGeom prst="rect">
            <a:avLst/>
          </a:prstGeom>
          <a:ln>
            <a:noFill/>
          </a:ln>
          <a:effectLst>
            <a:outerShdw blurRad="190500" algn="tl" rotWithShape="0">
              <a:srgbClr val="000000">
                <a:alpha val="70000"/>
              </a:srgbClr>
            </a:outerShdw>
          </a:effectLst>
        </p:spPr>
      </p:pic>
      <p:pic>
        <p:nvPicPr>
          <p:cNvPr id="14" name="图片 13">
            <a:extLst>
              <a:ext uri="{FF2B5EF4-FFF2-40B4-BE49-F238E27FC236}">
                <a16:creationId xmlns:a16="http://schemas.microsoft.com/office/drawing/2014/main" id="{94251F4A-EB83-44FD-D8C4-35E3771133B8}"/>
              </a:ext>
            </a:extLst>
          </p:cNvPr>
          <p:cNvPicPr>
            <a:picLocks/>
          </p:cNvPicPr>
          <p:nvPr/>
        </p:nvPicPr>
        <p:blipFill>
          <a:blip r:embed="rId7"/>
          <a:stretch>
            <a:fillRect/>
          </a:stretch>
        </p:blipFill>
        <p:spPr>
          <a:xfrm>
            <a:off x="8066406" y="1556744"/>
            <a:ext cx="3600000" cy="2160000"/>
          </a:xfrm>
          <a:prstGeom prst="rect">
            <a:avLst/>
          </a:prstGeom>
          <a:ln>
            <a:noFill/>
          </a:ln>
          <a:effectLst>
            <a:outerShdw blurRad="190500" algn="tl" rotWithShape="0">
              <a:srgbClr val="000000">
                <a:alpha val="70000"/>
              </a:srgbClr>
            </a:outerShdw>
          </a:effectLst>
        </p:spPr>
      </p:pic>
      <p:pic>
        <p:nvPicPr>
          <p:cNvPr id="16" name="图片 15">
            <a:extLst>
              <a:ext uri="{FF2B5EF4-FFF2-40B4-BE49-F238E27FC236}">
                <a16:creationId xmlns:a16="http://schemas.microsoft.com/office/drawing/2014/main" id="{AC04B7E1-804B-A8CB-6C03-F85A9DADAF7E}"/>
              </a:ext>
            </a:extLst>
          </p:cNvPr>
          <p:cNvPicPr>
            <a:picLocks/>
          </p:cNvPicPr>
          <p:nvPr/>
        </p:nvPicPr>
        <p:blipFill>
          <a:blip r:embed="rId8"/>
          <a:stretch>
            <a:fillRect/>
          </a:stretch>
        </p:blipFill>
        <p:spPr>
          <a:xfrm>
            <a:off x="2102310" y="4075749"/>
            <a:ext cx="3600000" cy="2160000"/>
          </a:xfrm>
          <a:prstGeom prst="rect">
            <a:avLst/>
          </a:prstGeom>
          <a:ln>
            <a:noFill/>
          </a:ln>
          <a:effectLst>
            <a:outerShdw blurRad="190500" algn="tl" rotWithShape="0">
              <a:srgbClr val="000000">
                <a:alpha val="70000"/>
              </a:srgbClr>
            </a:outerShdw>
          </a:effectLst>
        </p:spPr>
      </p:pic>
      <p:pic>
        <p:nvPicPr>
          <p:cNvPr id="18" name="图片 17">
            <a:extLst>
              <a:ext uri="{FF2B5EF4-FFF2-40B4-BE49-F238E27FC236}">
                <a16:creationId xmlns:a16="http://schemas.microsoft.com/office/drawing/2014/main" id="{4B405C2D-AEF6-3C9F-FEAA-B9785C134EEE}"/>
              </a:ext>
            </a:extLst>
          </p:cNvPr>
          <p:cNvPicPr>
            <a:picLocks/>
          </p:cNvPicPr>
          <p:nvPr/>
        </p:nvPicPr>
        <p:blipFill>
          <a:blip r:embed="rId9"/>
          <a:stretch>
            <a:fillRect/>
          </a:stretch>
        </p:blipFill>
        <p:spPr>
          <a:xfrm>
            <a:off x="6266406" y="4075749"/>
            <a:ext cx="3600000" cy="2160000"/>
          </a:xfrm>
          <a:prstGeom prst="rect">
            <a:avLst/>
          </a:prstGeom>
          <a:ln>
            <a:noFill/>
          </a:ln>
          <a:effectLst>
            <a:outerShdw blurRad="190500" algn="tl" rotWithShape="0">
              <a:srgbClr val="000000">
                <a:alpha val="70000"/>
              </a:srgbClr>
            </a:outerShdw>
          </a:effectLst>
        </p:spPr>
      </p:pic>
      <p:sp>
        <p:nvSpPr>
          <p:cNvPr id="5" name="矩形 4">
            <a:extLst>
              <a:ext uri="{FF2B5EF4-FFF2-40B4-BE49-F238E27FC236}">
                <a16:creationId xmlns:a16="http://schemas.microsoft.com/office/drawing/2014/main" id="{409BF918-E8CB-ACD9-3A4B-532C70B7C079}"/>
              </a:ext>
            </a:extLst>
          </p:cNvPr>
          <p:cNvSpPr/>
          <p:nvPr/>
        </p:nvSpPr>
        <p:spPr>
          <a:xfrm>
            <a:off x="6181203" y="5893249"/>
            <a:ext cx="3770406" cy="21121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90632349"/>
      </p:ext>
    </p:extLst>
  </p:cSld>
  <p:clrMapOvr>
    <a:masterClrMapping/>
  </p:clrMapOvr>
  <p:transition spd="slow">
    <p:wipe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圆角 20"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a:extLst>
              <a:ext uri="{FF2B5EF4-FFF2-40B4-BE49-F238E27FC236}">
                <a16:creationId xmlns:a16="http://schemas.microsoft.com/office/drawing/2014/main" id="{2B6F2AAC-E664-680B-D12C-85226CEA8D4E}"/>
              </a:ext>
            </a:extLst>
          </p:cNvPr>
          <p:cNvSpPr/>
          <p:nvPr/>
        </p:nvSpPr>
        <p:spPr>
          <a:xfrm>
            <a:off x="6322054" y="1721219"/>
            <a:ext cx="4812203" cy="4286555"/>
          </a:xfrm>
          <a:prstGeom prst="roundRect">
            <a:avLst>
              <a:gd name="adj" fmla="val 8270"/>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descr="e7d195523061f1c09e9d68d7cf438b91ef959ecb14fc25d26BBA7F7DBC18E55DFF4014AF651F0BF2569D4B6C1DA7F1A4683A481403BD872FC687266AD13265C1DE7C373772FD8728ABDD69ADD03BFF5BE2862BC891DBB79EB73C15828F0DF1DC2F0B1C670C38CB84D872D3C6C609B3C2C95C34232EA5F7BBA4BF190274E430E03C02613D2AC7931007E66AA5AE319EC6"/>
          <p:cNvSpPr txBox="1"/>
          <p:nvPr/>
        </p:nvSpPr>
        <p:spPr>
          <a:xfrm>
            <a:off x="249767" y="121409"/>
            <a:ext cx="4007611" cy="584775"/>
          </a:xfrm>
          <a:prstGeom prst="rect">
            <a:avLst/>
          </a:prstGeom>
          <a:noFill/>
        </p:spPr>
        <p:txBody>
          <a:bodyPr wrap="square" rtlCol="0">
            <a:spAutoFit/>
          </a:bodyPr>
          <a:lstStyle/>
          <a:p>
            <a:r>
              <a:rPr lang="zh-CN" altLang="en-US" sz="3200" b="1">
                <a:solidFill>
                  <a:schemeClr val="bg1"/>
                </a:solidFill>
                <a:latin typeface="+mj-ea"/>
                <a:ea typeface="+mj-ea"/>
              </a:rPr>
              <a:t>论文总结</a:t>
            </a:r>
          </a:p>
        </p:txBody>
      </p:sp>
      <p:sp>
        <p:nvSpPr>
          <p:cNvPr id="9" name="矩形 8" descr="e7d195523061f1c09e9d68d7cf438b91ef959ecb14fc25d26BBA7F7DBC18E55DFF4014AF651F0BF2569D4B6C1DA7F1A4683A481403BD872FC687266AD13265C1DE7C373772FD8728ABDD69ADD03BFF5BE2862BC891DBB79EB73C15828F0DF1DC2F0B1C670C38CB84D872D3C6C609B3C2C95C34232EA5F7BBA4BF190274E430E03C02613D2AC7931007E66AA5AE319EC6"/>
          <p:cNvSpPr/>
          <p:nvPr/>
        </p:nvSpPr>
        <p:spPr>
          <a:xfrm>
            <a:off x="249767" y="648628"/>
            <a:ext cx="3803453" cy="307777"/>
          </a:xfrm>
          <a:prstGeom prst="rect">
            <a:avLst/>
          </a:prstGeom>
        </p:spPr>
        <p:txBody>
          <a:bodyPr wrap="square">
            <a:spAutoFit/>
          </a:bodyPr>
          <a:lstStyle/>
          <a:p>
            <a:pPr defTabSz="609585">
              <a:defRPr/>
            </a:pPr>
            <a:r>
              <a:rPr lang="zh-CN" altLang="en-US" sz="1400">
                <a:solidFill>
                  <a:schemeClr val="bg1"/>
                </a:solidFill>
                <a:latin typeface="MiSans Light" charset="-122"/>
                <a:ea typeface="MiSans Light" charset="-122"/>
              </a:rPr>
              <a:t>单击此处输入你的正文，文字是您思想的提炼</a:t>
            </a:r>
            <a:endParaRPr lang="en-US" altLang="zh-CN" sz="1400">
              <a:solidFill>
                <a:schemeClr val="bg1"/>
              </a:solidFill>
              <a:latin typeface="MiSans Light" charset="-122"/>
              <a:ea typeface="MiSans Light" charset="-122"/>
              <a:cs typeface="Arial" panose="020B0604020202020204" pitchFamily="34" charset="0"/>
              <a:sym typeface="MiSans Light" charset="-122"/>
            </a:endParaRPr>
          </a:p>
        </p:txBody>
      </p:sp>
      <p:sp>
        <p:nvSpPr>
          <p:cNvPr id="10" name="文本框 9"/>
          <p:cNvSpPr txBox="1"/>
          <p:nvPr/>
        </p:nvSpPr>
        <p:spPr>
          <a:xfrm>
            <a:off x="502457" y="1028305"/>
            <a:ext cx="4263696" cy="523220"/>
          </a:xfrm>
          <a:prstGeom prst="rect">
            <a:avLst/>
          </a:prstGeom>
          <a:noFill/>
        </p:spPr>
        <p:txBody>
          <a:bodyPr wrap="square">
            <a:spAutoFit/>
          </a:bodyPr>
          <a:lstStyle/>
          <a:p>
            <a:r>
              <a:rPr lang="zh-CN" altLang="en-US" sz="2800">
                <a:latin typeface="方正小标宋简体" panose="02010601030101010101" pitchFamily="2" charset="-122"/>
                <a:ea typeface="方正小标宋简体" panose="02010601030101010101" pitchFamily="2" charset="-122"/>
              </a:rPr>
              <a:t>研究结论</a:t>
            </a:r>
          </a:p>
        </p:txBody>
      </p:sp>
      <p:sp>
        <p:nvSpPr>
          <p:cNvPr id="12" name="文本框 11"/>
          <p:cNvSpPr txBox="1"/>
          <p:nvPr/>
        </p:nvSpPr>
        <p:spPr>
          <a:xfrm>
            <a:off x="6274127" y="1028305"/>
            <a:ext cx="4263696" cy="523220"/>
          </a:xfrm>
          <a:prstGeom prst="rect">
            <a:avLst/>
          </a:prstGeom>
          <a:noFill/>
        </p:spPr>
        <p:txBody>
          <a:bodyPr wrap="square">
            <a:spAutoFit/>
          </a:bodyPr>
          <a:lstStyle>
            <a:defPPr>
              <a:defRPr lang="zh-CN"/>
            </a:defPPr>
            <a:lvl1pPr>
              <a:defRPr sz="2800">
                <a:latin typeface="方正小标宋简体" panose="02010601030101010101" pitchFamily="2" charset="-122"/>
                <a:ea typeface="方正小标宋简体" panose="02010601030101010101" pitchFamily="2" charset="-122"/>
              </a:defRPr>
            </a:lvl1pPr>
          </a:lstStyle>
          <a:p>
            <a:r>
              <a:rPr lang="zh-CN" altLang="en-US"/>
              <a:t>未来展望</a:t>
            </a:r>
          </a:p>
        </p:txBody>
      </p:sp>
      <p:grpSp>
        <p:nvGrpSpPr>
          <p:cNvPr id="16" name="组合 15">
            <a:extLst>
              <a:ext uri="{FF2B5EF4-FFF2-40B4-BE49-F238E27FC236}">
                <a16:creationId xmlns:a16="http://schemas.microsoft.com/office/drawing/2014/main" id="{27CD5B75-71EE-0081-665B-89678507141D}"/>
              </a:ext>
            </a:extLst>
          </p:cNvPr>
          <p:cNvGrpSpPr/>
          <p:nvPr/>
        </p:nvGrpSpPr>
        <p:grpSpPr>
          <a:xfrm>
            <a:off x="1" y="-1"/>
            <a:ext cx="9144001" cy="858612"/>
            <a:chOff x="1" y="-1"/>
            <a:chExt cx="9144001" cy="858612"/>
          </a:xfrm>
        </p:grpSpPr>
        <p:sp>
          <p:nvSpPr>
            <p:cNvPr id="17" name="矩形 16">
              <a:extLst>
                <a:ext uri="{FF2B5EF4-FFF2-40B4-BE49-F238E27FC236}">
                  <a16:creationId xmlns:a16="http://schemas.microsoft.com/office/drawing/2014/main" id="{47A7F5D0-328F-CF72-FDC5-A918F5B26527}"/>
                </a:ext>
              </a:extLst>
            </p:cNvPr>
            <p:cNvSpPr/>
            <p:nvPr/>
          </p:nvSpPr>
          <p:spPr>
            <a:xfrm rot="16200000">
              <a:off x="4142696" y="-4142696"/>
              <a:ext cx="858612" cy="9144001"/>
            </a:xfrm>
            <a:prstGeom prst="rect">
              <a:avLst/>
            </a:prstGeom>
            <a:gradFill flip="none" rotWithShape="1">
              <a:gsLst>
                <a:gs pos="20000">
                  <a:schemeClr val="accent1"/>
                </a:gs>
                <a:gs pos="95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文本框 17">
              <a:extLst>
                <a:ext uri="{FF2B5EF4-FFF2-40B4-BE49-F238E27FC236}">
                  <a16:creationId xmlns:a16="http://schemas.microsoft.com/office/drawing/2014/main" id="{70C10B5B-5018-A1BA-3B5A-369C4C53977C}"/>
                </a:ext>
              </a:extLst>
            </p:cNvPr>
            <p:cNvSpPr txBox="1"/>
            <p:nvPr/>
          </p:nvSpPr>
          <p:spPr>
            <a:xfrm>
              <a:off x="187890" y="106138"/>
              <a:ext cx="4578263" cy="646331"/>
            </a:xfrm>
            <a:prstGeom prst="rect">
              <a:avLst/>
            </a:prstGeom>
            <a:noFill/>
          </p:spPr>
          <p:txBody>
            <a:bodyPr wrap="square" rtlCol="0">
              <a:spAutoFit/>
            </a:bodyPr>
            <a:lstStyle/>
            <a:p>
              <a:r>
                <a:rPr lang="zh-CN" altLang="en-US" sz="3600">
                  <a:solidFill>
                    <a:schemeClr val="bg1"/>
                  </a:solidFill>
                  <a:latin typeface="方正小标宋简体" panose="02010601030101010101" pitchFamily="2" charset="-122"/>
                  <a:ea typeface="方正小标宋简体" panose="02010601030101010101" pitchFamily="2" charset="-122"/>
                </a:rPr>
                <a:t>总结</a:t>
              </a:r>
            </a:p>
          </p:txBody>
        </p:sp>
      </p:grpSp>
      <p:pic>
        <p:nvPicPr>
          <p:cNvPr id="19" name="图片 18">
            <a:extLst>
              <a:ext uri="{FF2B5EF4-FFF2-40B4-BE49-F238E27FC236}">
                <a16:creationId xmlns:a16="http://schemas.microsoft.com/office/drawing/2014/main" id="{BA5DB15C-0E71-0E06-121C-49B9C8729E58}"/>
              </a:ext>
            </a:extLst>
          </p:cNvPr>
          <p:cNvPicPr>
            <a:picLocks noChangeAspect="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r:embed="rId4">
                    <a14:imgEffect>
                      <a14:colorTemperature colorTemp="1500"/>
                    </a14:imgEffect>
                    <a14:imgEffect>
                      <a14:saturation sat="0"/>
                    </a14:imgEffect>
                  </a14:imgLayer>
                </a14:imgProps>
              </a:ext>
              <a:ext uri="{28A0092B-C50C-407E-A947-70E740481C1C}">
                <a14:useLocalDpi xmlns:a14="http://schemas.microsoft.com/office/drawing/2010/main" val="0"/>
              </a:ext>
            </a:extLst>
          </a:blip>
          <a:stretch>
            <a:fillRect/>
          </a:stretch>
        </p:blipFill>
        <p:spPr>
          <a:xfrm>
            <a:off x="9045810" y="106138"/>
            <a:ext cx="3070066" cy="596957"/>
          </a:xfrm>
          <a:prstGeom prst="rect">
            <a:avLst/>
          </a:prstGeom>
        </p:spPr>
      </p:pic>
      <p:grpSp>
        <p:nvGrpSpPr>
          <p:cNvPr id="14" name="组合 13">
            <a:extLst>
              <a:ext uri="{FF2B5EF4-FFF2-40B4-BE49-F238E27FC236}">
                <a16:creationId xmlns:a16="http://schemas.microsoft.com/office/drawing/2014/main" id="{43B8C75C-53FD-DA97-DB10-791342350626}"/>
              </a:ext>
            </a:extLst>
          </p:cNvPr>
          <p:cNvGrpSpPr/>
          <p:nvPr/>
        </p:nvGrpSpPr>
        <p:grpSpPr>
          <a:xfrm>
            <a:off x="730952" y="1723239"/>
            <a:ext cx="4812203" cy="4286555"/>
            <a:chOff x="560685" y="1623425"/>
            <a:chExt cx="4812203" cy="4286555"/>
          </a:xfrm>
        </p:grpSpPr>
        <p:sp>
          <p:nvSpPr>
            <p:cNvPr id="13" name="矩形: 圆角 12"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a:extLst>
                <a:ext uri="{FF2B5EF4-FFF2-40B4-BE49-F238E27FC236}">
                  <a16:creationId xmlns:a16="http://schemas.microsoft.com/office/drawing/2014/main" id="{2916CEF8-61DD-2E01-5429-09890508F527}"/>
                </a:ext>
              </a:extLst>
            </p:cNvPr>
            <p:cNvSpPr/>
            <p:nvPr/>
          </p:nvSpPr>
          <p:spPr>
            <a:xfrm>
              <a:off x="560685" y="1623425"/>
              <a:ext cx="4812203" cy="4286555"/>
            </a:xfrm>
            <a:prstGeom prst="roundRect">
              <a:avLst>
                <a:gd name="adj" fmla="val 8270"/>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698619" y="1623425"/>
              <a:ext cx="3994031" cy="688202"/>
            </a:xfrm>
            <a:prstGeom prst="rect">
              <a:avLst/>
            </a:prstGeom>
            <a:noFill/>
          </p:spPr>
          <p:txBody>
            <a:bodyPr wrap="square">
              <a:spAutoFit/>
            </a:bodyPr>
            <a:lstStyle/>
            <a:p>
              <a:pPr>
                <a:lnSpc>
                  <a:spcPct val="150000"/>
                </a:lnSpc>
              </a:pPr>
              <a:r>
                <a:rPr lang="zh-CN" altLang="en-US" sz="1400">
                  <a:latin typeface="宋体" panose="02010600030101010101" pitchFamily="2" charset="-122"/>
                  <a:ea typeface="宋体" panose="02010600030101010101" pitchFamily="2" charset="-122"/>
                </a:rPr>
                <a:t>本研究成功地填补了文献中的一个重要空白</a:t>
              </a:r>
              <a:endParaRPr lang="en-US" altLang="zh-CN" sz="1400">
                <a:latin typeface="宋体" panose="02010600030101010101" pitchFamily="2" charset="-122"/>
                <a:ea typeface="宋体" panose="02010600030101010101" pitchFamily="2" charset="-122"/>
              </a:endParaRPr>
            </a:p>
            <a:p>
              <a:pPr>
                <a:lnSpc>
                  <a:spcPct val="150000"/>
                </a:lnSpc>
              </a:pPr>
              <a:r>
                <a:rPr lang="zh-CN" altLang="en-US" sz="1400">
                  <a:latin typeface="宋体" panose="02010600030101010101" pitchFamily="2" charset="-122"/>
                  <a:ea typeface="宋体" panose="02010600030101010101" pitchFamily="2" charset="-122"/>
                </a:rPr>
                <a:t>为</a:t>
              </a:r>
              <a:r>
                <a:rPr lang="en-US" altLang="zh-CN" sz="1400">
                  <a:latin typeface="宋体" panose="02010600030101010101" pitchFamily="2" charset="-122"/>
                  <a:ea typeface="宋体" panose="02010600030101010101" pitchFamily="2" charset="-122"/>
                </a:rPr>
                <a:t>D-ScheLoc</a:t>
              </a:r>
              <a:r>
                <a:rPr lang="zh-CN" altLang="en-US" sz="1400">
                  <a:latin typeface="宋体" panose="02010600030101010101" pitchFamily="2" charset="-122"/>
                  <a:ea typeface="宋体" panose="02010600030101010101" pitchFamily="2" charset="-122"/>
                </a:rPr>
                <a:t>开发了首个高效的精确求解框架。</a:t>
              </a:r>
              <a:endParaRPr lang="zh-CN" altLang="en-US" sz="1200">
                <a:solidFill>
                  <a:schemeClr val="tx1">
                    <a:lumMod val="85000"/>
                    <a:lumOff val="15000"/>
                  </a:schemeClr>
                </a:solidFill>
                <a:latin typeface="宋体" panose="02010600030101010101" pitchFamily="2" charset="-122"/>
                <a:ea typeface="宋体" panose="02010600030101010101" pitchFamily="2" charset="-122"/>
              </a:endParaRPr>
            </a:p>
          </p:txBody>
        </p:sp>
        <p:grpSp>
          <p:nvGrpSpPr>
            <p:cNvPr id="8" name="组合 7">
              <a:extLst>
                <a:ext uri="{FF2B5EF4-FFF2-40B4-BE49-F238E27FC236}">
                  <a16:creationId xmlns:a16="http://schemas.microsoft.com/office/drawing/2014/main" id="{9DF34BB9-E22C-6568-8BAD-9782CFA48447}"/>
                </a:ext>
              </a:extLst>
            </p:cNvPr>
            <p:cNvGrpSpPr/>
            <p:nvPr/>
          </p:nvGrpSpPr>
          <p:grpSpPr>
            <a:xfrm>
              <a:off x="720894" y="2591650"/>
              <a:ext cx="3065355" cy="1512393"/>
              <a:chOff x="1082978" y="2363876"/>
              <a:chExt cx="3065355" cy="1512393"/>
            </a:xfrm>
          </p:grpSpPr>
          <p:sp>
            <p:nvSpPr>
              <p:cNvPr id="2" name="文本框 1">
                <a:extLst>
                  <a:ext uri="{FF2B5EF4-FFF2-40B4-BE49-F238E27FC236}">
                    <a16:creationId xmlns:a16="http://schemas.microsoft.com/office/drawing/2014/main" id="{CA813553-57AB-CD7C-C264-BAE00E40C247}"/>
                  </a:ext>
                </a:extLst>
              </p:cNvPr>
              <p:cNvSpPr txBox="1"/>
              <p:nvPr/>
            </p:nvSpPr>
            <p:spPr>
              <a:xfrm>
                <a:off x="1082978" y="2794918"/>
                <a:ext cx="1551327" cy="369332"/>
              </a:xfrm>
              <a:prstGeom prst="rect">
                <a:avLst/>
              </a:prstGeom>
              <a:noFill/>
            </p:spPr>
            <p:txBody>
              <a:bodyPr wrap="square">
                <a:spAutoFit/>
              </a:bodyPr>
              <a:lstStyle>
                <a:defPPr>
                  <a:defRPr lang="zh-CN"/>
                </a:defPPr>
                <a:lvl1pPr>
                  <a:lnSpc>
                    <a:spcPct val="150000"/>
                  </a:lnSpc>
                  <a:defRPr sz="1400">
                    <a:latin typeface="宋体" panose="02010600030101010101" pitchFamily="2" charset="-122"/>
                    <a:ea typeface="宋体" panose="02010600030101010101" pitchFamily="2" charset="-122"/>
                  </a:defRPr>
                </a:lvl1pPr>
              </a:lstStyle>
              <a:p>
                <a:r>
                  <a:rPr lang="zh-CN" altLang="en-US" b="1"/>
                  <a:t>核心成就</a:t>
                </a:r>
              </a:p>
            </p:txBody>
          </p:sp>
          <p:sp>
            <p:nvSpPr>
              <p:cNvPr id="3" name="左大括号 2">
                <a:extLst>
                  <a:ext uri="{FF2B5EF4-FFF2-40B4-BE49-F238E27FC236}">
                    <a16:creationId xmlns:a16="http://schemas.microsoft.com/office/drawing/2014/main" id="{60C220D9-F962-253B-C203-6B0EAB660B97}"/>
                  </a:ext>
                </a:extLst>
              </p:cNvPr>
              <p:cNvSpPr/>
              <p:nvPr/>
            </p:nvSpPr>
            <p:spPr>
              <a:xfrm>
                <a:off x="1981225" y="2548179"/>
                <a:ext cx="340535" cy="1211752"/>
              </a:xfrm>
              <a:prstGeom prst="leftBrace">
                <a:avLst>
                  <a:gd name="adj1" fmla="val 31945"/>
                  <a:gd name="adj2" fmla="val 37332"/>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4F186D0D-5DD0-D94B-5A9F-4F2B925B0386}"/>
                  </a:ext>
                </a:extLst>
              </p:cNvPr>
              <p:cNvSpPr txBox="1"/>
              <p:nvPr/>
            </p:nvSpPr>
            <p:spPr>
              <a:xfrm>
                <a:off x="2381906" y="2363876"/>
                <a:ext cx="1766427" cy="365036"/>
              </a:xfrm>
              <a:prstGeom prst="rect">
                <a:avLst/>
              </a:prstGeom>
              <a:noFill/>
            </p:spPr>
            <p:txBody>
              <a:bodyPr wrap="square">
                <a:spAutoFit/>
              </a:bodyPr>
              <a:lstStyle>
                <a:defPPr>
                  <a:defRPr lang="zh-CN"/>
                </a:defPPr>
                <a:lvl1pPr>
                  <a:lnSpc>
                    <a:spcPct val="150000"/>
                  </a:lnSpc>
                  <a:defRPr sz="1400">
                    <a:latin typeface="宋体" panose="02010600030101010101" pitchFamily="2" charset="-122"/>
                    <a:ea typeface="宋体" panose="02010600030101010101" pitchFamily="2" charset="-122"/>
                  </a:defRPr>
                </a:lvl1pPr>
              </a:lstStyle>
              <a:p>
                <a:r>
                  <a:rPr lang="zh-CN" altLang="en-US"/>
                  <a:t>提出新颖的模型</a:t>
                </a:r>
              </a:p>
            </p:txBody>
          </p:sp>
          <p:sp>
            <p:nvSpPr>
              <p:cNvPr id="6" name="文本框 5">
                <a:extLst>
                  <a:ext uri="{FF2B5EF4-FFF2-40B4-BE49-F238E27FC236}">
                    <a16:creationId xmlns:a16="http://schemas.microsoft.com/office/drawing/2014/main" id="{C8480AA4-9C87-D74F-39BB-F84F054DD58D}"/>
                  </a:ext>
                </a:extLst>
              </p:cNvPr>
              <p:cNvSpPr txBox="1"/>
              <p:nvPr/>
            </p:nvSpPr>
            <p:spPr>
              <a:xfrm>
                <a:off x="2381906" y="3511233"/>
                <a:ext cx="1576199" cy="365036"/>
              </a:xfrm>
              <a:prstGeom prst="rect">
                <a:avLst/>
              </a:prstGeom>
              <a:noFill/>
            </p:spPr>
            <p:txBody>
              <a:bodyPr wrap="square">
                <a:spAutoFit/>
              </a:bodyPr>
              <a:lstStyle>
                <a:defPPr>
                  <a:defRPr lang="zh-CN"/>
                </a:defPPr>
                <a:lvl1pPr>
                  <a:lnSpc>
                    <a:spcPct val="150000"/>
                  </a:lnSpc>
                  <a:defRPr sz="1400">
                    <a:latin typeface="宋体" panose="02010600030101010101" pitchFamily="2" charset="-122"/>
                    <a:ea typeface="宋体" panose="02010600030101010101" pitchFamily="2" charset="-122"/>
                  </a:defRPr>
                </a:lvl1pPr>
              </a:lstStyle>
              <a:p>
                <a:r>
                  <a:rPr lang="zh-CN" altLang="en-US"/>
                  <a:t>设计高效的算法</a:t>
                </a:r>
              </a:p>
            </p:txBody>
          </p:sp>
        </p:grpSp>
        <p:sp>
          <p:nvSpPr>
            <p:cNvPr id="7" name="文本框 6">
              <a:extLst>
                <a:ext uri="{FF2B5EF4-FFF2-40B4-BE49-F238E27FC236}">
                  <a16:creationId xmlns:a16="http://schemas.microsoft.com/office/drawing/2014/main" id="{3363091D-EDBC-BE57-48A1-7CFA8DE572D4}"/>
                </a:ext>
              </a:extLst>
            </p:cNvPr>
            <p:cNvSpPr txBox="1"/>
            <p:nvPr/>
          </p:nvSpPr>
          <p:spPr>
            <a:xfrm>
              <a:off x="698619" y="4536696"/>
              <a:ext cx="4674269" cy="1011367"/>
            </a:xfrm>
            <a:prstGeom prst="rect">
              <a:avLst/>
            </a:prstGeom>
            <a:noFill/>
          </p:spPr>
          <p:txBody>
            <a:bodyPr wrap="square">
              <a:spAutoFit/>
            </a:bodyPr>
            <a:lstStyle>
              <a:defPPr>
                <a:defRPr lang="zh-CN"/>
              </a:defPPr>
              <a:lvl1pPr>
                <a:lnSpc>
                  <a:spcPct val="150000"/>
                </a:lnSpc>
                <a:defRPr sz="1400">
                  <a:latin typeface="宋体" panose="02010600030101010101" pitchFamily="2" charset="-122"/>
                  <a:ea typeface="宋体" panose="02010600030101010101" pitchFamily="2" charset="-122"/>
                </a:defRPr>
              </a:lvl1pPr>
            </a:lstStyle>
            <a:p>
              <a:r>
                <a:rPr lang="zh-CN" altLang="en-US" b="1"/>
                <a:t>核心启示</a:t>
              </a:r>
              <a:r>
                <a:rPr lang="zh-CN" altLang="en-US"/>
                <a:t>：这项研究证明，通过将</a:t>
              </a:r>
              <a:r>
                <a:rPr lang="zh-CN" altLang="en-US" b="1">
                  <a:solidFill>
                    <a:srgbClr val="C00000"/>
                  </a:solidFill>
                </a:rPr>
                <a:t>强大的数学模型</a:t>
              </a:r>
              <a:r>
                <a:rPr lang="zh-CN" altLang="en-US"/>
                <a:t>与针对问题特定结构</a:t>
              </a:r>
              <a:r>
                <a:rPr lang="zh-CN" altLang="en-US" b="1">
                  <a:solidFill>
                    <a:srgbClr val="C00000"/>
                  </a:solidFill>
                </a:rPr>
                <a:t>量身定制的分解算法</a:t>
              </a:r>
              <a:r>
                <a:rPr lang="zh-CN" altLang="en-US"/>
                <a:t>相结合，即使是复杂的大规模</a:t>
              </a:r>
              <a:r>
                <a:rPr lang="en-US" altLang="zh-CN"/>
                <a:t>NP-hard</a:t>
              </a:r>
              <a:r>
                <a:rPr lang="zh-CN" altLang="en-US"/>
                <a:t>集成优化问题，也能够被求解至接近最优。</a:t>
              </a:r>
            </a:p>
          </p:txBody>
        </p:sp>
      </p:grpSp>
      <p:pic>
        <p:nvPicPr>
          <p:cNvPr id="15" name="图片 14">
            <a:extLst>
              <a:ext uri="{FF2B5EF4-FFF2-40B4-BE49-F238E27FC236}">
                <a16:creationId xmlns:a16="http://schemas.microsoft.com/office/drawing/2014/main" id="{F8606D7E-B250-3CF3-0BB8-075ADC4DF3F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81882" y="2346129"/>
            <a:ext cx="4590918" cy="2056134"/>
          </a:xfrm>
          <a:prstGeom prst="rect">
            <a:avLst/>
          </a:prstGeom>
        </p:spPr>
      </p:pic>
      <p:sp>
        <p:nvSpPr>
          <p:cNvPr id="29" name="文本框 28">
            <a:extLst>
              <a:ext uri="{FF2B5EF4-FFF2-40B4-BE49-F238E27FC236}">
                <a16:creationId xmlns:a16="http://schemas.microsoft.com/office/drawing/2014/main" id="{66F99EAF-D27D-B94B-AC27-260AD6E47183}"/>
              </a:ext>
            </a:extLst>
          </p:cNvPr>
          <p:cNvSpPr txBox="1"/>
          <p:nvPr/>
        </p:nvSpPr>
        <p:spPr>
          <a:xfrm>
            <a:off x="7189074" y="5027172"/>
            <a:ext cx="3241543" cy="400110"/>
          </a:xfrm>
          <a:prstGeom prst="rect">
            <a:avLst/>
          </a:prstGeom>
          <a:noFill/>
        </p:spPr>
        <p:txBody>
          <a:bodyPr wrap="square" rtlCol="0">
            <a:spAutoFit/>
          </a:bodyPr>
          <a:lstStyle/>
          <a:p>
            <a:r>
              <a:rPr lang="zh-CN" altLang="en-US" sz="2000">
                <a:latin typeface="方正小标宋简体" panose="02010601030101010101" pitchFamily="2" charset="-122"/>
                <a:ea typeface="方正小标宋简体" panose="02010601030101010101" pitchFamily="2" charset="-122"/>
              </a:rPr>
              <a:t>用实际题目实现</a:t>
            </a:r>
            <a:r>
              <a:rPr lang="en-US" altLang="zh-CN" sz="2000">
                <a:latin typeface="方正小标宋简体" panose="02010601030101010101" pitchFamily="2" charset="-122"/>
                <a:ea typeface="方正小标宋简体" panose="02010601030101010101" pitchFamily="2" charset="-122"/>
              </a:rPr>
              <a:t>LBBD</a:t>
            </a:r>
            <a:r>
              <a:rPr lang="zh-CN" altLang="en-US" sz="2000">
                <a:latin typeface="方正小标宋简体" panose="02010601030101010101" pitchFamily="2" charset="-122"/>
                <a:ea typeface="方正小标宋简体" panose="02010601030101010101" pitchFamily="2" charset="-122"/>
              </a:rPr>
              <a:t>算法</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1234</TotalTime>
  <Words>4320</Words>
  <Application>Microsoft Office PowerPoint</Application>
  <PresentationFormat>宽屏</PresentationFormat>
  <Paragraphs>214</Paragraphs>
  <Slides>16</Slides>
  <Notes>16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16</vt:i4>
      </vt:variant>
    </vt:vector>
  </HeadingPairs>
  <TitlesOfParts>
    <vt:vector size="27" baseType="lpstr">
      <vt:lpstr>Google Sans Flex</vt:lpstr>
      <vt:lpstr>MiSans Light</vt:lpstr>
      <vt:lpstr>等线</vt:lpstr>
      <vt:lpstr>等线 Light</vt:lpstr>
      <vt:lpstr>方正小标宋简体</vt:lpstr>
      <vt:lpstr>汉仪大宋简</vt:lpstr>
      <vt:lpstr>宋体</vt:lpstr>
      <vt:lpstr>Arial</vt:lpstr>
      <vt:lpstr>Cambria Math</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智健 栾</dc:creator>
  <cp:lastModifiedBy>智健 栾</cp:lastModifiedBy>
  <cp:revision>12</cp:revision>
  <dcterms:created xsi:type="dcterms:W3CDTF">2025-10-16T11:19:16Z</dcterms:created>
  <dcterms:modified xsi:type="dcterms:W3CDTF">2025-10-20T04:29:55Z</dcterms:modified>
</cp:coreProperties>
</file>